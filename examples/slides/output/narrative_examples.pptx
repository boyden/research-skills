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title slide. The first slide carries the talk title, the presenter, affiliation and date; it has no topic-title chrome and no page number.
Design rules shown: logo placeholder top left; title in a horizontal band with a thin accent bar on its left (0.1 x 1.86 in) and a full-width accent rule near the bottom (y 6.83); the title wraps onto two lines inside one text box; presenter, affiliation and date right-aligned under the title. The presenter's name appears only here (and in literature citations), never in notes, code or other slides.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agenda / roadmap. Show it after the title, and again at each section start with that section highlighted, so the audience always knows where they are. Four to six sections; more is a table of contents.
Design rules shown: numbered rows; the current section has an accent numeral, black name, tint band and accent edge bar; the other sections are muted grey; one short subtitle per section, no bullets. Reuse the same geometry on every repeat so only the highlight moves.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section divider. Use it between major blocks of a long talk (20 minutes or more) as a pause; in a short talk the repeated agenda slide does the same job.
Design rules shown: no topic title, nothing to read except the number and the section name (the same words as on the agenda); one accent numeral, a thin grey rule, white space. The page number stays.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big statement. Use it to open the background with the one sentence the audience should accept before the study makes sense; two or three bullets give the support, a citation backs the claim.
Design rules shown: the statement is a complete sentence in 30 pt bold black next to a thin accent bar; bullets 18 pt grey with a bold lead phrase; the citation sits in the source position, 9 pt serif, journal in italics, format 'Surname, Given, et al. Journal vol.issue (year): pages'. No separate conclusion box: the statement is the take-home line.
Reference: CLAM, data-efficient weakly supervised computational pathology on whole-slide images; PMID 33649564, doi 10.1038/s41551-020-00682-w (checked against PubMed metadata).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problem → approach → impact. Use it once, early, to frame the whole talk in three steps the audience can repeat. Each column answers one question: what is wrong, what we do, what changes.
Design rules shown: three equal columns on one grid; one icon per column, same size (0.9 in) and same colour; a small accent tag, a short header (four or five words) and two lines of body text; thin grey arrows between the columns; a single take-home line at the bottom.
Icons: lucide/scan-eye, lucide/brain-circuit, lucide/users (ISC).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data modalities grid. Use it before the methods, so the audience knows what goes in and how much of each there is. One card per modality; four in a row, or 2 x 2 when each card needs two lines more.
Design rules shown: equal cards on one grid with a thin accent top edge; one illustration per card at the same size (1.5 in square box) from one icon source; a header, one line of detail and the count in accent. Counts are placeholders (n = XX) here; in a real deck they come from the cohort table and are the same numbers as on the cohort slide.
Icons: Bioicons glass-slide (Servier Medical Art, CC BY 3.0) and confocal-microscope (DBCLS TogoTV, CC BY 4.0) need attribution, given on the source line and on the credits slide; single-cell-umap (James Lloyd) and patient (Marcel Tisch) are CC0.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methods flow. Use it for a processing pipeline of three to five steps; each card says what is done and the key parameter, never a result.
Design rules shown: one row of equal step cards 0.32 in apart with a small grey arrow between them; accent header '1 · Step' in 14 pt white bold; tint body in 13 pt near-black; one accent icon per card, same size and position (0.6 in, top left of the body); definitions as 14 pt bullets under the row; one take-home line.
Icons: tabler/grid-scan, tabler/cube-spark, lucide/network, tabler/chart-histogram, lucide/trending-down (MIT / ISC). Parameters (20×, 5 folds) are illustrative settings, not results.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framework diagram (inputs → processing band → outputs). Use it once as the map of the whole analysis; later slides zoom into one part of it.
Design rules shown: the processing layer is a tint band; steps inside it are white boxes joined by thin grey arrows; outside the band only thick accent arrows, exactly one per input and one per output; inputs on the left, outputs on the right, rows aligned on the same centre lines. Every icon is its own image and every label a native text box, so the diagram can be edited in PowerPoint.
Icons: lucide/microscope, tabler/stack-2, lucide/clipboard-list (inputs); tabler/chart-histogram, tabler/photo-scan (outputs).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agent loop. Use it to explain an LLM / VLM agent: what it plans, which tools it may call, what it observes and when it stops. A loop reads as iteration; a straight line would hide that the agent revises.
Design rules shown: four numbered steps on a diamond, one accent icon each (same size, 0.65 in), joined by thin grey arrows; the agent itself in the centre in grey; the tool list on the right as icon + bold name + one line; the stop condition (human sign-off) in a tint box. All shapes and arrows are native and editable.
Icons: lucide/list-checks, lucide/toolbox, lucide/scan-eye, lucide/message-square-text, lucide/bot, lucide/book-open-text (ISC); tabler/photo-scan, tabler/api (MIT).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timeline / study design. Use it to define the time axis of a survival analysis (time zero, exposure window, event, censoring) or to show project phases. Three to six milestones.
Design rules shown: one horizontal axis with an arrow head; round markers on the axis, filled accent for the two that define the endpoint (time zero and event), white with a grey ring for the rest; labels alternate above and below so they never collide; one icon per milestone from one icon source, all the same size; a thin grey stem joins each marker to its label.
Numbers: 686 patients and 299 recurrence-or-death events from lifelines load_gbsg2; the timeline itself is the illustrative study's design, not GBSG2's.
Icons: Health Icons biopsy, tissue, hospital, regular-patient, chart-line (CC0).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two-column comparison (prior approaches vs this work, or pros vs cons). Use it when the audience needs the difference on a few named criteria, not a literature review.
Design rules shown: one row per criterion with the criterion name on the left, so the two columns are read across, not down; markers drawn from native shapes (accent check = has it, grey cross = lacks it, grey dash = partly) instead of symbol-font glyphs that may be missing on another machine; 'This work' column on a tint band with an accent header; rows separated by thin rules. Be honest: show where prior work is better (validation here) and say so in the take-home line.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limitations. Use it before the summary, so the take-home messages are heard with their caveats. Three or four limitations, each paired with what it affects; a list without consequences reads as ritual.
Design rules shown: calm grey styling (no accent: limitations are not highlights); numbered rows with the limitation in bold and its consequence in the right column; thin rules between rows; the take-home line names the status of the results (exploratory) and what is needed next.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key takeaways. Use it as the last content slide: three numbered messages the audience should leave with, each backed by one line of evidence from an earlier slide.
Design rules shown: accent numerals (44 pt) as the only colour; each takeaway a short bold claim in black, then one grey evidence line; thin rules between rows; no conclusion box, because the takeaways are the conclusion. No number may appear here that was not on an earlier result slide, and the wording keeps the earlier qualifiers (candidate, exploratory).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next steps / roadmap. Use it at the end of a progress talk: three time-boxed cards, the first one highlighted because it is the decision point.
Design rules shown: equal cards on one grid under a thin grey time arrow; a dark header with the timeframe (accent only for the first, the current priority); one icon, a short title and two bullets per card; the take-home line says what the plan depends on.
Icons: lucide/users, lucide/list-checks, lucide/code (ISC; code is MIT via Feather).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questions / thank you. Use the same frame as the title slide so the talk visibly closes; leave it up during questions, with a way to reach the team and the code.
Design rules shown: same logo, accent bar and bottom rule as the title slide; no page number; contact as a generic address (a team or lab address, not a person's name); small grey icons in front of each contact line.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supplementary slide, hidden in the slide show (slide.hidden = true, show="0"). Use it for the dense settings table you expect a question about; it stays in the file and the PDF but is skipped when presenting.
Design rules shown: same chrome as a main slide (topic title, conclusion, abbreviations); the three-line table may be denser (13 pt, nine rows) because it is read on demand; first column bold and left-aligned, the others centred. Values marked XX are placeholders; the settings shown are illustrative choices.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credits. Use it as the very last slide (after the supplementary slides) whenever the deck uses third-party icons, images or data: list every source actually used with its licence, and the author for attribution licences (CC BY). CC BY icons are also credited on the slide where they appear.
Design rules shown: one three-line table (source, items, licence), first column left, others centred; data and literature sources in plain text below. Authors of icons and references are the only person names in the deck besides the presenter placeholder.
Illustrative example: a design example, not a real study. Placeholders (n = XX) stand where a real deck would put numbers from its own result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2194560" cy="320040"/>
          </a:xfrm>
          <a:prstGeom prst="rect">
            <a:avLst/>
          </a:prstGeom>
          <a:noFill/>
          <a:ln/>
        </p:spPr>
        <p:txBody>
          <a:bodyPr wrap="square" lIns="0" tIns="0" rIns="0" bIns="0" rtlCol="0" anchor="t"/>
          <a:lstStyle/>
          <a:p>
            <a:pPr algn="l"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Shape 1"/>
          <p:cNvSpPr/>
          <p:nvPr/>
        </p:nvSpPr>
        <p:spPr>
          <a:xfrm>
            <a:off x="548640" y="2103120"/>
            <a:ext cx="91440" cy="1700784"/>
          </a:xfrm>
          <a:prstGeom prst="rect">
            <a:avLst/>
          </a:prstGeom>
          <a:solidFill>
            <a:srgbClr val="A51C30"/>
          </a:solidFill>
          <a:ln/>
        </p:spPr>
      </p:sp>
      <p:sp>
        <p:nvSpPr>
          <p:cNvPr id="4" name="Shape 2"/>
          <p:cNvSpPr/>
          <p:nvPr/>
        </p:nvSpPr>
        <p:spPr>
          <a:xfrm>
            <a:off x="0" y="6245352"/>
            <a:ext cx="12191695" cy="45720"/>
          </a:xfrm>
          <a:prstGeom prst="rect">
            <a:avLst/>
          </a:prstGeom>
          <a:solidFill>
            <a:srgbClr val="A51C30"/>
          </a:solidFill>
          <a:ln/>
        </p:spPr>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title slide</a:t>
            </a:r>
            <a:endParaRPr lang="en-US" sz="1200" dirty="0"/>
          </a:p>
        </p:txBody>
      </p:sp>
      <p:sp>
        <p:nvSpPr>
          <p:cNvPr id="6" name="Text 4"/>
          <p:cNvSpPr/>
          <p:nvPr/>
        </p:nvSpPr>
        <p:spPr>
          <a:xfrm>
            <a:off x="868680" y="2103120"/>
            <a:ext cx="10241280" cy="1188720"/>
          </a:xfrm>
          <a:prstGeom prst="rect">
            <a:avLst/>
          </a:prstGeom>
          <a:noFill/>
          <a:ln/>
        </p:spPr>
        <p:txBody>
          <a:bodyPr wrap="square" lIns="0" tIns="0" rIns="0" bIns="0" rtlCol="0" anchor="t"/>
          <a:lstStyle/>
          <a:p>
            <a:pPr algn="l" indent="0" marL="0">
              <a:buNone/>
            </a:pPr>
            <a:r>
              <a:rPr lang="en-US" sz="4000" b="1" dirty="0">
                <a:solidFill>
                  <a:srgbClr val="595959"/>
                </a:solidFill>
                <a:latin typeface="Arial" pitchFamily="34" charset="0"/>
                <a:ea typeface="Arial" pitchFamily="34" charset="-122"/>
                <a:cs typeface="Arial" pitchFamily="34" charset="-120"/>
              </a:rPr>
              <a:t>AI for Computational Pathology</a:t>
            </a:r>
            <a:endParaRPr lang="en-US" sz="4000" dirty="0"/>
          </a:p>
          <a:p>
            <a:pPr algn="l" indent="0" marL="0">
              <a:buNone/>
            </a:pPr>
            <a:r>
              <a:rPr lang="en-US" sz="4000" b="1" dirty="0">
                <a:solidFill>
                  <a:srgbClr val="595959"/>
                </a:solidFill>
                <a:latin typeface="Arial" pitchFamily="34" charset="0"/>
                <a:ea typeface="Arial" pitchFamily="34" charset="-122"/>
                <a:cs typeface="Arial" pitchFamily="34" charset="-120"/>
              </a:rPr>
              <a:t>and Spatial Omics</a:t>
            </a:r>
            <a:endParaRPr lang="en-US" sz="4000" dirty="0"/>
          </a:p>
        </p:txBody>
      </p:sp>
      <p:sp>
        <p:nvSpPr>
          <p:cNvPr id="7" name="Text 5"/>
          <p:cNvSpPr/>
          <p:nvPr/>
        </p:nvSpPr>
        <p:spPr>
          <a:xfrm>
            <a:off x="868680" y="3401568"/>
            <a:ext cx="10241280" cy="411480"/>
          </a:xfrm>
          <a:prstGeom prst="rect">
            <a:avLst/>
          </a:prstGeom>
          <a:noFill/>
          <a:ln/>
        </p:spPr>
        <p:txBody>
          <a:bodyPr wrap="square" lIns="0" tIns="0" rIns="0" bIns="0" rtlCol="0" anchor="t"/>
          <a:lstStyle/>
          <a:p>
            <a:pPr algn="l" indent="0" marL="0">
              <a:buNone/>
            </a:pPr>
            <a:r>
              <a:rPr lang="en-US" sz="2000" dirty="0">
                <a:solidFill>
                  <a:srgbClr val="7F7F7F"/>
                </a:solidFill>
                <a:latin typeface="Arial" pitchFamily="34" charset="0"/>
                <a:ea typeface="Arial" pitchFamily="34" charset="-122"/>
                <a:cs typeface="Arial" pitchFamily="34" charset="-120"/>
              </a:rPr>
              <a:t>From whole-slide images and cell graphs to a survival model and a draft report</a:t>
            </a:r>
            <a:endParaRPr lang="en-US" sz="2000" dirty="0"/>
          </a:p>
        </p:txBody>
      </p:sp>
      <p:sp>
        <p:nvSpPr>
          <p:cNvPr id="8" name="Text 6"/>
          <p:cNvSpPr/>
          <p:nvPr/>
        </p:nvSpPr>
        <p:spPr>
          <a:xfrm>
            <a:off x="5852160" y="4343400"/>
            <a:ext cx="5790895" cy="1188720"/>
          </a:xfrm>
          <a:prstGeom prst="rect">
            <a:avLst/>
          </a:prstGeom>
          <a:noFill/>
          <a:ln/>
        </p:spPr>
        <p:txBody>
          <a:bodyPr wrap="square" lIns="0" tIns="0" rIns="0" bIns="0" rtlCol="0" anchor="t"/>
          <a:lstStyle/>
          <a:p>
            <a:pPr algn="r" indent="0" marL="0">
              <a:spcAft>
                <a:spcPts val="400"/>
              </a:spcAft>
              <a:buNone/>
            </a:pPr>
            <a:r>
              <a:rPr lang="en-US" sz="1600" b="1" dirty="0">
                <a:solidFill>
                  <a:srgbClr val="595959"/>
                </a:solidFill>
                <a:latin typeface="Arial" pitchFamily="34" charset="0"/>
                <a:ea typeface="Arial" pitchFamily="34" charset="-122"/>
                <a:cs typeface="Arial" pitchFamily="34" charset="-120"/>
              </a:rPr>
              <a:t>Presenter Name, Role</a:t>
            </a:r>
            <a:endParaRPr lang="en-US" sz="1600" dirty="0"/>
          </a:p>
          <a:p>
            <a:pPr algn="r" indent="0" marL="0">
              <a:spcAft>
                <a:spcPts val="400"/>
              </a:spcAft>
              <a:buNone/>
            </a:pPr>
            <a:r>
              <a:rPr lang="en-US" sz="1600" dirty="0">
                <a:solidFill>
                  <a:srgbClr val="595959"/>
                </a:solidFill>
                <a:latin typeface="Arial" pitchFamily="34" charset="0"/>
                <a:ea typeface="Arial" pitchFamily="34" charset="-122"/>
                <a:cs typeface="Arial" pitchFamily="34" charset="-120"/>
              </a:rPr>
              <a:t>Department, Institution</a:t>
            </a:r>
            <a:endParaRPr lang="en-US" sz="1600" dirty="0"/>
          </a:p>
          <a:p>
            <a:pPr algn="r" indent="0" marL="0">
              <a:buNone/>
            </a:pPr>
            <a:r>
              <a:rPr lang="en-US" sz="1600" dirty="0">
                <a:solidFill>
                  <a:srgbClr val="595959"/>
                </a:solidFill>
                <a:latin typeface="Arial" pitchFamily="34" charset="0"/>
                <a:ea typeface="Arial" pitchFamily="34" charset="-122"/>
                <a:cs typeface="Arial" pitchFamily="34" charset="-120"/>
              </a:rPr>
              <a:t>Meeting name · Month DD, YYYY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Agenda</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agenda / roadmap</a:t>
            </a:r>
            <a:endParaRPr lang="en-US" sz="1200" dirty="0"/>
          </a:p>
        </p:txBody>
      </p:sp>
      <p:sp>
        <p:nvSpPr>
          <p:cNvPr id="6" name="Shape 4"/>
          <p:cNvSpPr/>
          <p:nvPr/>
        </p:nvSpPr>
        <p:spPr>
          <a:xfrm>
            <a:off x="914400" y="1325880"/>
            <a:ext cx="10362895" cy="713232"/>
          </a:xfrm>
          <a:prstGeom prst="rect">
            <a:avLst/>
          </a:prstGeom>
          <a:solidFill>
            <a:srgbClr val="F3F3F3"/>
          </a:solidFill>
          <a:ln/>
        </p:spPr>
      </p:sp>
      <p:sp>
        <p:nvSpPr>
          <p:cNvPr id="7" name="Shape 5"/>
          <p:cNvSpPr/>
          <p:nvPr/>
        </p:nvSpPr>
        <p:spPr>
          <a:xfrm>
            <a:off x="914400" y="1325880"/>
            <a:ext cx="73152" cy="713232"/>
          </a:xfrm>
          <a:prstGeom prst="rect">
            <a:avLst/>
          </a:prstGeom>
          <a:solidFill>
            <a:srgbClr val="A51C30"/>
          </a:solidFill>
          <a:ln/>
        </p:spPr>
      </p:sp>
      <p:sp>
        <p:nvSpPr>
          <p:cNvPr id="8" name="Text 6"/>
          <p:cNvSpPr/>
          <p:nvPr/>
        </p:nvSpPr>
        <p:spPr>
          <a:xfrm>
            <a:off x="1234440" y="1325880"/>
            <a:ext cx="914400" cy="713232"/>
          </a:xfrm>
          <a:prstGeom prst="rect">
            <a:avLst/>
          </a:prstGeom>
          <a:noFill/>
          <a:ln/>
        </p:spPr>
        <p:txBody>
          <a:bodyPr wrap="square" lIns="0" tIns="0" rIns="0" bIns="0" rtlCol="0" anchor="ctr"/>
          <a:lstStyle/>
          <a:p>
            <a:pPr algn="l" indent="0" marL="0">
              <a:buNone/>
            </a:pPr>
            <a:r>
              <a:rPr lang="en-US" sz="2800" b="1" dirty="0">
                <a:solidFill>
                  <a:srgbClr val="A51C30"/>
                </a:solidFill>
                <a:latin typeface="Arial" pitchFamily="34" charset="0"/>
                <a:ea typeface="Arial" pitchFamily="34" charset="-122"/>
                <a:cs typeface="Arial" pitchFamily="34" charset="-120"/>
              </a:rPr>
              <a:t>01</a:t>
            </a:r>
            <a:endParaRPr lang="en-US" sz="2800" dirty="0"/>
          </a:p>
        </p:txBody>
      </p:sp>
      <p:sp>
        <p:nvSpPr>
          <p:cNvPr id="9" name="Text 7"/>
          <p:cNvSpPr/>
          <p:nvPr/>
        </p:nvSpPr>
        <p:spPr>
          <a:xfrm>
            <a:off x="2194560" y="1380744"/>
            <a:ext cx="4206240" cy="603504"/>
          </a:xfrm>
          <a:prstGeom prst="rect">
            <a:avLst/>
          </a:prstGeom>
          <a:noFill/>
          <a:ln/>
        </p:spPr>
        <p:txBody>
          <a:bodyPr wrap="square" lIns="0" tIns="0" rIns="0" bIns="0" rtlCol="0" anchor="ctr"/>
          <a:lstStyle/>
          <a:p>
            <a:pPr algn="l" indent="0" marL="0">
              <a:buNone/>
            </a:pPr>
            <a:r>
              <a:rPr lang="en-US" sz="2200" b="1" dirty="0">
                <a:solidFill>
                  <a:srgbClr val="000000"/>
                </a:solidFill>
                <a:latin typeface="Arial" pitchFamily="34" charset="0"/>
                <a:ea typeface="Arial" pitchFamily="34" charset="-122"/>
                <a:cs typeface="Arial" pitchFamily="34" charset="-120"/>
              </a:rPr>
              <a:t>Background</a:t>
            </a:r>
            <a:endParaRPr lang="en-US" sz="2200" dirty="0"/>
          </a:p>
        </p:txBody>
      </p:sp>
      <p:sp>
        <p:nvSpPr>
          <p:cNvPr id="10" name="Text 8"/>
          <p:cNvSpPr/>
          <p:nvPr/>
        </p:nvSpPr>
        <p:spPr>
          <a:xfrm>
            <a:off x="6400800" y="1380744"/>
            <a:ext cx="4693615" cy="603504"/>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Why tissue architecture matters</a:t>
            </a:r>
            <a:endParaRPr lang="en-US" sz="1600" dirty="0"/>
          </a:p>
        </p:txBody>
      </p:sp>
      <p:sp>
        <p:nvSpPr>
          <p:cNvPr id="11" name="Text 9"/>
          <p:cNvSpPr/>
          <p:nvPr/>
        </p:nvSpPr>
        <p:spPr>
          <a:xfrm>
            <a:off x="1234440" y="2130552"/>
            <a:ext cx="914400" cy="713232"/>
          </a:xfrm>
          <a:prstGeom prst="rect">
            <a:avLst/>
          </a:prstGeom>
          <a:noFill/>
          <a:ln/>
        </p:spPr>
        <p:txBody>
          <a:bodyPr wrap="square" lIns="0" tIns="0" rIns="0" bIns="0" rtlCol="0" anchor="ctr"/>
          <a:lstStyle/>
          <a:p>
            <a:pPr algn="l" indent="0" marL="0">
              <a:buNone/>
            </a:pPr>
            <a:r>
              <a:rPr lang="en-US" sz="2800" b="1" dirty="0">
                <a:solidFill>
                  <a:srgbClr val="D9D9D9"/>
                </a:solidFill>
                <a:latin typeface="Arial" pitchFamily="34" charset="0"/>
                <a:ea typeface="Arial" pitchFamily="34" charset="-122"/>
                <a:cs typeface="Arial" pitchFamily="34" charset="-120"/>
              </a:rPr>
              <a:t>02</a:t>
            </a:r>
            <a:endParaRPr lang="en-US" sz="2800" dirty="0"/>
          </a:p>
        </p:txBody>
      </p:sp>
      <p:sp>
        <p:nvSpPr>
          <p:cNvPr id="12" name="Text 10"/>
          <p:cNvSpPr/>
          <p:nvPr/>
        </p:nvSpPr>
        <p:spPr>
          <a:xfrm>
            <a:off x="2194560" y="2185416"/>
            <a:ext cx="4206240" cy="603504"/>
          </a:xfrm>
          <a:prstGeom prst="rect">
            <a:avLst/>
          </a:prstGeom>
          <a:noFill/>
          <a:ln/>
        </p:spPr>
        <p:txBody>
          <a:bodyPr wrap="square" lIns="0" tIns="0" rIns="0" bIns="0" rtlCol="0" anchor="ctr"/>
          <a:lstStyle/>
          <a:p>
            <a:pPr algn="l" indent="0" marL="0">
              <a:buNone/>
            </a:pPr>
            <a:r>
              <a:rPr lang="en-US" sz="2200" b="1" dirty="0">
                <a:solidFill>
                  <a:srgbClr val="7F7F7F"/>
                </a:solidFill>
                <a:latin typeface="Arial" pitchFamily="34" charset="0"/>
                <a:ea typeface="Arial" pitchFamily="34" charset="-122"/>
                <a:cs typeface="Arial" pitchFamily="34" charset="-120"/>
              </a:rPr>
              <a:t>Data and methods</a:t>
            </a:r>
            <a:endParaRPr lang="en-US" sz="2200" dirty="0"/>
          </a:p>
        </p:txBody>
      </p:sp>
      <p:sp>
        <p:nvSpPr>
          <p:cNvPr id="13" name="Text 11"/>
          <p:cNvSpPr/>
          <p:nvPr/>
        </p:nvSpPr>
        <p:spPr>
          <a:xfrm>
            <a:off x="6400800" y="2185416"/>
            <a:ext cx="4693615" cy="603504"/>
          </a:xfrm>
          <a:prstGeom prst="rect">
            <a:avLst/>
          </a:prstGeom>
          <a:noFill/>
          <a:ln/>
        </p:spPr>
        <p:txBody>
          <a:bodyPr wrap="square" lIns="0" tIns="0" rIns="0" bIns="0" rtlCol="0" anchor="ctr"/>
          <a:lstStyle/>
          <a:p>
            <a:pPr algn="l" indent="0" marL="0">
              <a:buNone/>
            </a:pPr>
            <a:r>
              <a:rPr lang="en-US" sz="1600" dirty="0">
                <a:solidFill>
                  <a:srgbClr val="7F7F7F"/>
                </a:solidFill>
                <a:latin typeface="Arial" pitchFamily="34" charset="0"/>
                <a:ea typeface="Arial" pitchFamily="34" charset="-122"/>
                <a:cs typeface="Arial" pitchFamily="34" charset="-120"/>
              </a:rPr>
              <a:t>Slides, spatial omics and the survival model</a:t>
            </a:r>
            <a:endParaRPr lang="en-US" sz="1600" dirty="0"/>
          </a:p>
        </p:txBody>
      </p:sp>
      <p:sp>
        <p:nvSpPr>
          <p:cNvPr id="14" name="Shape 12"/>
          <p:cNvSpPr/>
          <p:nvPr/>
        </p:nvSpPr>
        <p:spPr>
          <a:xfrm>
            <a:off x="1234440" y="2889504"/>
            <a:ext cx="10042855" cy="0"/>
          </a:xfrm>
          <a:prstGeom prst="line">
            <a:avLst/>
          </a:prstGeom>
          <a:noFill/>
          <a:ln w="12700">
            <a:solidFill>
              <a:srgbClr val="D9D9D9"/>
            </a:solidFill>
            <a:prstDash val="solid"/>
          </a:ln>
        </p:spPr>
      </p:sp>
      <p:sp>
        <p:nvSpPr>
          <p:cNvPr id="15" name="Text 13"/>
          <p:cNvSpPr/>
          <p:nvPr/>
        </p:nvSpPr>
        <p:spPr>
          <a:xfrm>
            <a:off x="1234440" y="2935224"/>
            <a:ext cx="914400" cy="713232"/>
          </a:xfrm>
          <a:prstGeom prst="rect">
            <a:avLst/>
          </a:prstGeom>
          <a:noFill/>
          <a:ln/>
        </p:spPr>
        <p:txBody>
          <a:bodyPr wrap="square" lIns="0" tIns="0" rIns="0" bIns="0" rtlCol="0" anchor="ctr"/>
          <a:lstStyle/>
          <a:p>
            <a:pPr algn="l" indent="0" marL="0">
              <a:buNone/>
            </a:pPr>
            <a:r>
              <a:rPr lang="en-US" sz="2800" b="1" dirty="0">
                <a:solidFill>
                  <a:srgbClr val="D9D9D9"/>
                </a:solidFill>
                <a:latin typeface="Arial" pitchFamily="34" charset="0"/>
                <a:ea typeface="Arial" pitchFamily="34" charset="-122"/>
                <a:cs typeface="Arial" pitchFamily="34" charset="-120"/>
              </a:rPr>
              <a:t>03</a:t>
            </a:r>
            <a:endParaRPr lang="en-US" sz="2800" dirty="0"/>
          </a:p>
        </p:txBody>
      </p:sp>
      <p:sp>
        <p:nvSpPr>
          <p:cNvPr id="16" name="Text 14"/>
          <p:cNvSpPr/>
          <p:nvPr/>
        </p:nvSpPr>
        <p:spPr>
          <a:xfrm>
            <a:off x="2194560" y="2990088"/>
            <a:ext cx="4206240" cy="603504"/>
          </a:xfrm>
          <a:prstGeom prst="rect">
            <a:avLst/>
          </a:prstGeom>
          <a:noFill/>
          <a:ln/>
        </p:spPr>
        <p:txBody>
          <a:bodyPr wrap="square" lIns="0" tIns="0" rIns="0" bIns="0" rtlCol="0" anchor="ctr"/>
          <a:lstStyle/>
          <a:p>
            <a:pPr algn="l" indent="0" marL="0">
              <a:buNone/>
            </a:pPr>
            <a:r>
              <a:rPr lang="en-US" sz="2200" b="1" dirty="0">
                <a:solidFill>
                  <a:srgbClr val="7F7F7F"/>
                </a:solidFill>
                <a:latin typeface="Arial" pitchFamily="34" charset="0"/>
                <a:ea typeface="Arial" pitchFamily="34" charset="-122"/>
                <a:cs typeface="Arial" pitchFamily="34" charset="-120"/>
              </a:rPr>
              <a:t>Results</a:t>
            </a:r>
            <a:endParaRPr lang="en-US" sz="2200" dirty="0"/>
          </a:p>
        </p:txBody>
      </p:sp>
      <p:sp>
        <p:nvSpPr>
          <p:cNvPr id="17" name="Text 15"/>
          <p:cNvSpPr/>
          <p:nvPr/>
        </p:nvSpPr>
        <p:spPr>
          <a:xfrm>
            <a:off x="6400800" y="2990088"/>
            <a:ext cx="4693615" cy="603504"/>
          </a:xfrm>
          <a:prstGeom prst="rect">
            <a:avLst/>
          </a:prstGeom>
          <a:noFill/>
          <a:ln/>
        </p:spPr>
        <p:txBody>
          <a:bodyPr wrap="square" lIns="0" tIns="0" rIns="0" bIns="0" rtlCol="0" anchor="ctr"/>
          <a:lstStyle/>
          <a:p>
            <a:pPr algn="l" indent="0" marL="0">
              <a:buNone/>
            </a:pPr>
            <a:r>
              <a:rPr lang="en-US" sz="1600" dirty="0">
                <a:solidFill>
                  <a:srgbClr val="7F7F7F"/>
                </a:solidFill>
                <a:latin typeface="Arial" pitchFamily="34" charset="0"/>
                <a:ea typeface="Arial" pitchFamily="34" charset="-122"/>
                <a:cs typeface="Arial" pitchFamily="34" charset="-120"/>
              </a:rPr>
              <a:t>Risk score and model comparison</a:t>
            </a:r>
            <a:endParaRPr lang="en-US" sz="1600" dirty="0"/>
          </a:p>
        </p:txBody>
      </p:sp>
      <p:sp>
        <p:nvSpPr>
          <p:cNvPr id="18" name="Shape 16"/>
          <p:cNvSpPr/>
          <p:nvPr/>
        </p:nvSpPr>
        <p:spPr>
          <a:xfrm>
            <a:off x="1234440" y="3694176"/>
            <a:ext cx="10042855" cy="0"/>
          </a:xfrm>
          <a:prstGeom prst="line">
            <a:avLst/>
          </a:prstGeom>
          <a:noFill/>
          <a:ln w="12700">
            <a:solidFill>
              <a:srgbClr val="D9D9D9"/>
            </a:solidFill>
            <a:prstDash val="solid"/>
          </a:ln>
        </p:spPr>
      </p:sp>
      <p:sp>
        <p:nvSpPr>
          <p:cNvPr id="19" name="Text 17"/>
          <p:cNvSpPr/>
          <p:nvPr/>
        </p:nvSpPr>
        <p:spPr>
          <a:xfrm>
            <a:off x="1234440" y="3739896"/>
            <a:ext cx="914400" cy="713232"/>
          </a:xfrm>
          <a:prstGeom prst="rect">
            <a:avLst/>
          </a:prstGeom>
          <a:noFill/>
          <a:ln/>
        </p:spPr>
        <p:txBody>
          <a:bodyPr wrap="square" lIns="0" tIns="0" rIns="0" bIns="0" rtlCol="0" anchor="ctr"/>
          <a:lstStyle/>
          <a:p>
            <a:pPr algn="l" indent="0" marL="0">
              <a:buNone/>
            </a:pPr>
            <a:r>
              <a:rPr lang="en-US" sz="2800" b="1" dirty="0">
                <a:solidFill>
                  <a:srgbClr val="D9D9D9"/>
                </a:solidFill>
                <a:latin typeface="Arial" pitchFamily="34" charset="0"/>
                <a:ea typeface="Arial" pitchFamily="34" charset="-122"/>
                <a:cs typeface="Arial" pitchFamily="34" charset="-120"/>
              </a:rPr>
              <a:t>04</a:t>
            </a:r>
            <a:endParaRPr lang="en-US" sz="2800" dirty="0"/>
          </a:p>
        </p:txBody>
      </p:sp>
      <p:sp>
        <p:nvSpPr>
          <p:cNvPr id="20" name="Text 18"/>
          <p:cNvSpPr/>
          <p:nvPr/>
        </p:nvSpPr>
        <p:spPr>
          <a:xfrm>
            <a:off x="2194560" y="3794760"/>
            <a:ext cx="4206240" cy="603504"/>
          </a:xfrm>
          <a:prstGeom prst="rect">
            <a:avLst/>
          </a:prstGeom>
          <a:noFill/>
          <a:ln/>
        </p:spPr>
        <p:txBody>
          <a:bodyPr wrap="square" lIns="0" tIns="0" rIns="0" bIns="0" rtlCol="0" anchor="ctr"/>
          <a:lstStyle/>
          <a:p>
            <a:pPr algn="l" indent="0" marL="0">
              <a:buNone/>
            </a:pPr>
            <a:r>
              <a:rPr lang="en-US" sz="2200" b="1" dirty="0">
                <a:solidFill>
                  <a:srgbClr val="7F7F7F"/>
                </a:solidFill>
                <a:latin typeface="Arial" pitchFamily="34" charset="0"/>
                <a:ea typeface="Arial" pitchFamily="34" charset="-122"/>
                <a:cs typeface="Arial" pitchFamily="34" charset="-120"/>
              </a:rPr>
              <a:t>Report-drafting agent</a:t>
            </a:r>
            <a:endParaRPr lang="en-US" sz="2200" dirty="0"/>
          </a:p>
        </p:txBody>
      </p:sp>
      <p:sp>
        <p:nvSpPr>
          <p:cNvPr id="21" name="Text 19"/>
          <p:cNvSpPr/>
          <p:nvPr/>
        </p:nvSpPr>
        <p:spPr>
          <a:xfrm>
            <a:off x="6400800" y="3794760"/>
            <a:ext cx="4693615" cy="603504"/>
          </a:xfrm>
          <a:prstGeom prst="rect">
            <a:avLst/>
          </a:prstGeom>
          <a:noFill/>
          <a:ln/>
        </p:spPr>
        <p:txBody>
          <a:bodyPr wrap="square" lIns="0" tIns="0" rIns="0" bIns="0" rtlCol="0" anchor="ctr"/>
          <a:lstStyle/>
          <a:p>
            <a:pPr algn="l" indent="0" marL="0">
              <a:buNone/>
            </a:pPr>
            <a:r>
              <a:rPr lang="en-US" sz="1600" dirty="0">
                <a:solidFill>
                  <a:srgbClr val="7F7F7F"/>
                </a:solidFill>
                <a:latin typeface="Arial" pitchFamily="34" charset="0"/>
                <a:ea typeface="Arial" pitchFamily="34" charset="-122"/>
                <a:cs typeface="Arial" pitchFamily="34" charset="-120"/>
              </a:rPr>
              <a:t>LLM / VLM agent that writes a draft report</a:t>
            </a:r>
            <a:endParaRPr lang="en-US" sz="1600" dirty="0"/>
          </a:p>
        </p:txBody>
      </p:sp>
      <p:sp>
        <p:nvSpPr>
          <p:cNvPr id="22" name="Shape 20"/>
          <p:cNvSpPr/>
          <p:nvPr/>
        </p:nvSpPr>
        <p:spPr>
          <a:xfrm>
            <a:off x="1234440" y="4498848"/>
            <a:ext cx="10042855" cy="0"/>
          </a:xfrm>
          <a:prstGeom prst="line">
            <a:avLst/>
          </a:prstGeom>
          <a:noFill/>
          <a:ln w="12700">
            <a:solidFill>
              <a:srgbClr val="D9D9D9"/>
            </a:solidFill>
            <a:prstDash val="solid"/>
          </a:ln>
        </p:spPr>
      </p:sp>
      <p:sp>
        <p:nvSpPr>
          <p:cNvPr id="23" name="Text 21"/>
          <p:cNvSpPr/>
          <p:nvPr/>
        </p:nvSpPr>
        <p:spPr>
          <a:xfrm>
            <a:off x="1234440" y="4544568"/>
            <a:ext cx="914400" cy="713232"/>
          </a:xfrm>
          <a:prstGeom prst="rect">
            <a:avLst/>
          </a:prstGeom>
          <a:noFill/>
          <a:ln/>
        </p:spPr>
        <p:txBody>
          <a:bodyPr wrap="square" lIns="0" tIns="0" rIns="0" bIns="0" rtlCol="0" anchor="ctr"/>
          <a:lstStyle/>
          <a:p>
            <a:pPr algn="l" indent="0" marL="0">
              <a:buNone/>
            </a:pPr>
            <a:r>
              <a:rPr lang="en-US" sz="2800" b="1" dirty="0">
                <a:solidFill>
                  <a:srgbClr val="D9D9D9"/>
                </a:solidFill>
                <a:latin typeface="Arial" pitchFamily="34" charset="0"/>
                <a:ea typeface="Arial" pitchFamily="34" charset="-122"/>
                <a:cs typeface="Arial" pitchFamily="34" charset="-120"/>
              </a:rPr>
              <a:t>05</a:t>
            </a:r>
            <a:endParaRPr lang="en-US" sz="2800" dirty="0"/>
          </a:p>
        </p:txBody>
      </p:sp>
      <p:sp>
        <p:nvSpPr>
          <p:cNvPr id="24" name="Text 22"/>
          <p:cNvSpPr/>
          <p:nvPr/>
        </p:nvSpPr>
        <p:spPr>
          <a:xfrm>
            <a:off x="2194560" y="4599432"/>
            <a:ext cx="4206240" cy="603504"/>
          </a:xfrm>
          <a:prstGeom prst="rect">
            <a:avLst/>
          </a:prstGeom>
          <a:noFill/>
          <a:ln/>
        </p:spPr>
        <p:txBody>
          <a:bodyPr wrap="square" lIns="0" tIns="0" rIns="0" bIns="0" rtlCol="0" anchor="ctr"/>
          <a:lstStyle/>
          <a:p>
            <a:pPr algn="l" indent="0" marL="0">
              <a:buNone/>
            </a:pPr>
            <a:r>
              <a:rPr lang="en-US" sz="2200" b="1" dirty="0">
                <a:solidFill>
                  <a:srgbClr val="7F7F7F"/>
                </a:solidFill>
                <a:latin typeface="Arial" pitchFamily="34" charset="0"/>
                <a:ea typeface="Arial" pitchFamily="34" charset="-122"/>
                <a:cs typeface="Arial" pitchFamily="34" charset="-120"/>
              </a:rPr>
              <a:t>Limitations and next steps</a:t>
            </a:r>
            <a:endParaRPr lang="en-US" sz="2200" dirty="0"/>
          </a:p>
        </p:txBody>
      </p:sp>
      <p:sp>
        <p:nvSpPr>
          <p:cNvPr id="25" name="Text 23"/>
          <p:cNvSpPr/>
          <p:nvPr/>
        </p:nvSpPr>
        <p:spPr>
          <a:xfrm>
            <a:off x="6400800" y="4599432"/>
            <a:ext cx="4693615" cy="603504"/>
          </a:xfrm>
          <a:prstGeom prst="rect">
            <a:avLst/>
          </a:prstGeom>
          <a:noFill/>
          <a:ln/>
        </p:spPr>
        <p:txBody>
          <a:bodyPr wrap="square" lIns="0" tIns="0" rIns="0" bIns="0" rtlCol="0" anchor="ctr"/>
          <a:lstStyle/>
          <a:p>
            <a:pPr algn="l" indent="0" marL="0">
              <a:buNone/>
            </a:pPr>
            <a:r>
              <a:rPr lang="en-US" sz="1600" dirty="0">
                <a:solidFill>
                  <a:srgbClr val="7F7F7F"/>
                </a:solidFill>
                <a:latin typeface="Arial" pitchFamily="34" charset="0"/>
                <a:ea typeface="Arial" pitchFamily="34" charset="-122"/>
                <a:cs typeface="Arial" pitchFamily="34" charset="-120"/>
              </a:rPr>
              <a:t>What the results can and cannot support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2</a:t>
            </a:r>
            <a:endParaRPr lang="en-US" sz="1200" dirty="0"/>
          </a:p>
        </p:txBody>
      </p:sp>
      <p:sp>
        <p:nvSpPr>
          <p:cNvPr id="4" name="Text 2"/>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section divider</a:t>
            </a:r>
            <a:endParaRPr lang="en-US" sz="1200" dirty="0"/>
          </a:p>
        </p:txBody>
      </p:sp>
      <p:sp>
        <p:nvSpPr>
          <p:cNvPr id="5" name="Text 3"/>
          <p:cNvSpPr/>
          <p:nvPr/>
        </p:nvSpPr>
        <p:spPr>
          <a:xfrm>
            <a:off x="1097280" y="1828800"/>
            <a:ext cx="2926080" cy="2011680"/>
          </a:xfrm>
          <a:prstGeom prst="rect">
            <a:avLst/>
          </a:prstGeom>
          <a:noFill/>
          <a:ln/>
        </p:spPr>
        <p:txBody>
          <a:bodyPr wrap="square" lIns="0" tIns="0" rIns="0" bIns="0" rtlCol="0" anchor="ctr"/>
          <a:lstStyle/>
          <a:p>
            <a:pPr algn="l" indent="0" marL="0">
              <a:buNone/>
            </a:pPr>
            <a:r>
              <a:rPr lang="en-US" sz="12000" b="1" dirty="0">
                <a:solidFill>
                  <a:srgbClr val="A51C30"/>
                </a:solidFill>
                <a:latin typeface="Arial" pitchFamily="34" charset="0"/>
                <a:ea typeface="Arial" pitchFamily="34" charset="-122"/>
                <a:cs typeface="Arial" pitchFamily="34" charset="-120"/>
              </a:rPr>
              <a:t>02</a:t>
            </a:r>
            <a:endParaRPr lang="en-US" sz="12000" dirty="0"/>
          </a:p>
        </p:txBody>
      </p:sp>
      <p:sp>
        <p:nvSpPr>
          <p:cNvPr id="6" name="Shape 4"/>
          <p:cNvSpPr/>
          <p:nvPr/>
        </p:nvSpPr>
        <p:spPr>
          <a:xfrm>
            <a:off x="4069080" y="2148840"/>
            <a:ext cx="36576" cy="1371600"/>
          </a:xfrm>
          <a:prstGeom prst="rect">
            <a:avLst/>
          </a:prstGeom>
          <a:solidFill>
            <a:srgbClr val="D9D9D9"/>
          </a:solidFill>
          <a:ln/>
        </p:spPr>
      </p:sp>
      <p:sp>
        <p:nvSpPr>
          <p:cNvPr id="7" name="Text 5"/>
          <p:cNvSpPr/>
          <p:nvPr/>
        </p:nvSpPr>
        <p:spPr>
          <a:xfrm>
            <a:off x="4434840" y="2148840"/>
            <a:ext cx="6858000" cy="731520"/>
          </a:xfrm>
          <a:prstGeom prst="rect">
            <a:avLst/>
          </a:prstGeom>
          <a:noFill/>
          <a:ln/>
        </p:spPr>
        <p:txBody>
          <a:bodyPr wrap="square" lIns="0" tIns="0" rIns="0" bIns="0" rtlCol="0" anchor="ctr"/>
          <a:lstStyle/>
          <a:p>
            <a:pPr algn="l" indent="0" marL="0">
              <a:buNone/>
            </a:pPr>
            <a:r>
              <a:rPr lang="en-US" sz="4000" b="1" dirty="0">
                <a:solidFill>
                  <a:srgbClr val="595959"/>
                </a:solidFill>
                <a:latin typeface="Arial" pitchFamily="34" charset="0"/>
                <a:ea typeface="Arial" pitchFamily="34" charset="-122"/>
                <a:cs typeface="Arial" pitchFamily="34" charset="-120"/>
              </a:rPr>
              <a:t>Data and methods</a:t>
            </a:r>
            <a:endParaRPr lang="en-US" sz="4000" dirty="0"/>
          </a:p>
        </p:txBody>
      </p:sp>
      <p:sp>
        <p:nvSpPr>
          <p:cNvPr id="8" name="Text 6"/>
          <p:cNvSpPr/>
          <p:nvPr/>
        </p:nvSpPr>
        <p:spPr>
          <a:xfrm>
            <a:off x="4434840" y="2926080"/>
            <a:ext cx="6858000" cy="548640"/>
          </a:xfrm>
          <a:prstGeom prst="rect">
            <a:avLst/>
          </a:prstGeom>
          <a:noFill/>
          <a:ln/>
        </p:spPr>
        <p:txBody>
          <a:bodyPr wrap="square" lIns="0" tIns="0" rIns="0" bIns="0" rtlCol="0" anchor="ctr"/>
          <a:lstStyle/>
          <a:p>
            <a:pPr algn="l" indent="0" marL="0">
              <a:buNone/>
            </a:pPr>
            <a:r>
              <a:rPr lang="en-US" sz="2000" dirty="0">
                <a:solidFill>
                  <a:srgbClr val="7F7F7F"/>
                </a:solidFill>
                <a:latin typeface="Arial" pitchFamily="34" charset="0"/>
                <a:ea typeface="Arial" pitchFamily="34" charset="-122"/>
                <a:cs typeface="Arial" pitchFamily="34" charset="-120"/>
              </a:rPr>
              <a:t>Slides, spatial omics and the survival model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Background</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3</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big statement</a:t>
            </a:r>
            <a:endParaRPr lang="en-US" sz="1200" dirty="0"/>
          </a:p>
        </p:txBody>
      </p:sp>
      <p:sp>
        <p:nvSpPr>
          <p:cNvPr id="6" name="Shape 4"/>
          <p:cNvSpPr/>
          <p:nvPr/>
        </p:nvSpPr>
        <p:spPr>
          <a:xfrm>
            <a:off x="548640" y="1600200"/>
            <a:ext cx="73152" cy="1234440"/>
          </a:xfrm>
          <a:prstGeom prst="rect">
            <a:avLst/>
          </a:prstGeom>
          <a:solidFill>
            <a:srgbClr val="A51C30"/>
          </a:solidFill>
          <a:ln/>
        </p:spPr>
      </p:sp>
      <p:sp>
        <p:nvSpPr>
          <p:cNvPr id="7" name="Text 5"/>
          <p:cNvSpPr/>
          <p:nvPr/>
        </p:nvSpPr>
        <p:spPr>
          <a:xfrm>
            <a:off x="868680" y="1554480"/>
            <a:ext cx="10545775" cy="1325880"/>
          </a:xfrm>
          <a:prstGeom prst="rect">
            <a:avLst/>
          </a:prstGeom>
          <a:noFill/>
          <a:ln/>
        </p:spPr>
        <p:txBody>
          <a:bodyPr wrap="square" lIns="0" tIns="0" rIns="0" bIns="0" rtlCol="0" anchor="ctr"/>
          <a:lstStyle/>
          <a:p>
            <a:pPr algn="l" indent="0" marL="0">
              <a:buNone/>
            </a:pPr>
            <a:r>
              <a:rPr lang="en-US" sz="3000" b="1" dirty="0">
                <a:solidFill>
                  <a:srgbClr val="000000"/>
                </a:solidFill>
                <a:latin typeface="Arial" pitchFamily="34" charset="0"/>
                <a:ea typeface="Arial" pitchFamily="34" charset="-122"/>
                <a:cs typeface="Arial" pitchFamily="34" charset="-120"/>
              </a:rPr>
              <a:t>Whole-slide images can be learned from slide-level labels alone, without drawing a single region.</a:t>
            </a:r>
            <a:endParaRPr lang="en-US" sz="3000" dirty="0"/>
          </a:p>
        </p:txBody>
      </p:sp>
      <p:sp>
        <p:nvSpPr>
          <p:cNvPr id="8" name="Text 6"/>
          <p:cNvSpPr/>
          <p:nvPr/>
        </p:nvSpPr>
        <p:spPr>
          <a:xfrm>
            <a:off x="868680" y="3429000"/>
            <a:ext cx="10545775" cy="2103120"/>
          </a:xfrm>
          <a:prstGeom prst="rect">
            <a:avLst/>
          </a:prstGeom>
          <a:noFill/>
          <a:ln/>
        </p:spPr>
        <p:txBody>
          <a:bodyPr wrap="square" lIns="0" tIns="0" rIns="0" bIns="0" rtlCol="0" anchor="t"/>
          <a:lstStyle/>
          <a:p>
            <a:pPr algn="l" marL="203200" indent="-203200">
              <a:spcAft>
                <a:spcPts val="1000"/>
              </a:spcAft>
              <a:buSzPct val="100000"/>
              <a:buChar char="•"/>
            </a:pPr>
            <a:r>
              <a:rPr lang="en-US" sz="1800" b="1" dirty="0">
                <a:solidFill>
                  <a:srgbClr val="595959"/>
                </a:solidFill>
                <a:latin typeface="Arial" pitchFamily="34" charset="0"/>
                <a:ea typeface="Arial" pitchFamily="34" charset="-122"/>
                <a:cs typeface="Arial" pitchFamily="34" charset="-120"/>
              </a:rPr>
              <a:t>Weak supervision: </a:t>
            </a:r>
            <a:pPr algn="l" marL="203200" indent="-203200">
              <a:spcAft>
                <a:spcPts val="1000"/>
              </a:spcAft>
              <a:buSzPct val="100000"/>
              <a:buChar char="•"/>
            </a:pPr>
            <a:r>
              <a:rPr lang="en-US" sz="1800" dirty="0">
                <a:solidFill>
                  <a:srgbClr val="595959"/>
                </a:solidFill>
                <a:latin typeface="Arial" pitchFamily="34" charset="0"/>
                <a:ea typeface="Arial" pitchFamily="34" charset="-122"/>
                <a:cs typeface="Arial" pitchFamily="34" charset="-120"/>
              </a:rPr>
              <a:t>attention-based multiple-instance learning finds the regions that drive a slide label</a:t>
            </a:r>
            <a:endParaRPr lang="en-US" sz="1800" dirty="0"/>
          </a:p>
          <a:p>
            <a:pPr algn="l" marL="203200" indent="-203200">
              <a:spcAft>
                <a:spcPts val="1000"/>
              </a:spcAft>
              <a:buSzPct val="100000"/>
              <a:buChar char="•"/>
            </a:pPr>
            <a:r>
              <a:rPr lang="en-US" sz="1800" b="1" dirty="0">
                <a:solidFill>
                  <a:srgbClr val="595959"/>
                </a:solidFill>
                <a:latin typeface="Arial" pitchFamily="34" charset="0"/>
                <a:ea typeface="Arial" pitchFamily="34" charset="-122"/>
                <a:cs typeface="Arial" pitchFamily="34" charset="-120"/>
              </a:rPr>
              <a:t>Scale: </a:t>
            </a:r>
            <a:pPr algn="l" marL="203200" indent="-203200">
              <a:spcAft>
                <a:spcPts val="1000"/>
              </a:spcAft>
              <a:buSzPct val="100000"/>
              <a:buChar char="•"/>
            </a:pPr>
            <a:r>
              <a:rPr lang="en-US" sz="1800" dirty="0">
                <a:solidFill>
                  <a:srgbClr val="595959"/>
                </a:solidFill>
                <a:latin typeface="Arial" pitchFamily="34" charset="0"/>
                <a:ea typeface="Arial" pitchFamily="34" charset="-122"/>
                <a:cs typeface="Arial" pitchFamily="34" charset="-120"/>
              </a:rPr>
              <a:t>one label per slide makes routine archives usable, not only annotated sets</a:t>
            </a:r>
            <a:endParaRPr lang="en-US" sz="1800" dirty="0"/>
          </a:p>
          <a:p>
            <a:pPr algn="l" marL="203200" indent="-203200">
              <a:spcAft>
                <a:spcPts val="1000"/>
              </a:spcAft>
              <a:buSzPct val="100000"/>
              <a:buChar char="•"/>
            </a:pPr>
            <a:r>
              <a:rPr lang="en-US" sz="1800" b="1" dirty="0">
                <a:solidFill>
                  <a:srgbClr val="595959"/>
                </a:solidFill>
                <a:latin typeface="Arial" pitchFamily="34" charset="0"/>
                <a:ea typeface="Arial" pitchFamily="34" charset="-122"/>
                <a:cs typeface="Arial" pitchFamily="34" charset="-120"/>
              </a:rPr>
              <a:t>Open question: </a:t>
            </a:r>
            <a:pPr algn="l" marL="203200" indent="-203200">
              <a:spcAft>
                <a:spcPts val="1000"/>
              </a:spcAft>
              <a:buSzPct val="100000"/>
              <a:buChar char="•"/>
            </a:pPr>
            <a:r>
              <a:rPr lang="en-US" sz="1800" dirty="0">
                <a:solidFill>
                  <a:srgbClr val="595959"/>
                </a:solidFill>
                <a:latin typeface="Arial" pitchFamily="34" charset="0"/>
                <a:ea typeface="Arial" pitchFamily="34" charset="-122"/>
                <a:cs typeface="Arial" pitchFamily="34" charset="-120"/>
              </a:rPr>
              <a:t>the same idea for outcome (survival), and for spatial omics next to H&amp;E</a:t>
            </a:r>
            <a:endParaRPr lang="en-US" sz="1800" dirty="0"/>
          </a:p>
        </p:txBody>
      </p:sp>
      <p:sp>
        <p:nvSpPr>
          <p:cNvPr id="9" name="Text 7"/>
          <p:cNvSpPr/>
          <p:nvPr/>
        </p:nvSpPr>
        <p:spPr>
          <a:xfrm>
            <a:off x="548640" y="6236208"/>
            <a:ext cx="10682935" cy="548640"/>
          </a:xfrm>
          <a:prstGeom prst="rect">
            <a:avLst/>
          </a:prstGeom>
          <a:noFill/>
          <a:ln/>
        </p:spPr>
        <p:txBody>
          <a:bodyPr wrap="square" lIns="0" tIns="0" rIns="0" bIns="0" rtlCol="0" anchor="b"/>
          <a:lstStyle/>
          <a:p>
            <a:pPr algn="r" indent="0" marL="0">
              <a:buNone/>
            </a:pPr>
            <a:r>
              <a:rPr lang="en-US" sz="900" dirty="0">
                <a:solidFill>
                  <a:srgbClr val="222222"/>
                </a:solidFill>
                <a:latin typeface="Times New Roman" pitchFamily="34" charset="0"/>
                <a:ea typeface="Times New Roman" pitchFamily="34" charset="-122"/>
                <a:cs typeface="Times New Roman" pitchFamily="34" charset="-120"/>
              </a:rPr>
              <a:t>Lu, Ming Y., et al. </a:t>
            </a:r>
            <a:pPr algn="r" indent="0" marL="0">
              <a:buNone/>
            </a:pPr>
            <a:r>
              <a:rPr lang="en-US" sz="900" i="1" dirty="0">
                <a:solidFill>
                  <a:srgbClr val="222222"/>
                </a:solidFill>
                <a:latin typeface="Times New Roman" pitchFamily="34" charset="0"/>
                <a:ea typeface="Times New Roman" pitchFamily="34" charset="-122"/>
                <a:cs typeface="Times New Roman" pitchFamily="34" charset="-120"/>
              </a:rPr>
              <a:t>Nature Biomedical Engineering</a:t>
            </a:r>
            <a:pPr algn="r" indent="0" marL="0">
              <a:buNone/>
            </a:pPr>
            <a:r>
              <a:rPr lang="en-US" sz="900" dirty="0">
                <a:solidFill>
                  <a:srgbClr val="222222"/>
                </a:solidFill>
                <a:latin typeface="Times New Roman" pitchFamily="34" charset="0"/>
                <a:ea typeface="Times New Roman" pitchFamily="34" charset="-122"/>
                <a:cs typeface="Times New Roman" pitchFamily="34" charset="-120"/>
              </a:rPr>
              <a:t> 5.6 (2021): 555–570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Problem, Approach and Impact</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4</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problem → approach → impact</a:t>
            </a:r>
            <a:endParaRPr lang="en-US" sz="1200" dirty="0"/>
          </a:p>
        </p:txBody>
      </p:sp>
      <p:pic>
        <p:nvPicPr>
          <p:cNvPr id="6" name="Image 0" descr="/mnt/data1/bal753/research-skills/examples/icons/png/lucide/scan-eye_accent.png">    </p:cNvPr>
          <p:cNvPicPr>
            <a:picLocks noChangeAspect="1"/>
          </p:cNvPicPr>
          <p:nvPr/>
        </p:nvPicPr>
        <p:blipFill>
          <a:blip r:embed="rId1"/>
          <a:stretch>
            <a:fillRect/>
          </a:stretch>
        </p:blipFill>
        <p:spPr>
          <a:xfrm>
            <a:off x="1772869" y="1600200"/>
            <a:ext cx="822960" cy="822960"/>
          </a:xfrm>
          <a:prstGeom prst="rect">
            <a:avLst/>
          </a:prstGeom>
        </p:spPr>
      </p:pic>
      <p:sp>
        <p:nvSpPr>
          <p:cNvPr id="7" name="Text 4"/>
          <p:cNvSpPr/>
          <p:nvPr/>
        </p:nvSpPr>
        <p:spPr>
          <a:xfrm>
            <a:off x="548640" y="2606040"/>
            <a:ext cx="3271418" cy="320040"/>
          </a:xfrm>
          <a:prstGeom prst="rect">
            <a:avLst/>
          </a:prstGeom>
          <a:noFill/>
          <a:ln/>
        </p:spPr>
        <p:txBody>
          <a:bodyPr wrap="square" lIns="0" tIns="0" rIns="0" bIns="0" rtlCol="0" anchor="t"/>
          <a:lstStyle/>
          <a:p>
            <a:pPr algn="ctr" indent="0" marL="0">
              <a:buNone/>
            </a:pPr>
            <a:r>
              <a:rPr lang="en-US" sz="1400" b="1" spc="200" kern="0" dirty="0">
                <a:solidFill>
                  <a:srgbClr val="A51C30"/>
                </a:solidFill>
                <a:latin typeface="Arial" pitchFamily="34" charset="0"/>
                <a:ea typeface="Arial" pitchFamily="34" charset="-122"/>
                <a:cs typeface="Arial" pitchFamily="34" charset="-120"/>
              </a:rPr>
              <a:t>PROBLEM</a:t>
            </a:r>
            <a:endParaRPr lang="en-US" sz="1400" dirty="0"/>
          </a:p>
        </p:txBody>
      </p:sp>
      <p:sp>
        <p:nvSpPr>
          <p:cNvPr id="8" name="Text 5"/>
          <p:cNvSpPr/>
          <p:nvPr/>
        </p:nvSpPr>
        <p:spPr>
          <a:xfrm>
            <a:off x="548640" y="2971800"/>
            <a:ext cx="3271418" cy="457200"/>
          </a:xfrm>
          <a:prstGeom prst="rect">
            <a:avLst/>
          </a:prstGeom>
          <a:noFill/>
          <a:ln/>
        </p:spPr>
        <p:txBody>
          <a:bodyPr wrap="square" lIns="0" tIns="0" rIns="0" bIns="0" rtlCol="0" anchor="t"/>
          <a:lstStyle/>
          <a:p>
            <a:pPr algn="ctr" indent="0" marL="0">
              <a:buNone/>
            </a:pPr>
            <a:r>
              <a:rPr lang="en-US" sz="2200" b="1" dirty="0">
                <a:solidFill>
                  <a:srgbClr val="595959"/>
                </a:solidFill>
                <a:latin typeface="Arial" pitchFamily="34" charset="0"/>
                <a:ea typeface="Arial" pitchFamily="34" charset="-122"/>
                <a:cs typeface="Arial" pitchFamily="34" charset="-120"/>
              </a:rPr>
              <a:t>Spatial context is lost</a:t>
            </a:r>
            <a:endParaRPr lang="en-US" sz="2200" dirty="0"/>
          </a:p>
        </p:txBody>
      </p:sp>
      <p:sp>
        <p:nvSpPr>
          <p:cNvPr id="9" name="Text 6"/>
          <p:cNvSpPr/>
          <p:nvPr/>
        </p:nvSpPr>
        <p:spPr>
          <a:xfrm>
            <a:off x="731520" y="3520440"/>
            <a:ext cx="2905658" cy="777240"/>
          </a:xfrm>
          <a:prstGeom prst="rect">
            <a:avLst/>
          </a:prstGeom>
          <a:noFill/>
          <a:ln/>
        </p:spPr>
        <p:txBody>
          <a:bodyPr wrap="square" lIns="0" tIns="0" rIns="0" bIns="0" rtlCol="0" anchor="t"/>
          <a:lstStyle/>
          <a:p>
            <a:pPr algn="ctr" indent="0" marL="0">
              <a:buNone/>
            </a:pPr>
            <a:r>
              <a:rPr lang="en-US" sz="1600" dirty="0">
                <a:solidFill>
                  <a:srgbClr val="595959"/>
                </a:solidFill>
                <a:latin typeface="Arial" pitchFamily="34" charset="0"/>
                <a:ea typeface="Arial" pitchFamily="34" charset="-122"/>
                <a:cs typeface="Arial" pitchFamily="34" charset="-120"/>
              </a:rPr>
              <a:t>Tile models average away where cells sit</a:t>
            </a:r>
            <a:endParaRPr lang="en-US" sz="1600" dirty="0"/>
          </a:p>
        </p:txBody>
      </p:sp>
      <p:sp>
        <p:nvSpPr>
          <p:cNvPr id="10" name="Shape 7"/>
          <p:cNvSpPr/>
          <p:nvPr/>
        </p:nvSpPr>
        <p:spPr>
          <a:xfrm>
            <a:off x="3929786" y="2011680"/>
            <a:ext cx="420624" cy="0"/>
          </a:xfrm>
          <a:prstGeom prst="line">
            <a:avLst/>
          </a:prstGeom>
          <a:noFill/>
          <a:ln w="19050">
            <a:solidFill>
              <a:srgbClr val="7F7F7F"/>
            </a:solidFill>
            <a:prstDash val="solid"/>
            <a:tailEnd type="triangle"/>
          </a:ln>
        </p:spPr>
      </p:sp>
      <p:pic>
        <p:nvPicPr>
          <p:cNvPr id="11" name="Image 1" descr="/mnt/data1/bal753/research-skills/examples/icons/png/lucide/brain-circuit_accent.png">    </p:cNvPr>
          <p:cNvPicPr>
            <a:picLocks noChangeAspect="1"/>
          </p:cNvPicPr>
          <p:nvPr/>
        </p:nvPicPr>
        <p:blipFill>
          <a:blip r:embed="rId2"/>
          <a:stretch>
            <a:fillRect/>
          </a:stretch>
        </p:blipFill>
        <p:spPr>
          <a:xfrm>
            <a:off x="5684368" y="1600200"/>
            <a:ext cx="822960" cy="822960"/>
          </a:xfrm>
          <a:prstGeom prst="rect">
            <a:avLst/>
          </a:prstGeom>
        </p:spPr>
      </p:pic>
      <p:sp>
        <p:nvSpPr>
          <p:cNvPr id="12" name="Text 8"/>
          <p:cNvSpPr/>
          <p:nvPr/>
        </p:nvSpPr>
        <p:spPr>
          <a:xfrm>
            <a:off x="4460138" y="2606040"/>
            <a:ext cx="3271418" cy="320040"/>
          </a:xfrm>
          <a:prstGeom prst="rect">
            <a:avLst/>
          </a:prstGeom>
          <a:noFill/>
          <a:ln/>
        </p:spPr>
        <p:txBody>
          <a:bodyPr wrap="square" lIns="0" tIns="0" rIns="0" bIns="0" rtlCol="0" anchor="t"/>
          <a:lstStyle/>
          <a:p>
            <a:pPr algn="ctr" indent="0" marL="0">
              <a:buNone/>
            </a:pPr>
            <a:r>
              <a:rPr lang="en-US" sz="1400" b="1" spc="200" kern="0" dirty="0">
                <a:solidFill>
                  <a:srgbClr val="A51C30"/>
                </a:solidFill>
                <a:latin typeface="Arial" pitchFamily="34" charset="0"/>
                <a:ea typeface="Arial" pitchFamily="34" charset="-122"/>
                <a:cs typeface="Arial" pitchFamily="34" charset="-120"/>
              </a:rPr>
              <a:t>APPROACH</a:t>
            </a:r>
            <a:endParaRPr lang="en-US" sz="1400" dirty="0"/>
          </a:p>
        </p:txBody>
      </p:sp>
      <p:sp>
        <p:nvSpPr>
          <p:cNvPr id="13" name="Text 9"/>
          <p:cNvSpPr/>
          <p:nvPr/>
        </p:nvSpPr>
        <p:spPr>
          <a:xfrm>
            <a:off x="4460138" y="2971800"/>
            <a:ext cx="3271418" cy="457200"/>
          </a:xfrm>
          <a:prstGeom prst="rect">
            <a:avLst/>
          </a:prstGeom>
          <a:noFill/>
          <a:ln/>
        </p:spPr>
        <p:txBody>
          <a:bodyPr wrap="square" lIns="0" tIns="0" rIns="0" bIns="0" rtlCol="0" anchor="t"/>
          <a:lstStyle/>
          <a:p>
            <a:pPr algn="ctr" indent="0" marL="0">
              <a:buNone/>
            </a:pPr>
            <a:r>
              <a:rPr lang="en-US" sz="2200" b="1" dirty="0">
                <a:solidFill>
                  <a:srgbClr val="595959"/>
                </a:solidFill>
                <a:latin typeface="Arial" pitchFamily="34" charset="0"/>
                <a:ea typeface="Arial" pitchFamily="34" charset="-122"/>
                <a:cs typeface="Arial" pitchFamily="34" charset="-120"/>
              </a:rPr>
              <a:t>Learn from the tissue</a:t>
            </a:r>
            <a:endParaRPr lang="en-US" sz="2200" dirty="0"/>
          </a:p>
        </p:txBody>
      </p:sp>
      <p:sp>
        <p:nvSpPr>
          <p:cNvPr id="14" name="Text 10"/>
          <p:cNvSpPr/>
          <p:nvPr/>
        </p:nvSpPr>
        <p:spPr>
          <a:xfrm>
            <a:off x="4643018" y="3520440"/>
            <a:ext cx="2905658" cy="777240"/>
          </a:xfrm>
          <a:prstGeom prst="rect">
            <a:avLst/>
          </a:prstGeom>
          <a:noFill/>
          <a:ln/>
        </p:spPr>
        <p:txBody>
          <a:bodyPr wrap="square" lIns="0" tIns="0" rIns="0" bIns="0" rtlCol="0" anchor="t"/>
          <a:lstStyle/>
          <a:p>
            <a:pPr algn="ctr" indent="0" marL="0">
              <a:buNone/>
            </a:pPr>
            <a:r>
              <a:rPr lang="en-US" sz="1600" dirty="0">
                <a:solidFill>
                  <a:srgbClr val="595959"/>
                </a:solidFill>
                <a:latin typeface="Arial" pitchFamily="34" charset="0"/>
                <a:ea typeface="Arial" pitchFamily="34" charset="-122"/>
                <a:cs typeface="Arial" pitchFamily="34" charset="-120"/>
              </a:rPr>
              <a:t>Foundation-model tiles plus cell graphs, trained on outcome</a:t>
            </a:r>
            <a:endParaRPr lang="en-US" sz="1600" dirty="0"/>
          </a:p>
        </p:txBody>
      </p:sp>
      <p:sp>
        <p:nvSpPr>
          <p:cNvPr id="15" name="Shape 11"/>
          <p:cNvSpPr/>
          <p:nvPr/>
        </p:nvSpPr>
        <p:spPr>
          <a:xfrm>
            <a:off x="7841285" y="2011680"/>
            <a:ext cx="420624" cy="0"/>
          </a:xfrm>
          <a:prstGeom prst="line">
            <a:avLst/>
          </a:prstGeom>
          <a:noFill/>
          <a:ln w="19050">
            <a:solidFill>
              <a:srgbClr val="7F7F7F"/>
            </a:solidFill>
            <a:prstDash val="solid"/>
            <a:tailEnd type="triangle"/>
          </a:ln>
        </p:spPr>
      </p:sp>
      <p:pic>
        <p:nvPicPr>
          <p:cNvPr id="16" name="Image 2" descr="/mnt/data1/bal753/research-skills/examples/icons/png/lucide/users_accent.png">    </p:cNvPr>
          <p:cNvPicPr>
            <a:picLocks noChangeAspect="1"/>
          </p:cNvPicPr>
          <p:nvPr/>
        </p:nvPicPr>
        <p:blipFill>
          <a:blip r:embed="rId3"/>
          <a:stretch>
            <a:fillRect/>
          </a:stretch>
        </p:blipFill>
        <p:spPr>
          <a:xfrm>
            <a:off x="9595866" y="1600200"/>
            <a:ext cx="822960" cy="822960"/>
          </a:xfrm>
          <a:prstGeom prst="rect">
            <a:avLst/>
          </a:prstGeom>
        </p:spPr>
      </p:pic>
      <p:sp>
        <p:nvSpPr>
          <p:cNvPr id="17" name="Text 12"/>
          <p:cNvSpPr/>
          <p:nvPr/>
        </p:nvSpPr>
        <p:spPr>
          <a:xfrm>
            <a:off x="8371637" y="2606040"/>
            <a:ext cx="3271418" cy="320040"/>
          </a:xfrm>
          <a:prstGeom prst="rect">
            <a:avLst/>
          </a:prstGeom>
          <a:noFill/>
          <a:ln/>
        </p:spPr>
        <p:txBody>
          <a:bodyPr wrap="square" lIns="0" tIns="0" rIns="0" bIns="0" rtlCol="0" anchor="t"/>
          <a:lstStyle/>
          <a:p>
            <a:pPr algn="ctr" indent="0" marL="0">
              <a:buNone/>
            </a:pPr>
            <a:r>
              <a:rPr lang="en-US" sz="1400" b="1" spc="200" kern="0" dirty="0">
                <a:solidFill>
                  <a:srgbClr val="A51C30"/>
                </a:solidFill>
                <a:latin typeface="Arial" pitchFamily="34" charset="0"/>
                <a:ea typeface="Arial" pitchFamily="34" charset="-122"/>
                <a:cs typeface="Arial" pitchFamily="34" charset="-120"/>
              </a:rPr>
              <a:t>IMPACT</a:t>
            </a:r>
            <a:endParaRPr lang="en-US" sz="1400" dirty="0"/>
          </a:p>
        </p:txBody>
      </p:sp>
      <p:sp>
        <p:nvSpPr>
          <p:cNvPr id="18" name="Text 13"/>
          <p:cNvSpPr/>
          <p:nvPr/>
        </p:nvSpPr>
        <p:spPr>
          <a:xfrm>
            <a:off x="8371637" y="2971800"/>
            <a:ext cx="3271418" cy="457200"/>
          </a:xfrm>
          <a:prstGeom prst="rect">
            <a:avLst/>
          </a:prstGeom>
          <a:noFill/>
          <a:ln/>
        </p:spPr>
        <p:txBody>
          <a:bodyPr wrap="square" lIns="0" tIns="0" rIns="0" bIns="0" rtlCol="0" anchor="t"/>
          <a:lstStyle/>
          <a:p>
            <a:pPr algn="ctr" indent="0" marL="0">
              <a:buNone/>
            </a:pPr>
            <a:r>
              <a:rPr lang="en-US" sz="2200" b="1" dirty="0">
                <a:solidFill>
                  <a:srgbClr val="595959"/>
                </a:solidFill>
                <a:latin typeface="Arial" pitchFamily="34" charset="0"/>
                <a:ea typeface="Arial" pitchFamily="34" charset="-122"/>
                <a:cs typeface="Arial" pitchFamily="34" charset="-120"/>
              </a:rPr>
              <a:t>Stratify patients by risk</a:t>
            </a:r>
            <a:endParaRPr lang="en-US" sz="2200" dirty="0"/>
          </a:p>
        </p:txBody>
      </p:sp>
      <p:sp>
        <p:nvSpPr>
          <p:cNvPr id="19" name="Text 14"/>
          <p:cNvSpPr/>
          <p:nvPr/>
        </p:nvSpPr>
        <p:spPr>
          <a:xfrm>
            <a:off x="8554517" y="3520440"/>
            <a:ext cx="2905658" cy="777240"/>
          </a:xfrm>
          <a:prstGeom prst="rect">
            <a:avLst/>
          </a:prstGeom>
          <a:noFill/>
          <a:ln/>
        </p:spPr>
        <p:txBody>
          <a:bodyPr wrap="square" lIns="0" tIns="0" rIns="0" bIns="0" rtlCol="0" anchor="t"/>
          <a:lstStyle/>
          <a:p>
            <a:pPr algn="ctr" indent="0" marL="0">
              <a:buNone/>
            </a:pPr>
            <a:r>
              <a:rPr lang="en-US" sz="1600" dirty="0">
                <a:solidFill>
                  <a:srgbClr val="595959"/>
                </a:solidFill>
                <a:latin typeface="Arial" pitchFamily="34" charset="0"/>
                <a:ea typeface="Arial" pitchFamily="34" charset="-122"/>
                <a:cs typeface="Arial" pitchFamily="34" charset="-120"/>
              </a:rPr>
              <a:t>A reproducible score and a draft report for review</a:t>
            </a:r>
            <a:endParaRPr lang="en-US" sz="1600" dirty="0"/>
          </a:p>
        </p:txBody>
      </p:sp>
      <p:sp>
        <p:nvSpPr>
          <p:cNvPr id="20" name="Text 15"/>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Goal: a risk score from routine slides and spatial data that a pathologist can check.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Data Modalities</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5</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data modalities grid</a:t>
            </a:r>
            <a:endParaRPr lang="en-US" sz="1200" dirty="0"/>
          </a:p>
        </p:txBody>
      </p:sp>
      <p:sp>
        <p:nvSpPr>
          <p:cNvPr id="6" name="Shape 4"/>
          <p:cNvSpPr/>
          <p:nvPr/>
        </p:nvSpPr>
        <p:spPr>
          <a:xfrm>
            <a:off x="548640" y="1234440"/>
            <a:ext cx="2567864" cy="3749040"/>
          </a:xfrm>
          <a:prstGeom prst="rect">
            <a:avLst/>
          </a:prstGeom>
          <a:solidFill>
            <a:srgbClr val="F3F3F3"/>
          </a:solidFill>
          <a:ln/>
        </p:spPr>
      </p:sp>
      <p:sp>
        <p:nvSpPr>
          <p:cNvPr id="7" name="Shape 5"/>
          <p:cNvSpPr/>
          <p:nvPr/>
        </p:nvSpPr>
        <p:spPr>
          <a:xfrm>
            <a:off x="548640" y="1234440"/>
            <a:ext cx="2567864" cy="54864"/>
          </a:xfrm>
          <a:prstGeom prst="rect">
            <a:avLst/>
          </a:prstGeom>
          <a:solidFill>
            <a:srgbClr val="A51C30"/>
          </a:solidFill>
          <a:ln/>
        </p:spPr>
      </p:sp>
      <p:pic>
        <p:nvPicPr>
          <p:cNvPr id="8" name="Image 0" descr="/mnt/data1/bal753/research-skills/examples/icons/png/bioicons/glass-slide.png">    </p:cNvPr>
          <p:cNvPicPr>
            <a:picLocks noChangeAspect="1"/>
          </p:cNvPicPr>
          <p:nvPr/>
        </p:nvPicPr>
        <p:blipFill>
          <a:blip r:embed="rId1"/>
          <a:stretch>
            <a:fillRect/>
          </a:stretch>
        </p:blipFill>
        <p:spPr>
          <a:xfrm>
            <a:off x="1146772" y="1554480"/>
            <a:ext cx="1371600" cy="1371600"/>
          </a:xfrm>
          <a:prstGeom prst="rect">
            <a:avLst/>
          </a:prstGeom>
        </p:spPr>
      </p:pic>
      <p:sp>
        <p:nvSpPr>
          <p:cNvPr id="9" name="Text 6"/>
          <p:cNvSpPr/>
          <p:nvPr/>
        </p:nvSpPr>
        <p:spPr>
          <a:xfrm>
            <a:off x="731520" y="3108960"/>
            <a:ext cx="2202104" cy="640080"/>
          </a:xfrm>
          <a:prstGeom prst="rect">
            <a:avLst/>
          </a:prstGeom>
          <a:noFill/>
          <a:ln/>
        </p:spPr>
        <p:txBody>
          <a:bodyPr wrap="square" lIns="0" tIns="0" rIns="0" bIns="0" rtlCol="0" anchor="ctr"/>
          <a:lstStyle/>
          <a:p>
            <a:pPr algn="ctr" indent="0" marL="0">
              <a:buNone/>
            </a:pPr>
            <a:r>
              <a:rPr lang="en-US" sz="1800" b="1" dirty="0">
                <a:solidFill>
                  <a:srgbClr val="595959"/>
                </a:solidFill>
                <a:latin typeface="Arial" pitchFamily="34" charset="0"/>
                <a:ea typeface="Arial" pitchFamily="34" charset="-122"/>
                <a:cs typeface="Arial" pitchFamily="34" charset="-120"/>
              </a:rPr>
              <a:t>H&amp;E whole-slide images</a:t>
            </a:r>
            <a:endParaRPr lang="en-US" sz="1800" dirty="0"/>
          </a:p>
        </p:txBody>
      </p:sp>
      <p:sp>
        <p:nvSpPr>
          <p:cNvPr id="10" name="Text 7"/>
          <p:cNvSpPr/>
          <p:nvPr/>
        </p:nvSpPr>
        <p:spPr>
          <a:xfrm>
            <a:off x="731520" y="3794760"/>
            <a:ext cx="2202104" cy="594360"/>
          </a:xfrm>
          <a:prstGeom prst="rect">
            <a:avLst/>
          </a:prstGeom>
          <a:noFill/>
          <a:ln/>
        </p:spPr>
        <p:txBody>
          <a:bodyPr wrap="square" lIns="0" tIns="0" rIns="0" bIns="0" rtlCol="0" anchor="t"/>
          <a:lstStyle/>
          <a:p>
            <a:pPr algn="ctr" indent="0" marL="0">
              <a:buNone/>
            </a:pPr>
            <a:r>
              <a:rPr lang="en-US" sz="1400" dirty="0">
                <a:solidFill>
                  <a:srgbClr val="222222"/>
                </a:solidFill>
                <a:latin typeface="Arial" pitchFamily="34" charset="0"/>
                <a:ea typeface="Arial" pitchFamily="34" charset="-122"/>
                <a:cs typeface="Arial" pitchFamily="34" charset="-120"/>
              </a:rPr>
              <a:t>Scanned at 40×, one per resection</a:t>
            </a:r>
            <a:endParaRPr lang="en-US" sz="1400" dirty="0"/>
          </a:p>
        </p:txBody>
      </p:sp>
      <p:sp>
        <p:nvSpPr>
          <p:cNvPr id="11" name="Text 8"/>
          <p:cNvSpPr/>
          <p:nvPr/>
        </p:nvSpPr>
        <p:spPr>
          <a:xfrm>
            <a:off x="731520" y="4434840"/>
            <a:ext cx="2202104" cy="365760"/>
          </a:xfrm>
          <a:prstGeom prst="rect">
            <a:avLst/>
          </a:prstGeom>
          <a:noFill/>
          <a:ln/>
        </p:spPr>
        <p:txBody>
          <a:bodyPr wrap="square" lIns="0" tIns="0" rIns="0" bIns="0" rtlCol="0" anchor="t"/>
          <a:lstStyle/>
          <a:p>
            <a:pPr algn="ctr" indent="0" marL="0">
              <a:buNone/>
            </a:pPr>
            <a:r>
              <a:rPr lang="en-US" sz="1600" b="1" dirty="0">
                <a:solidFill>
                  <a:srgbClr val="A51C30"/>
                </a:solidFill>
                <a:latin typeface="Arial" pitchFamily="34" charset="0"/>
                <a:ea typeface="Arial" pitchFamily="34" charset="-122"/>
                <a:cs typeface="Arial" pitchFamily="34" charset="-120"/>
              </a:rPr>
              <a:t>n = XX slides</a:t>
            </a:r>
            <a:endParaRPr lang="en-US" sz="1600" dirty="0"/>
          </a:p>
        </p:txBody>
      </p:sp>
      <p:sp>
        <p:nvSpPr>
          <p:cNvPr id="12" name="Shape 9"/>
          <p:cNvSpPr/>
          <p:nvPr/>
        </p:nvSpPr>
        <p:spPr>
          <a:xfrm>
            <a:off x="3390824" y="1234440"/>
            <a:ext cx="2567864" cy="3749040"/>
          </a:xfrm>
          <a:prstGeom prst="rect">
            <a:avLst/>
          </a:prstGeom>
          <a:solidFill>
            <a:srgbClr val="F3F3F3"/>
          </a:solidFill>
          <a:ln/>
        </p:spPr>
      </p:sp>
      <p:sp>
        <p:nvSpPr>
          <p:cNvPr id="13" name="Shape 10"/>
          <p:cNvSpPr/>
          <p:nvPr/>
        </p:nvSpPr>
        <p:spPr>
          <a:xfrm>
            <a:off x="3390824" y="1234440"/>
            <a:ext cx="2567864" cy="54864"/>
          </a:xfrm>
          <a:prstGeom prst="rect">
            <a:avLst/>
          </a:prstGeom>
          <a:solidFill>
            <a:srgbClr val="A51C30"/>
          </a:solidFill>
          <a:ln/>
        </p:spPr>
      </p:sp>
      <p:pic>
        <p:nvPicPr>
          <p:cNvPr id="14" name="Image 1" descr="/mnt/data1/bal753/research-skills/examples/icons/png/bioicons/confocal-microscope.png">    </p:cNvPr>
          <p:cNvPicPr>
            <a:picLocks noChangeAspect="1"/>
          </p:cNvPicPr>
          <p:nvPr/>
        </p:nvPicPr>
        <p:blipFill>
          <a:blip r:embed="rId2"/>
          <a:stretch>
            <a:fillRect/>
          </a:stretch>
        </p:blipFill>
        <p:spPr>
          <a:xfrm>
            <a:off x="3988956" y="1554480"/>
            <a:ext cx="1371600" cy="1371600"/>
          </a:xfrm>
          <a:prstGeom prst="rect">
            <a:avLst/>
          </a:prstGeom>
        </p:spPr>
      </p:pic>
      <p:sp>
        <p:nvSpPr>
          <p:cNvPr id="15" name="Text 11"/>
          <p:cNvSpPr/>
          <p:nvPr/>
        </p:nvSpPr>
        <p:spPr>
          <a:xfrm>
            <a:off x="3573704" y="3108960"/>
            <a:ext cx="2202104" cy="640080"/>
          </a:xfrm>
          <a:prstGeom prst="rect">
            <a:avLst/>
          </a:prstGeom>
          <a:noFill/>
          <a:ln/>
        </p:spPr>
        <p:txBody>
          <a:bodyPr wrap="square" lIns="0" tIns="0" rIns="0" bIns="0" rtlCol="0" anchor="ctr"/>
          <a:lstStyle/>
          <a:p>
            <a:pPr algn="ctr" indent="0" marL="0">
              <a:buNone/>
            </a:pPr>
            <a:r>
              <a:rPr lang="en-US" sz="1800" b="1" dirty="0">
                <a:solidFill>
                  <a:srgbClr val="595959"/>
                </a:solidFill>
                <a:latin typeface="Arial" pitchFamily="34" charset="0"/>
                <a:ea typeface="Arial" pitchFamily="34" charset="-122"/>
                <a:cs typeface="Arial" pitchFamily="34" charset="-120"/>
              </a:rPr>
              <a:t>Multiplex imaging</a:t>
            </a:r>
            <a:endParaRPr lang="en-US" sz="1800" dirty="0"/>
          </a:p>
        </p:txBody>
      </p:sp>
      <p:sp>
        <p:nvSpPr>
          <p:cNvPr id="16" name="Text 12"/>
          <p:cNvSpPr/>
          <p:nvPr/>
        </p:nvSpPr>
        <p:spPr>
          <a:xfrm>
            <a:off x="3573704" y="3794760"/>
            <a:ext cx="2202104" cy="594360"/>
          </a:xfrm>
          <a:prstGeom prst="rect">
            <a:avLst/>
          </a:prstGeom>
          <a:noFill/>
          <a:ln/>
        </p:spPr>
        <p:txBody>
          <a:bodyPr wrap="square" lIns="0" tIns="0" rIns="0" bIns="0" rtlCol="0" anchor="t"/>
          <a:lstStyle/>
          <a:p>
            <a:pPr algn="ctr" indent="0" marL="0">
              <a:buNone/>
            </a:pPr>
            <a:r>
              <a:rPr lang="en-US" sz="1400" dirty="0">
                <a:solidFill>
                  <a:srgbClr val="222222"/>
                </a:solidFill>
                <a:latin typeface="Arial" pitchFamily="34" charset="0"/>
                <a:ea typeface="Arial" pitchFamily="34" charset="-122"/>
                <a:cs typeface="Arial" pitchFamily="34" charset="-120"/>
              </a:rPr>
              <a:t>40-plex protein panel on a subset</a:t>
            </a:r>
            <a:endParaRPr lang="en-US" sz="1400" dirty="0"/>
          </a:p>
        </p:txBody>
      </p:sp>
      <p:sp>
        <p:nvSpPr>
          <p:cNvPr id="17" name="Text 13"/>
          <p:cNvSpPr/>
          <p:nvPr/>
        </p:nvSpPr>
        <p:spPr>
          <a:xfrm>
            <a:off x="3573704" y="4434840"/>
            <a:ext cx="2202104" cy="365760"/>
          </a:xfrm>
          <a:prstGeom prst="rect">
            <a:avLst/>
          </a:prstGeom>
          <a:noFill/>
          <a:ln/>
        </p:spPr>
        <p:txBody>
          <a:bodyPr wrap="square" lIns="0" tIns="0" rIns="0" bIns="0" rtlCol="0" anchor="t"/>
          <a:lstStyle/>
          <a:p>
            <a:pPr algn="ctr" indent="0" marL="0">
              <a:buNone/>
            </a:pPr>
            <a:r>
              <a:rPr lang="en-US" sz="1600" b="1" dirty="0">
                <a:solidFill>
                  <a:srgbClr val="A51C30"/>
                </a:solidFill>
                <a:latin typeface="Arial" pitchFamily="34" charset="0"/>
                <a:ea typeface="Arial" pitchFamily="34" charset="-122"/>
                <a:cs typeface="Arial" pitchFamily="34" charset="-120"/>
              </a:rPr>
              <a:t>n = XX regions</a:t>
            </a:r>
            <a:endParaRPr lang="en-US" sz="1600" dirty="0"/>
          </a:p>
        </p:txBody>
      </p:sp>
      <p:sp>
        <p:nvSpPr>
          <p:cNvPr id="18" name="Shape 14"/>
          <p:cNvSpPr/>
          <p:nvPr/>
        </p:nvSpPr>
        <p:spPr>
          <a:xfrm>
            <a:off x="6233008" y="1234440"/>
            <a:ext cx="2567864" cy="3749040"/>
          </a:xfrm>
          <a:prstGeom prst="rect">
            <a:avLst/>
          </a:prstGeom>
          <a:solidFill>
            <a:srgbClr val="F3F3F3"/>
          </a:solidFill>
          <a:ln/>
        </p:spPr>
      </p:sp>
      <p:sp>
        <p:nvSpPr>
          <p:cNvPr id="19" name="Shape 15"/>
          <p:cNvSpPr/>
          <p:nvPr/>
        </p:nvSpPr>
        <p:spPr>
          <a:xfrm>
            <a:off x="6233008" y="1234440"/>
            <a:ext cx="2567864" cy="54864"/>
          </a:xfrm>
          <a:prstGeom prst="rect">
            <a:avLst/>
          </a:prstGeom>
          <a:solidFill>
            <a:srgbClr val="A51C30"/>
          </a:solidFill>
          <a:ln/>
        </p:spPr>
      </p:sp>
      <p:pic>
        <p:nvPicPr>
          <p:cNvPr id="20" name="Image 2" descr="/mnt/data1/bal753/research-skills/examples/icons/png/bioicons/single-cell-umap.png">    </p:cNvPr>
          <p:cNvPicPr>
            <a:picLocks noChangeAspect="1"/>
          </p:cNvPicPr>
          <p:nvPr/>
        </p:nvPicPr>
        <p:blipFill>
          <a:blip r:embed="rId3"/>
          <a:stretch>
            <a:fillRect/>
          </a:stretch>
        </p:blipFill>
        <p:spPr>
          <a:xfrm>
            <a:off x="6831140" y="1554480"/>
            <a:ext cx="1371600" cy="1371600"/>
          </a:xfrm>
          <a:prstGeom prst="rect">
            <a:avLst/>
          </a:prstGeom>
        </p:spPr>
      </p:pic>
      <p:sp>
        <p:nvSpPr>
          <p:cNvPr id="21" name="Text 16"/>
          <p:cNvSpPr/>
          <p:nvPr/>
        </p:nvSpPr>
        <p:spPr>
          <a:xfrm>
            <a:off x="6415888" y="3108960"/>
            <a:ext cx="2202104" cy="640080"/>
          </a:xfrm>
          <a:prstGeom prst="rect">
            <a:avLst/>
          </a:prstGeom>
          <a:noFill/>
          <a:ln/>
        </p:spPr>
        <p:txBody>
          <a:bodyPr wrap="square" lIns="0" tIns="0" rIns="0" bIns="0" rtlCol="0" anchor="ctr"/>
          <a:lstStyle/>
          <a:p>
            <a:pPr algn="ctr" indent="0" marL="0">
              <a:buNone/>
            </a:pPr>
            <a:r>
              <a:rPr lang="en-US" sz="1800" b="1" dirty="0">
                <a:solidFill>
                  <a:srgbClr val="595959"/>
                </a:solidFill>
                <a:latin typeface="Arial" pitchFamily="34" charset="0"/>
                <a:ea typeface="Arial" pitchFamily="34" charset="-122"/>
                <a:cs typeface="Arial" pitchFamily="34" charset="-120"/>
              </a:rPr>
              <a:t>Single-cell phenotypes</a:t>
            </a:r>
            <a:endParaRPr lang="en-US" sz="1800" dirty="0"/>
          </a:p>
        </p:txBody>
      </p:sp>
      <p:sp>
        <p:nvSpPr>
          <p:cNvPr id="22" name="Text 17"/>
          <p:cNvSpPr/>
          <p:nvPr/>
        </p:nvSpPr>
        <p:spPr>
          <a:xfrm>
            <a:off x="6415888" y="3794760"/>
            <a:ext cx="2202104" cy="594360"/>
          </a:xfrm>
          <a:prstGeom prst="rect">
            <a:avLst/>
          </a:prstGeom>
          <a:noFill/>
          <a:ln/>
        </p:spPr>
        <p:txBody>
          <a:bodyPr wrap="square" lIns="0" tIns="0" rIns="0" bIns="0" rtlCol="0" anchor="t"/>
          <a:lstStyle/>
          <a:p>
            <a:pPr algn="ctr" indent="0" marL="0">
              <a:buNone/>
            </a:pPr>
            <a:r>
              <a:rPr lang="en-US" sz="1400" dirty="0">
                <a:solidFill>
                  <a:srgbClr val="222222"/>
                </a:solidFill>
                <a:latin typeface="Arial" pitchFamily="34" charset="0"/>
                <a:ea typeface="Arial" pitchFamily="34" charset="-122"/>
                <a:cs typeface="Arial" pitchFamily="34" charset="-120"/>
              </a:rPr>
              <a:t>Cell types called from the panel</a:t>
            </a:r>
            <a:endParaRPr lang="en-US" sz="1400" dirty="0"/>
          </a:p>
        </p:txBody>
      </p:sp>
      <p:sp>
        <p:nvSpPr>
          <p:cNvPr id="23" name="Text 18"/>
          <p:cNvSpPr/>
          <p:nvPr/>
        </p:nvSpPr>
        <p:spPr>
          <a:xfrm>
            <a:off x="6415888" y="4434840"/>
            <a:ext cx="2202104" cy="365760"/>
          </a:xfrm>
          <a:prstGeom prst="rect">
            <a:avLst/>
          </a:prstGeom>
          <a:noFill/>
          <a:ln/>
        </p:spPr>
        <p:txBody>
          <a:bodyPr wrap="square" lIns="0" tIns="0" rIns="0" bIns="0" rtlCol="0" anchor="t"/>
          <a:lstStyle/>
          <a:p>
            <a:pPr algn="ctr" indent="0" marL="0">
              <a:buNone/>
            </a:pPr>
            <a:r>
              <a:rPr lang="en-US" sz="1600" b="1" dirty="0">
                <a:solidFill>
                  <a:srgbClr val="A51C30"/>
                </a:solidFill>
                <a:latin typeface="Arial" pitchFamily="34" charset="0"/>
                <a:ea typeface="Arial" pitchFamily="34" charset="-122"/>
                <a:cs typeface="Arial" pitchFamily="34" charset="-120"/>
              </a:rPr>
              <a:t>n = XX cells</a:t>
            </a:r>
            <a:endParaRPr lang="en-US" sz="1600" dirty="0"/>
          </a:p>
        </p:txBody>
      </p:sp>
      <p:sp>
        <p:nvSpPr>
          <p:cNvPr id="24" name="Shape 19"/>
          <p:cNvSpPr/>
          <p:nvPr/>
        </p:nvSpPr>
        <p:spPr>
          <a:xfrm>
            <a:off x="9075191" y="1234440"/>
            <a:ext cx="2567864" cy="3749040"/>
          </a:xfrm>
          <a:prstGeom prst="rect">
            <a:avLst/>
          </a:prstGeom>
          <a:solidFill>
            <a:srgbClr val="F3F3F3"/>
          </a:solidFill>
          <a:ln/>
        </p:spPr>
      </p:sp>
      <p:sp>
        <p:nvSpPr>
          <p:cNvPr id="25" name="Shape 20"/>
          <p:cNvSpPr/>
          <p:nvPr/>
        </p:nvSpPr>
        <p:spPr>
          <a:xfrm>
            <a:off x="9075191" y="1234440"/>
            <a:ext cx="2567864" cy="54864"/>
          </a:xfrm>
          <a:prstGeom prst="rect">
            <a:avLst/>
          </a:prstGeom>
          <a:solidFill>
            <a:srgbClr val="A51C30"/>
          </a:solidFill>
          <a:ln/>
        </p:spPr>
      </p:sp>
      <p:pic>
        <p:nvPicPr>
          <p:cNvPr id="26" name="Image 3" descr="/mnt/data1/bal753/research-skills/examples/icons/png/bioicons/patient.png">    </p:cNvPr>
          <p:cNvPicPr>
            <a:picLocks noChangeAspect="1"/>
          </p:cNvPicPr>
          <p:nvPr/>
        </p:nvPicPr>
        <p:blipFill>
          <a:blip r:embed="rId4"/>
          <a:stretch>
            <a:fillRect/>
          </a:stretch>
        </p:blipFill>
        <p:spPr>
          <a:xfrm>
            <a:off x="9673323" y="1554480"/>
            <a:ext cx="1371600" cy="1371600"/>
          </a:xfrm>
          <a:prstGeom prst="rect">
            <a:avLst/>
          </a:prstGeom>
        </p:spPr>
      </p:pic>
      <p:sp>
        <p:nvSpPr>
          <p:cNvPr id="27" name="Text 21"/>
          <p:cNvSpPr/>
          <p:nvPr/>
        </p:nvSpPr>
        <p:spPr>
          <a:xfrm>
            <a:off x="9258071" y="3108960"/>
            <a:ext cx="2202104" cy="640080"/>
          </a:xfrm>
          <a:prstGeom prst="rect">
            <a:avLst/>
          </a:prstGeom>
          <a:noFill/>
          <a:ln/>
        </p:spPr>
        <p:txBody>
          <a:bodyPr wrap="square" lIns="0" tIns="0" rIns="0" bIns="0" rtlCol="0" anchor="ctr"/>
          <a:lstStyle/>
          <a:p>
            <a:pPr algn="ctr" indent="0" marL="0">
              <a:buNone/>
            </a:pPr>
            <a:r>
              <a:rPr lang="en-US" sz="1800" b="1" dirty="0">
                <a:solidFill>
                  <a:srgbClr val="595959"/>
                </a:solidFill>
                <a:latin typeface="Arial" pitchFamily="34" charset="0"/>
                <a:ea typeface="Arial" pitchFamily="34" charset="-122"/>
                <a:cs typeface="Arial" pitchFamily="34" charset="-120"/>
              </a:rPr>
              <a:t>Clinical and outcome</a:t>
            </a:r>
            <a:endParaRPr lang="en-US" sz="1800" dirty="0"/>
          </a:p>
        </p:txBody>
      </p:sp>
      <p:sp>
        <p:nvSpPr>
          <p:cNvPr id="28" name="Text 22"/>
          <p:cNvSpPr/>
          <p:nvPr/>
        </p:nvSpPr>
        <p:spPr>
          <a:xfrm>
            <a:off x="9258071" y="3794760"/>
            <a:ext cx="2202104" cy="594360"/>
          </a:xfrm>
          <a:prstGeom prst="rect">
            <a:avLst/>
          </a:prstGeom>
          <a:noFill/>
          <a:ln/>
        </p:spPr>
        <p:txBody>
          <a:bodyPr wrap="square" lIns="0" tIns="0" rIns="0" bIns="0" rtlCol="0" anchor="t"/>
          <a:lstStyle/>
          <a:p>
            <a:pPr algn="ctr" indent="0" marL="0">
              <a:buNone/>
            </a:pPr>
            <a:r>
              <a:rPr lang="en-US" sz="1400" dirty="0">
                <a:solidFill>
                  <a:srgbClr val="222222"/>
                </a:solidFill>
                <a:latin typeface="Arial" pitchFamily="34" charset="0"/>
                <a:ea typeface="Arial" pitchFamily="34" charset="-122"/>
                <a:cs typeface="Arial" pitchFamily="34" charset="-120"/>
              </a:rPr>
              <a:t>Stage, therapy, recurrence-free survival</a:t>
            </a:r>
            <a:endParaRPr lang="en-US" sz="1400" dirty="0"/>
          </a:p>
        </p:txBody>
      </p:sp>
      <p:sp>
        <p:nvSpPr>
          <p:cNvPr id="29" name="Text 23"/>
          <p:cNvSpPr/>
          <p:nvPr/>
        </p:nvSpPr>
        <p:spPr>
          <a:xfrm>
            <a:off x="9258071" y="4434840"/>
            <a:ext cx="2202104" cy="365760"/>
          </a:xfrm>
          <a:prstGeom prst="rect">
            <a:avLst/>
          </a:prstGeom>
          <a:noFill/>
          <a:ln/>
        </p:spPr>
        <p:txBody>
          <a:bodyPr wrap="square" lIns="0" tIns="0" rIns="0" bIns="0" rtlCol="0" anchor="t"/>
          <a:lstStyle/>
          <a:p>
            <a:pPr algn="ctr" indent="0" marL="0">
              <a:buNone/>
            </a:pPr>
            <a:r>
              <a:rPr lang="en-US" sz="1600" b="1" dirty="0">
                <a:solidFill>
                  <a:srgbClr val="A51C30"/>
                </a:solidFill>
                <a:latin typeface="Arial" pitchFamily="34" charset="0"/>
                <a:ea typeface="Arial" pitchFamily="34" charset="-122"/>
                <a:cs typeface="Arial" pitchFamily="34" charset="-120"/>
              </a:rPr>
              <a:t>n = XX patients</a:t>
            </a:r>
            <a:endParaRPr lang="en-US" sz="1600" dirty="0"/>
          </a:p>
        </p:txBody>
      </p:sp>
      <p:sp>
        <p:nvSpPr>
          <p:cNvPr id="30" name="Text 24"/>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Four modalities from the same patients, linked by patient ID; multiplex data exist for a subset only.</a:t>
            </a:r>
            <a:endParaRPr lang="en-US" sz="1800" dirty="0"/>
          </a:p>
        </p:txBody>
      </p:sp>
      <p:sp>
        <p:nvSpPr>
          <p:cNvPr id="31" name="Text 25"/>
          <p:cNvSpPr/>
          <p:nvPr/>
        </p:nvSpPr>
        <p:spPr>
          <a:xfrm>
            <a:off x="548640" y="6236208"/>
            <a:ext cx="10682935" cy="548640"/>
          </a:xfrm>
          <a:prstGeom prst="rect">
            <a:avLst/>
          </a:prstGeom>
          <a:noFill/>
          <a:ln/>
        </p:spPr>
        <p:txBody>
          <a:bodyPr wrap="square" lIns="0" tIns="0" rIns="0" bIns="0" rtlCol="0" anchor="b"/>
          <a:lstStyle/>
          <a:p>
            <a:pPr algn="r" indent="0" marL="0">
              <a:buNone/>
            </a:pPr>
            <a:r>
              <a:rPr lang="en-US" sz="900" dirty="0">
                <a:solidFill>
                  <a:srgbClr val="222222"/>
                </a:solidFill>
                <a:latin typeface="Times New Roman" pitchFamily="34" charset="0"/>
                <a:ea typeface="Times New Roman" pitchFamily="34" charset="-122"/>
                <a:cs typeface="Times New Roman" pitchFamily="34" charset="-120"/>
              </a:rPr>
              <a:t>Icons: Bioicons — glass slide by Servier Medical Art (CC BY 3.0); confocal microscope by DBCLS TogoTV (CC BY 4.0)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Methods — Slide to Survival</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6</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methods flow</a:t>
            </a:r>
            <a:endParaRPr lang="en-US" sz="1200" dirty="0"/>
          </a:p>
        </p:txBody>
      </p:sp>
      <p:sp>
        <p:nvSpPr>
          <p:cNvPr id="6" name="Shape 4"/>
          <p:cNvSpPr/>
          <p:nvPr/>
        </p:nvSpPr>
        <p:spPr>
          <a:xfrm>
            <a:off x="548640" y="1188720"/>
            <a:ext cx="1984797" cy="384048"/>
          </a:xfrm>
          <a:prstGeom prst="rect">
            <a:avLst/>
          </a:prstGeom>
          <a:solidFill>
            <a:srgbClr val="A51C30"/>
          </a:solidFill>
          <a:ln/>
        </p:spPr>
      </p:sp>
      <p:sp>
        <p:nvSpPr>
          <p:cNvPr id="7" name="Text 5"/>
          <p:cNvSpPr/>
          <p:nvPr/>
        </p:nvSpPr>
        <p:spPr>
          <a:xfrm>
            <a:off x="658368" y="1188720"/>
            <a:ext cx="1765341"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1 · Tile</a:t>
            </a:r>
            <a:endParaRPr lang="en-US" sz="1400" dirty="0"/>
          </a:p>
        </p:txBody>
      </p:sp>
      <p:sp>
        <p:nvSpPr>
          <p:cNvPr id="8" name="Shape 6"/>
          <p:cNvSpPr/>
          <p:nvPr/>
        </p:nvSpPr>
        <p:spPr>
          <a:xfrm>
            <a:off x="548640" y="1572768"/>
            <a:ext cx="1984797" cy="1719072"/>
          </a:xfrm>
          <a:prstGeom prst="rect">
            <a:avLst/>
          </a:prstGeom>
          <a:solidFill>
            <a:srgbClr val="F3F3F3"/>
          </a:solidFill>
          <a:ln/>
        </p:spPr>
      </p:sp>
      <p:pic>
        <p:nvPicPr>
          <p:cNvPr id="9" name="Image 0" descr="/mnt/data1/bal753/research-skills/examples/icons/png/tabler/grid-scan_accent.png">    </p:cNvPr>
          <p:cNvPicPr>
            <a:picLocks noChangeAspect="1"/>
          </p:cNvPicPr>
          <p:nvPr/>
        </p:nvPicPr>
        <p:blipFill>
          <a:blip r:embed="rId1"/>
          <a:stretch>
            <a:fillRect/>
          </a:stretch>
        </p:blipFill>
        <p:spPr>
          <a:xfrm>
            <a:off x="685800" y="1737360"/>
            <a:ext cx="548640" cy="548640"/>
          </a:xfrm>
          <a:prstGeom prst="rect">
            <a:avLst/>
          </a:prstGeom>
        </p:spPr>
      </p:pic>
      <p:sp>
        <p:nvSpPr>
          <p:cNvPr id="10" name="Text 7"/>
          <p:cNvSpPr/>
          <p:nvPr/>
        </p:nvSpPr>
        <p:spPr>
          <a:xfrm>
            <a:off x="685800" y="2414016"/>
            <a:ext cx="1710477" cy="804672"/>
          </a:xfrm>
          <a:prstGeom prst="rect">
            <a:avLst/>
          </a:prstGeom>
          <a:noFill/>
          <a:ln/>
        </p:spPr>
        <p:txBody>
          <a:bodyPr wrap="square" lIns="0" tIns="0" rIns="0" bIns="0" rtlCol="0" anchor="t"/>
          <a:lstStyle/>
          <a:p>
            <a:pPr algn="l" indent="0" marL="0">
              <a:buNone/>
            </a:pPr>
            <a:r>
              <a:rPr lang="en-US" sz="1300" dirty="0">
                <a:solidFill>
                  <a:srgbClr val="222222"/>
                </a:solidFill>
                <a:latin typeface="Arial" pitchFamily="34" charset="0"/>
                <a:ea typeface="Arial" pitchFamily="34" charset="-122"/>
                <a:cs typeface="Arial" pitchFamily="34" charset="-120"/>
              </a:rPr>
              <a:t>Tissue tiles at 20×; background masked out</a:t>
            </a:r>
            <a:endParaRPr lang="en-US" sz="1300" dirty="0"/>
          </a:p>
        </p:txBody>
      </p:sp>
      <p:sp>
        <p:nvSpPr>
          <p:cNvPr id="11" name="Shape 8"/>
          <p:cNvSpPr/>
          <p:nvPr/>
        </p:nvSpPr>
        <p:spPr>
          <a:xfrm>
            <a:off x="2588301" y="2130552"/>
            <a:ext cx="182880" cy="219456"/>
          </a:xfrm>
          <a:prstGeom prst="rightArrow">
            <a:avLst/>
          </a:prstGeom>
          <a:solidFill>
            <a:srgbClr val="7F7F7F"/>
          </a:solidFill>
          <a:ln/>
        </p:spPr>
      </p:sp>
      <p:sp>
        <p:nvSpPr>
          <p:cNvPr id="12" name="Shape 9"/>
          <p:cNvSpPr/>
          <p:nvPr/>
        </p:nvSpPr>
        <p:spPr>
          <a:xfrm>
            <a:off x="2826045" y="1188720"/>
            <a:ext cx="1984797" cy="384048"/>
          </a:xfrm>
          <a:prstGeom prst="rect">
            <a:avLst/>
          </a:prstGeom>
          <a:solidFill>
            <a:srgbClr val="A51C30"/>
          </a:solidFill>
          <a:ln/>
        </p:spPr>
      </p:sp>
      <p:sp>
        <p:nvSpPr>
          <p:cNvPr id="13" name="Text 10"/>
          <p:cNvSpPr/>
          <p:nvPr/>
        </p:nvSpPr>
        <p:spPr>
          <a:xfrm>
            <a:off x="2935773" y="1188720"/>
            <a:ext cx="1765341"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2 · Embed</a:t>
            </a:r>
            <a:endParaRPr lang="en-US" sz="1400" dirty="0"/>
          </a:p>
        </p:txBody>
      </p:sp>
      <p:sp>
        <p:nvSpPr>
          <p:cNvPr id="14" name="Shape 11"/>
          <p:cNvSpPr/>
          <p:nvPr/>
        </p:nvSpPr>
        <p:spPr>
          <a:xfrm>
            <a:off x="2826045" y="1572768"/>
            <a:ext cx="1984797" cy="1719072"/>
          </a:xfrm>
          <a:prstGeom prst="rect">
            <a:avLst/>
          </a:prstGeom>
          <a:solidFill>
            <a:srgbClr val="F3F3F3"/>
          </a:solidFill>
          <a:ln/>
        </p:spPr>
      </p:sp>
      <p:pic>
        <p:nvPicPr>
          <p:cNvPr id="15" name="Image 1" descr="/mnt/data1/bal753/research-skills/examples/icons/png/tabler/cube-spark_accent.png">    </p:cNvPr>
          <p:cNvPicPr>
            <a:picLocks noChangeAspect="1"/>
          </p:cNvPicPr>
          <p:nvPr/>
        </p:nvPicPr>
        <p:blipFill>
          <a:blip r:embed="rId2"/>
          <a:stretch>
            <a:fillRect/>
          </a:stretch>
        </p:blipFill>
        <p:spPr>
          <a:xfrm>
            <a:off x="2963205" y="1737360"/>
            <a:ext cx="548640" cy="548640"/>
          </a:xfrm>
          <a:prstGeom prst="rect">
            <a:avLst/>
          </a:prstGeom>
        </p:spPr>
      </p:pic>
      <p:sp>
        <p:nvSpPr>
          <p:cNvPr id="16" name="Text 12"/>
          <p:cNvSpPr/>
          <p:nvPr/>
        </p:nvSpPr>
        <p:spPr>
          <a:xfrm>
            <a:off x="2963205" y="2414016"/>
            <a:ext cx="1710477" cy="804672"/>
          </a:xfrm>
          <a:prstGeom prst="rect">
            <a:avLst/>
          </a:prstGeom>
          <a:noFill/>
          <a:ln/>
        </p:spPr>
        <p:txBody>
          <a:bodyPr wrap="square" lIns="0" tIns="0" rIns="0" bIns="0" rtlCol="0" anchor="t"/>
          <a:lstStyle/>
          <a:p>
            <a:pPr algn="l" indent="0" marL="0">
              <a:buNone/>
            </a:pPr>
            <a:r>
              <a:rPr lang="en-US" sz="1300" dirty="0">
                <a:solidFill>
                  <a:srgbClr val="222222"/>
                </a:solidFill>
                <a:latin typeface="Arial" pitchFamily="34" charset="0"/>
                <a:ea typeface="Arial" pitchFamily="34" charset="-122"/>
                <a:cs typeface="Arial" pitchFamily="34" charset="-120"/>
              </a:rPr>
              <a:t>Frozen pathology foundation model; one vector per tile</a:t>
            </a:r>
            <a:endParaRPr lang="en-US" sz="1300" dirty="0"/>
          </a:p>
        </p:txBody>
      </p:sp>
      <p:sp>
        <p:nvSpPr>
          <p:cNvPr id="17" name="Shape 13"/>
          <p:cNvSpPr/>
          <p:nvPr/>
        </p:nvSpPr>
        <p:spPr>
          <a:xfrm>
            <a:off x="4865705" y="2130552"/>
            <a:ext cx="182880" cy="219456"/>
          </a:xfrm>
          <a:prstGeom prst="rightArrow">
            <a:avLst/>
          </a:prstGeom>
          <a:solidFill>
            <a:srgbClr val="7F7F7F"/>
          </a:solidFill>
          <a:ln/>
        </p:spPr>
      </p:sp>
      <p:sp>
        <p:nvSpPr>
          <p:cNvPr id="18" name="Shape 14"/>
          <p:cNvSpPr/>
          <p:nvPr/>
        </p:nvSpPr>
        <p:spPr>
          <a:xfrm>
            <a:off x="5103449" y="1188720"/>
            <a:ext cx="1984797" cy="384048"/>
          </a:xfrm>
          <a:prstGeom prst="rect">
            <a:avLst/>
          </a:prstGeom>
          <a:solidFill>
            <a:srgbClr val="A51C30"/>
          </a:solidFill>
          <a:ln/>
        </p:spPr>
      </p:sp>
      <p:sp>
        <p:nvSpPr>
          <p:cNvPr id="19" name="Text 15"/>
          <p:cNvSpPr/>
          <p:nvPr/>
        </p:nvSpPr>
        <p:spPr>
          <a:xfrm>
            <a:off x="5213177" y="1188720"/>
            <a:ext cx="1765341"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3 · Aggregate</a:t>
            </a:r>
            <a:endParaRPr lang="en-US" sz="1400" dirty="0"/>
          </a:p>
        </p:txBody>
      </p:sp>
      <p:sp>
        <p:nvSpPr>
          <p:cNvPr id="20" name="Shape 16"/>
          <p:cNvSpPr/>
          <p:nvPr/>
        </p:nvSpPr>
        <p:spPr>
          <a:xfrm>
            <a:off x="5103449" y="1572768"/>
            <a:ext cx="1984797" cy="1719072"/>
          </a:xfrm>
          <a:prstGeom prst="rect">
            <a:avLst/>
          </a:prstGeom>
          <a:solidFill>
            <a:srgbClr val="F3F3F3"/>
          </a:solidFill>
          <a:ln/>
        </p:spPr>
      </p:sp>
      <p:pic>
        <p:nvPicPr>
          <p:cNvPr id="21" name="Image 2" descr="/mnt/data1/bal753/research-skills/examples/icons/png/lucide/network_accent.png">    </p:cNvPr>
          <p:cNvPicPr>
            <a:picLocks noChangeAspect="1"/>
          </p:cNvPicPr>
          <p:nvPr/>
        </p:nvPicPr>
        <p:blipFill>
          <a:blip r:embed="rId3"/>
          <a:stretch>
            <a:fillRect/>
          </a:stretch>
        </p:blipFill>
        <p:spPr>
          <a:xfrm>
            <a:off x="5240609" y="1737360"/>
            <a:ext cx="548640" cy="548640"/>
          </a:xfrm>
          <a:prstGeom prst="rect">
            <a:avLst/>
          </a:prstGeom>
        </p:spPr>
      </p:pic>
      <p:sp>
        <p:nvSpPr>
          <p:cNvPr id="22" name="Text 17"/>
          <p:cNvSpPr/>
          <p:nvPr/>
        </p:nvSpPr>
        <p:spPr>
          <a:xfrm>
            <a:off x="5240609" y="2414016"/>
            <a:ext cx="1710477" cy="804672"/>
          </a:xfrm>
          <a:prstGeom prst="rect">
            <a:avLst/>
          </a:prstGeom>
          <a:noFill/>
          <a:ln/>
        </p:spPr>
        <p:txBody>
          <a:bodyPr wrap="square" lIns="0" tIns="0" rIns="0" bIns="0" rtlCol="0" anchor="t"/>
          <a:lstStyle/>
          <a:p>
            <a:pPr algn="l" indent="0" marL="0">
              <a:buNone/>
            </a:pPr>
            <a:r>
              <a:rPr lang="en-US" sz="1300" dirty="0">
                <a:solidFill>
                  <a:srgbClr val="222222"/>
                </a:solidFill>
                <a:latin typeface="Arial" pitchFamily="34" charset="0"/>
                <a:ea typeface="Arial" pitchFamily="34" charset="-122"/>
                <a:cs typeface="Arial" pitchFamily="34" charset="-120"/>
              </a:rPr>
              <a:t>Attention MIL or cell graph pools tiles per slide</a:t>
            </a:r>
            <a:endParaRPr lang="en-US" sz="1300" dirty="0"/>
          </a:p>
        </p:txBody>
      </p:sp>
      <p:sp>
        <p:nvSpPr>
          <p:cNvPr id="23" name="Shape 18"/>
          <p:cNvSpPr/>
          <p:nvPr/>
        </p:nvSpPr>
        <p:spPr>
          <a:xfrm>
            <a:off x="7143110" y="2130552"/>
            <a:ext cx="182880" cy="219456"/>
          </a:xfrm>
          <a:prstGeom prst="rightArrow">
            <a:avLst/>
          </a:prstGeom>
          <a:solidFill>
            <a:srgbClr val="7F7F7F"/>
          </a:solidFill>
          <a:ln/>
        </p:spPr>
      </p:sp>
      <p:sp>
        <p:nvSpPr>
          <p:cNvPr id="24" name="Shape 19"/>
          <p:cNvSpPr/>
          <p:nvPr/>
        </p:nvSpPr>
        <p:spPr>
          <a:xfrm>
            <a:off x="7380854" y="1188720"/>
            <a:ext cx="1984797" cy="384048"/>
          </a:xfrm>
          <a:prstGeom prst="rect">
            <a:avLst/>
          </a:prstGeom>
          <a:solidFill>
            <a:srgbClr val="A51C30"/>
          </a:solidFill>
          <a:ln/>
        </p:spPr>
      </p:sp>
      <p:sp>
        <p:nvSpPr>
          <p:cNvPr id="25" name="Text 20"/>
          <p:cNvSpPr/>
          <p:nvPr/>
        </p:nvSpPr>
        <p:spPr>
          <a:xfrm>
            <a:off x="7490582" y="1188720"/>
            <a:ext cx="1765341"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4 · Score</a:t>
            </a:r>
            <a:endParaRPr lang="en-US" sz="1400" dirty="0"/>
          </a:p>
        </p:txBody>
      </p:sp>
      <p:sp>
        <p:nvSpPr>
          <p:cNvPr id="26" name="Shape 21"/>
          <p:cNvSpPr/>
          <p:nvPr/>
        </p:nvSpPr>
        <p:spPr>
          <a:xfrm>
            <a:off x="7380854" y="1572768"/>
            <a:ext cx="1984797" cy="1719072"/>
          </a:xfrm>
          <a:prstGeom prst="rect">
            <a:avLst/>
          </a:prstGeom>
          <a:solidFill>
            <a:srgbClr val="F3F3F3"/>
          </a:solidFill>
          <a:ln/>
        </p:spPr>
      </p:sp>
      <p:pic>
        <p:nvPicPr>
          <p:cNvPr id="27" name="Image 3" descr="/mnt/data1/bal753/research-skills/examples/icons/png/tabler/chart-histogram_accent.png">    </p:cNvPr>
          <p:cNvPicPr>
            <a:picLocks noChangeAspect="1"/>
          </p:cNvPicPr>
          <p:nvPr/>
        </p:nvPicPr>
        <p:blipFill>
          <a:blip r:embed="rId4"/>
          <a:stretch>
            <a:fillRect/>
          </a:stretch>
        </p:blipFill>
        <p:spPr>
          <a:xfrm>
            <a:off x="7518014" y="1737360"/>
            <a:ext cx="548640" cy="548640"/>
          </a:xfrm>
          <a:prstGeom prst="rect">
            <a:avLst/>
          </a:prstGeom>
        </p:spPr>
      </p:pic>
      <p:sp>
        <p:nvSpPr>
          <p:cNvPr id="28" name="Text 22"/>
          <p:cNvSpPr/>
          <p:nvPr/>
        </p:nvSpPr>
        <p:spPr>
          <a:xfrm>
            <a:off x="7518014" y="2414016"/>
            <a:ext cx="1710477" cy="804672"/>
          </a:xfrm>
          <a:prstGeom prst="rect">
            <a:avLst/>
          </a:prstGeom>
          <a:noFill/>
          <a:ln/>
        </p:spPr>
        <p:txBody>
          <a:bodyPr wrap="square" lIns="0" tIns="0" rIns="0" bIns="0" rtlCol="0" anchor="t"/>
          <a:lstStyle/>
          <a:p>
            <a:pPr algn="l" indent="0" marL="0">
              <a:buNone/>
            </a:pPr>
            <a:r>
              <a:rPr lang="en-US" sz="1300" dirty="0">
                <a:solidFill>
                  <a:srgbClr val="222222"/>
                </a:solidFill>
                <a:latin typeface="Arial" pitchFamily="34" charset="0"/>
                <a:ea typeface="Arial" pitchFamily="34" charset="-122"/>
                <a:cs typeface="Arial" pitchFamily="34" charset="-120"/>
              </a:rPr>
              <a:t>Linear Cox head: one risk score per patient</a:t>
            </a:r>
            <a:endParaRPr lang="en-US" sz="1300" dirty="0"/>
          </a:p>
        </p:txBody>
      </p:sp>
      <p:sp>
        <p:nvSpPr>
          <p:cNvPr id="29" name="Shape 23"/>
          <p:cNvSpPr/>
          <p:nvPr/>
        </p:nvSpPr>
        <p:spPr>
          <a:xfrm>
            <a:off x="9420515" y="2130552"/>
            <a:ext cx="182880" cy="219456"/>
          </a:xfrm>
          <a:prstGeom prst="rightArrow">
            <a:avLst/>
          </a:prstGeom>
          <a:solidFill>
            <a:srgbClr val="7F7F7F"/>
          </a:solidFill>
          <a:ln/>
        </p:spPr>
      </p:sp>
      <p:sp>
        <p:nvSpPr>
          <p:cNvPr id="30" name="Shape 24"/>
          <p:cNvSpPr/>
          <p:nvPr/>
        </p:nvSpPr>
        <p:spPr>
          <a:xfrm>
            <a:off x="9658259" y="1188720"/>
            <a:ext cx="1984797" cy="384048"/>
          </a:xfrm>
          <a:prstGeom prst="rect">
            <a:avLst/>
          </a:prstGeom>
          <a:solidFill>
            <a:srgbClr val="A51C30"/>
          </a:solidFill>
          <a:ln/>
        </p:spPr>
      </p:sp>
      <p:sp>
        <p:nvSpPr>
          <p:cNvPr id="31" name="Text 25"/>
          <p:cNvSpPr/>
          <p:nvPr/>
        </p:nvSpPr>
        <p:spPr>
          <a:xfrm>
            <a:off x="9767987" y="1188720"/>
            <a:ext cx="1765341"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5 · Survival</a:t>
            </a:r>
            <a:endParaRPr lang="en-US" sz="1400" dirty="0"/>
          </a:p>
        </p:txBody>
      </p:sp>
      <p:sp>
        <p:nvSpPr>
          <p:cNvPr id="32" name="Shape 26"/>
          <p:cNvSpPr/>
          <p:nvPr/>
        </p:nvSpPr>
        <p:spPr>
          <a:xfrm>
            <a:off x="9658259" y="1572768"/>
            <a:ext cx="1984797" cy="1719072"/>
          </a:xfrm>
          <a:prstGeom prst="rect">
            <a:avLst/>
          </a:prstGeom>
          <a:solidFill>
            <a:srgbClr val="F3F3F3"/>
          </a:solidFill>
          <a:ln/>
        </p:spPr>
      </p:sp>
      <p:pic>
        <p:nvPicPr>
          <p:cNvPr id="33" name="Image 4" descr="/mnt/data1/bal753/research-skills/examples/icons/png/lucide/trending-down_accent.png">    </p:cNvPr>
          <p:cNvPicPr>
            <a:picLocks noChangeAspect="1"/>
          </p:cNvPicPr>
          <p:nvPr/>
        </p:nvPicPr>
        <p:blipFill>
          <a:blip r:embed="rId5"/>
          <a:stretch>
            <a:fillRect/>
          </a:stretch>
        </p:blipFill>
        <p:spPr>
          <a:xfrm>
            <a:off x="9795419" y="1737360"/>
            <a:ext cx="548640" cy="548640"/>
          </a:xfrm>
          <a:prstGeom prst="rect">
            <a:avLst/>
          </a:prstGeom>
        </p:spPr>
      </p:pic>
      <p:sp>
        <p:nvSpPr>
          <p:cNvPr id="34" name="Text 27"/>
          <p:cNvSpPr/>
          <p:nvPr/>
        </p:nvSpPr>
        <p:spPr>
          <a:xfrm>
            <a:off x="9795419" y="2414016"/>
            <a:ext cx="1710477" cy="804672"/>
          </a:xfrm>
          <a:prstGeom prst="rect">
            <a:avLst/>
          </a:prstGeom>
          <a:noFill/>
          <a:ln/>
        </p:spPr>
        <p:txBody>
          <a:bodyPr wrap="square" lIns="0" tIns="0" rIns="0" bIns="0" rtlCol="0" anchor="t"/>
          <a:lstStyle/>
          <a:p>
            <a:pPr algn="l" indent="0" marL="0">
              <a:buNone/>
            </a:pPr>
            <a:r>
              <a:rPr lang="en-US" sz="1300" dirty="0">
                <a:solidFill>
                  <a:srgbClr val="222222"/>
                </a:solidFill>
                <a:latin typeface="Arial" pitchFamily="34" charset="0"/>
                <a:ea typeface="Arial" pitchFamily="34" charset="-122"/>
                <a:cs typeface="Arial" pitchFamily="34" charset="-120"/>
              </a:rPr>
              <a:t>Cox model and KM by median score; 5-fold CV</a:t>
            </a:r>
            <a:endParaRPr lang="en-US" sz="1300" dirty="0"/>
          </a:p>
        </p:txBody>
      </p:sp>
      <p:sp>
        <p:nvSpPr>
          <p:cNvPr id="35" name="Text 28"/>
          <p:cNvSpPr/>
          <p:nvPr/>
        </p:nvSpPr>
        <p:spPr>
          <a:xfrm>
            <a:off x="548640" y="3520440"/>
            <a:ext cx="11094415" cy="1737360"/>
          </a:xfrm>
          <a:prstGeom prst="rect">
            <a:avLst/>
          </a:prstGeom>
          <a:noFill/>
          <a:ln/>
        </p:spPr>
        <p:txBody>
          <a:bodyPr wrap="square" lIns="0" tIns="0" rIns="0" bIns="0" rtlCol="0" anchor="t"/>
          <a:lstStyle/>
          <a:p>
            <a:pPr algn="l" marL="203200" indent="-203200">
              <a:spcAft>
                <a:spcPts val="800"/>
              </a:spcAft>
              <a:buSzPct val="100000"/>
              <a:buChar char="•"/>
            </a:pPr>
            <a:r>
              <a:rPr lang="en-US" sz="1600" b="1" dirty="0">
                <a:solidFill>
                  <a:srgbClr val="595959"/>
                </a:solidFill>
                <a:latin typeface="Arial" pitchFamily="34" charset="0"/>
                <a:ea typeface="Arial" pitchFamily="34" charset="-122"/>
                <a:cs typeface="Arial" pitchFamily="34" charset="-120"/>
              </a:rPr>
              <a:t>MIL </a:t>
            </a:r>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(multiple-instance learning): the slide label is known, the tile labels are not</a:t>
            </a:r>
            <a:endParaRPr lang="en-US" sz="1600" dirty="0"/>
          </a:p>
          <a:p>
            <a:pPr algn="l" marL="203200" indent="-203200">
              <a:spcAft>
                <a:spcPts val="800"/>
              </a:spcAft>
              <a:buSzPct val="100000"/>
              <a:buChar char="•"/>
            </a:pPr>
            <a:r>
              <a:rPr lang="en-US" sz="1600" b="1" dirty="0">
                <a:solidFill>
                  <a:srgbClr val="595959"/>
                </a:solidFill>
                <a:latin typeface="Arial" pitchFamily="34" charset="0"/>
                <a:ea typeface="Arial" pitchFamily="34" charset="-122"/>
                <a:cs typeface="Arial" pitchFamily="34" charset="-120"/>
              </a:rPr>
              <a:t>Foundation model: </a:t>
            </a:r>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pretrained on unlabelled tiles; its weights stay frozen, only later layers train</a:t>
            </a:r>
            <a:endParaRPr lang="en-US" sz="1600" dirty="0"/>
          </a:p>
          <a:p>
            <a:pPr algn="l" marL="203200" indent="-203200">
              <a:spcAft>
                <a:spcPts val="800"/>
              </a:spcAft>
              <a:buSzPct val="100000"/>
              <a:buChar char="•"/>
            </a:pPr>
            <a:r>
              <a:rPr lang="en-US" sz="1600" b="1" dirty="0">
                <a:solidFill>
                  <a:srgbClr val="595959"/>
                </a:solidFill>
                <a:latin typeface="Arial" pitchFamily="34" charset="0"/>
                <a:ea typeface="Arial" pitchFamily="34" charset="-122"/>
                <a:cs typeface="Arial" pitchFamily="34" charset="-120"/>
              </a:rPr>
              <a:t>Folds split by patient, </a:t>
            </a:r>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so tiles of one patient are never in both training and test</a:t>
            </a:r>
            <a:endParaRPr lang="en-US" sz="1600" dirty="0"/>
          </a:p>
        </p:txBody>
      </p:sp>
      <p:sp>
        <p:nvSpPr>
          <p:cNvPr id="36" name="Text 29"/>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Tiling and embeddings are fixed before outcomes are seen; only the aggregator and the Cox head are trained on survival.</a:t>
            </a:r>
            <a:endParaRPr lang="en-US" sz="1800" dirty="0"/>
          </a:p>
        </p:txBody>
      </p:sp>
      <p:sp>
        <p:nvSpPr>
          <p:cNvPr id="37" name="Text 30"/>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MIL: </a:t>
            </a:r>
            <a:pPr algn="l" indent="0" marL="0">
              <a:buNone/>
            </a:pPr>
            <a:r>
              <a:rPr lang="en-US" sz="950" dirty="0">
                <a:solidFill>
                  <a:srgbClr val="7F7F7F"/>
                </a:solidFill>
                <a:latin typeface="Arial" pitchFamily="34" charset="0"/>
                <a:ea typeface="Arial" pitchFamily="34" charset="-122"/>
                <a:cs typeface="Arial" pitchFamily="34" charset="-120"/>
              </a:rPr>
              <a:t>multiple-instance learning;</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KM: </a:t>
            </a:r>
            <a:pPr algn="l" indent="0" marL="0">
              <a:buNone/>
            </a:pPr>
            <a:r>
              <a:rPr lang="en-US" sz="950" dirty="0">
                <a:solidFill>
                  <a:srgbClr val="7F7F7F"/>
                </a:solidFill>
                <a:latin typeface="Arial" pitchFamily="34" charset="0"/>
                <a:ea typeface="Arial" pitchFamily="34" charset="-122"/>
                <a:cs typeface="Arial" pitchFamily="34" charset="-120"/>
              </a:rPr>
              <a:t>Kaplan–Meier;</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CV: </a:t>
            </a:r>
            <a:pPr algn="l" indent="0" marL="0">
              <a:buNone/>
            </a:pPr>
            <a:r>
              <a:rPr lang="en-US" sz="950" dirty="0">
                <a:solidFill>
                  <a:srgbClr val="7F7F7F"/>
                </a:solidFill>
                <a:latin typeface="Arial" pitchFamily="34" charset="0"/>
                <a:ea typeface="Arial" pitchFamily="34" charset="-122"/>
                <a:cs typeface="Arial" pitchFamily="34" charset="-120"/>
              </a:rPr>
              <a:t>cross-validation.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Framework Overview</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7</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framework diagram</a:t>
            </a:r>
            <a:endParaRPr lang="en-US" sz="1200" dirty="0"/>
          </a:p>
        </p:txBody>
      </p:sp>
      <p:pic>
        <p:nvPicPr>
          <p:cNvPr id="6" name="Image 0" descr="/mnt/data1/bal753/research-skills/examples/icons/png/lucide/microscope_accent.png">    </p:cNvPr>
          <p:cNvPicPr>
            <a:picLocks noChangeAspect="1"/>
          </p:cNvPicPr>
          <p:nvPr/>
        </p:nvPicPr>
        <p:blipFill>
          <a:blip r:embed="rId1"/>
          <a:stretch>
            <a:fillRect/>
          </a:stretch>
        </p:blipFill>
        <p:spPr>
          <a:xfrm>
            <a:off x="548640" y="1463040"/>
            <a:ext cx="640080" cy="640080"/>
          </a:xfrm>
          <a:prstGeom prst="rect">
            <a:avLst/>
          </a:prstGeom>
        </p:spPr>
      </p:pic>
      <p:sp>
        <p:nvSpPr>
          <p:cNvPr id="7" name="Text 4"/>
          <p:cNvSpPr/>
          <p:nvPr/>
        </p:nvSpPr>
        <p:spPr>
          <a:xfrm>
            <a:off x="1298448" y="1508760"/>
            <a:ext cx="1188720" cy="548640"/>
          </a:xfrm>
          <a:prstGeom prst="rect">
            <a:avLst/>
          </a:prstGeom>
          <a:noFill/>
          <a:ln/>
        </p:spPr>
        <p:txBody>
          <a:bodyPr wrap="square" lIns="0" tIns="0" rIns="0" bIns="0" rtlCol="0" anchor="ctr"/>
          <a:lstStyle/>
          <a:p>
            <a:pPr algn="l" indent="0" marL="0">
              <a:buNone/>
            </a:pPr>
            <a:r>
              <a:rPr lang="en-US" sz="1400" b="1" dirty="0">
                <a:solidFill>
                  <a:srgbClr val="595959"/>
                </a:solidFill>
                <a:latin typeface="Arial" pitchFamily="34" charset="0"/>
                <a:ea typeface="Arial" pitchFamily="34" charset="-122"/>
                <a:cs typeface="Arial" pitchFamily="34" charset="-120"/>
              </a:rPr>
              <a:t>H&amp;E slides</a:t>
            </a:r>
            <a:endParaRPr lang="en-US" sz="1400" dirty="0"/>
          </a:p>
        </p:txBody>
      </p:sp>
      <p:pic>
        <p:nvPicPr>
          <p:cNvPr id="8" name="Image 1" descr="/mnt/data1/bal753/research-skills/examples/icons/png/tabler/stack-2_accent.png">    </p:cNvPr>
          <p:cNvPicPr>
            <a:picLocks noChangeAspect="1"/>
          </p:cNvPicPr>
          <p:nvPr/>
        </p:nvPicPr>
        <p:blipFill>
          <a:blip r:embed="rId2"/>
          <a:stretch>
            <a:fillRect/>
          </a:stretch>
        </p:blipFill>
        <p:spPr>
          <a:xfrm>
            <a:off x="548640" y="2743200"/>
            <a:ext cx="640080" cy="640080"/>
          </a:xfrm>
          <a:prstGeom prst="rect">
            <a:avLst/>
          </a:prstGeom>
        </p:spPr>
      </p:pic>
      <p:sp>
        <p:nvSpPr>
          <p:cNvPr id="9" name="Text 5"/>
          <p:cNvSpPr/>
          <p:nvPr/>
        </p:nvSpPr>
        <p:spPr>
          <a:xfrm>
            <a:off x="1298448" y="2788920"/>
            <a:ext cx="1188720" cy="548640"/>
          </a:xfrm>
          <a:prstGeom prst="rect">
            <a:avLst/>
          </a:prstGeom>
          <a:noFill/>
          <a:ln/>
        </p:spPr>
        <p:txBody>
          <a:bodyPr wrap="square" lIns="0" tIns="0" rIns="0" bIns="0" rtlCol="0" anchor="ctr"/>
          <a:lstStyle/>
          <a:p>
            <a:pPr algn="l" indent="0" marL="0">
              <a:buNone/>
            </a:pPr>
            <a:r>
              <a:rPr lang="en-US" sz="1400" b="1" dirty="0">
                <a:solidFill>
                  <a:srgbClr val="595959"/>
                </a:solidFill>
                <a:latin typeface="Arial" pitchFamily="34" charset="0"/>
                <a:ea typeface="Arial" pitchFamily="34" charset="-122"/>
                <a:cs typeface="Arial" pitchFamily="34" charset="-120"/>
              </a:rPr>
              <a:t>Multiplex imaging</a:t>
            </a:r>
            <a:endParaRPr lang="en-US" sz="1400" dirty="0"/>
          </a:p>
        </p:txBody>
      </p:sp>
      <p:pic>
        <p:nvPicPr>
          <p:cNvPr id="10" name="Image 2" descr="/mnt/data1/bal753/research-skills/examples/icons/png/lucide/clipboard-list_accent.png">    </p:cNvPr>
          <p:cNvPicPr>
            <a:picLocks noChangeAspect="1"/>
          </p:cNvPicPr>
          <p:nvPr/>
        </p:nvPicPr>
        <p:blipFill>
          <a:blip r:embed="rId3"/>
          <a:stretch>
            <a:fillRect/>
          </a:stretch>
        </p:blipFill>
        <p:spPr>
          <a:xfrm>
            <a:off x="548640" y="4023360"/>
            <a:ext cx="640080" cy="640080"/>
          </a:xfrm>
          <a:prstGeom prst="rect">
            <a:avLst/>
          </a:prstGeom>
        </p:spPr>
      </p:pic>
      <p:sp>
        <p:nvSpPr>
          <p:cNvPr id="11" name="Text 6"/>
          <p:cNvSpPr/>
          <p:nvPr/>
        </p:nvSpPr>
        <p:spPr>
          <a:xfrm>
            <a:off x="1298448" y="4069080"/>
            <a:ext cx="1188720" cy="548640"/>
          </a:xfrm>
          <a:prstGeom prst="rect">
            <a:avLst/>
          </a:prstGeom>
          <a:noFill/>
          <a:ln/>
        </p:spPr>
        <p:txBody>
          <a:bodyPr wrap="square" lIns="0" tIns="0" rIns="0" bIns="0" rtlCol="0" anchor="ctr"/>
          <a:lstStyle/>
          <a:p>
            <a:pPr algn="l" indent="0" marL="0">
              <a:buNone/>
            </a:pPr>
            <a:r>
              <a:rPr lang="en-US" sz="1400" b="1" dirty="0">
                <a:solidFill>
                  <a:srgbClr val="595959"/>
                </a:solidFill>
                <a:latin typeface="Arial" pitchFamily="34" charset="0"/>
                <a:ea typeface="Arial" pitchFamily="34" charset="-122"/>
                <a:cs typeface="Arial" pitchFamily="34" charset="-120"/>
              </a:rPr>
              <a:t>Clinical data</a:t>
            </a:r>
            <a:endParaRPr lang="en-US" sz="1400" dirty="0"/>
          </a:p>
        </p:txBody>
      </p:sp>
      <p:sp>
        <p:nvSpPr>
          <p:cNvPr id="12" name="Shape 7"/>
          <p:cNvSpPr/>
          <p:nvPr/>
        </p:nvSpPr>
        <p:spPr>
          <a:xfrm>
            <a:off x="2971800" y="1097280"/>
            <a:ext cx="5760720" cy="3931920"/>
          </a:xfrm>
          <a:prstGeom prst="rect">
            <a:avLst/>
          </a:prstGeom>
          <a:solidFill>
            <a:srgbClr val="F3F3F3"/>
          </a:solidFill>
          <a:ln/>
        </p:spPr>
      </p:sp>
      <p:sp>
        <p:nvSpPr>
          <p:cNvPr id="13" name="Text 8"/>
          <p:cNvSpPr/>
          <p:nvPr/>
        </p:nvSpPr>
        <p:spPr>
          <a:xfrm>
            <a:off x="3154680" y="1170432"/>
            <a:ext cx="2743200" cy="274320"/>
          </a:xfrm>
          <a:prstGeom prst="rect">
            <a:avLst/>
          </a:prstGeom>
          <a:noFill/>
          <a:ln/>
        </p:spPr>
        <p:txBody>
          <a:bodyPr wrap="square" lIns="0" tIns="0" rIns="0" bIns="0" rtlCol="0" anchor="t"/>
          <a:lstStyle/>
          <a:p>
            <a:pPr algn="l" indent="0" marL="0">
              <a:buNone/>
            </a:pPr>
            <a:r>
              <a:rPr lang="en-US" sz="1200" b="1" spc="200" kern="0" dirty="0">
                <a:solidFill>
                  <a:srgbClr val="7F7F7F"/>
                </a:solidFill>
                <a:latin typeface="Arial" pitchFamily="34" charset="0"/>
                <a:ea typeface="Arial" pitchFamily="34" charset="-122"/>
                <a:cs typeface="Arial" pitchFamily="34" charset="-120"/>
              </a:rPr>
              <a:t>PROCESSING</a:t>
            </a:r>
            <a:endParaRPr lang="en-US" sz="1200" dirty="0"/>
          </a:p>
        </p:txBody>
      </p:sp>
      <p:sp>
        <p:nvSpPr>
          <p:cNvPr id="14" name="Shape 9"/>
          <p:cNvSpPr/>
          <p:nvPr/>
        </p:nvSpPr>
        <p:spPr>
          <a:xfrm>
            <a:off x="3246120" y="1463040"/>
            <a:ext cx="1554480" cy="640080"/>
          </a:xfrm>
          <a:prstGeom prst="rect">
            <a:avLst/>
          </a:prstGeom>
          <a:solidFill>
            <a:srgbClr val="FFFFFF"/>
          </a:solidFill>
          <a:ln w="12700">
            <a:solidFill>
              <a:srgbClr val="D9D9D9"/>
            </a:solidFill>
            <a:prstDash val="solid"/>
          </a:ln>
        </p:spPr>
      </p:sp>
      <p:sp>
        <p:nvSpPr>
          <p:cNvPr id="15" name="Text 10"/>
          <p:cNvSpPr/>
          <p:nvPr/>
        </p:nvSpPr>
        <p:spPr>
          <a:xfrm>
            <a:off x="3319272" y="1463040"/>
            <a:ext cx="1408176" cy="6400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Tile + embed</a:t>
            </a:r>
            <a:endParaRPr lang="en-US" sz="1300" dirty="0"/>
          </a:p>
        </p:txBody>
      </p:sp>
      <p:sp>
        <p:nvSpPr>
          <p:cNvPr id="16" name="Shape 11"/>
          <p:cNvSpPr/>
          <p:nvPr/>
        </p:nvSpPr>
        <p:spPr>
          <a:xfrm>
            <a:off x="5120640" y="1463040"/>
            <a:ext cx="1554480" cy="640080"/>
          </a:xfrm>
          <a:prstGeom prst="rect">
            <a:avLst/>
          </a:prstGeom>
          <a:solidFill>
            <a:srgbClr val="FFFFFF"/>
          </a:solidFill>
          <a:ln w="12700">
            <a:solidFill>
              <a:srgbClr val="D9D9D9"/>
            </a:solidFill>
            <a:prstDash val="solid"/>
          </a:ln>
        </p:spPr>
      </p:sp>
      <p:sp>
        <p:nvSpPr>
          <p:cNvPr id="17" name="Text 12"/>
          <p:cNvSpPr/>
          <p:nvPr/>
        </p:nvSpPr>
        <p:spPr>
          <a:xfrm>
            <a:off x="5193792" y="1463040"/>
            <a:ext cx="1408176" cy="6400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Attention MIL</a:t>
            </a:r>
            <a:endParaRPr lang="en-US" sz="1300" dirty="0"/>
          </a:p>
        </p:txBody>
      </p:sp>
      <p:sp>
        <p:nvSpPr>
          <p:cNvPr id="18" name="Shape 13"/>
          <p:cNvSpPr/>
          <p:nvPr/>
        </p:nvSpPr>
        <p:spPr>
          <a:xfrm>
            <a:off x="3246120" y="2743200"/>
            <a:ext cx="1554480" cy="640080"/>
          </a:xfrm>
          <a:prstGeom prst="rect">
            <a:avLst/>
          </a:prstGeom>
          <a:solidFill>
            <a:srgbClr val="FFFFFF"/>
          </a:solidFill>
          <a:ln w="12700">
            <a:solidFill>
              <a:srgbClr val="D9D9D9"/>
            </a:solidFill>
            <a:prstDash val="solid"/>
          </a:ln>
        </p:spPr>
      </p:sp>
      <p:sp>
        <p:nvSpPr>
          <p:cNvPr id="19" name="Text 14"/>
          <p:cNvSpPr/>
          <p:nvPr/>
        </p:nvSpPr>
        <p:spPr>
          <a:xfrm>
            <a:off x="3319272" y="2743200"/>
            <a:ext cx="1408176" cy="6400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Segment cells</a:t>
            </a:r>
            <a:endParaRPr lang="en-US" sz="1300" dirty="0"/>
          </a:p>
        </p:txBody>
      </p:sp>
      <p:sp>
        <p:nvSpPr>
          <p:cNvPr id="20" name="Shape 15"/>
          <p:cNvSpPr/>
          <p:nvPr/>
        </p:nvSpPr>
        <p:spPr>
          <a:xfrm>
            <a:off x="5120640" y="2743200"/>
            <a:ext cx="1554480" cy="640080"/>
          </a:xfrm>
          <a:prstGeom prst="rect">
            <a:avLst/>
          </a:prstGeom>
          <a:solidFill>
            <a:srgbClr val="FFFFFF"/>
          </a:solidFill>
          <a:ln w="12700">
            <a:solidFill>
              <a:srgbClr val="D9D9D9"/>
            </a:solidFill>
            <a:prstDash val="solid"/>
          </a:ln>
        </p:spPr>
      </p:sp>
      <p:sp>
        <p:nvSpPr>
          <p:cNvPr id="21" name="Text 16"/>
          <p:cNvSpPr/>
          <p:nvPr/>
        </p:nvSpPr>
        <p:spPr>
          <a:xfrm>
            <a:off x="5193792" y="2743200"/>
            <a:ext cx="1408176" cy="6400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Cell graph GNN</a:t>
            </a:r>
            <a:endParaRPr lang="en-US" sz="1300" dirty="0"/>
          </a:p>
        </p:txBody>
      </p:sp>
      <p:sp>
        <p:nvSpPr>
          <p:cNvPr id="22" name="Shape 17"/>
          <p:cNvSpPr/>
          <p:nvPr/>
        </p:nvSpPr>
        <p:spPr>
          <a:xfrm>
            <a:off x="3246120" y="4023360"/>
            <a:ext cx="1554480" cy="640080"/>
          </a:xfrm>
          <a:prstGeom prst="rect">
            <a:avLst/>
          </a:prstGeom>
          <a:solidFill>
            <a:srgbClr val="FFFFFF"/>
          </a:solidFill>
          <a:ln w="12700">
            <a:solidFill>
              <a:srgbClr val="D9D9D9"/>
            </a:solidFill>
            <a:prstDash val="solid"/>
          </a:ln>
        </p:spPr>
      </p:sp>
      <p:sp>
        <p:nvSpPr>
          <p:cNvPr id="23" name="Text 18"/>
          <p:cNvSpPr/>
          <p:nvPr/>
        </p:nvSpPr>
        <p:spPr>
          <a:xfrm>
            <a:off x="3319272" y="4023360"/>
            <a:ext cx="1408176" cy="640080"/>
          </a:xfrm>
          <a:prstGeom prst="rect">
            <a:avLst/>
          </a:prstGeom>
          <a:noFill/>
          <a:ln/>
        </p:spPr>
        <p:txBody>
          <a:bodyPr wrap="square" lIns="0" tIns="0" rIns="0" bIns="0" rtlCol="0" anchor="ctr"/>
          <a:lstStyle/>
          <a:p>
            <a:pPr algn="ctr" indent="0" marL="0">
              <a:buNone/>
            </a:pPr>
            <a:r>
              <a:rPr lang="en-US" sz="1300" dirty="0">
                <a:solidFill>
                  <a:srgbClr val="222222"/>
                </a:solidFill>
                <a:latin typeface="Arial" pitchFamily="34" charset="0"/>
                <a:ea typeface="Arial" pitchFamily="34" charset="-122"/>
                <a:cs typeface="Arial" pitchFamily="34" charset="-120"/>
              </a:rPr>
              <a:t>Encode covariates</a:t>
            </a:r>
            <a:endParaRPr lang="en-US" sz="1300" dirty="0"/>
          </a:p>
        </p:txBody>
      </p:sp>
      <p:sp>
        <p:nvSpPr>
          <p:cNvPr id="24" name="Shape 19"/>
          <p:cNvSpPr/>
          <p:nvPr/>
        </p:nvSpPr>
        <p:spPr>
          <a:xfrm>
            <a:off x="7040880" y="1554480"/>
            <a:ext cx="1463040" cy="3017520"/>
          </a:xfrm>
          <a:prstGeom prst="rect">
            <a:avLst/>
          </a:prstGeom>
          <a:solidFill>
            <a:srgbClr val="FFFFFF"/>
          </a:solidFill>
          <a:ln w="15875">
            <a:solidFill>
              <a:srgbClr val="A51C30"/>
            </a:solidFill>
            <a:prstDash val="solid"/>
          </a:ln>
        </p:spPr>
      </p:sp>
      <p:sp>
        <p:nvSpPr>
          <p:cNvPr id="25" name="Text 20"/>
          <p:cNvSpPr/>
          <p:nvPr/>
        </p:nvSpPr>
        <p:spPr>
          <a:xfrm>
            <a:off x="7132320" y="1554480"/>
            <a:ext cx="1280160" cy="3017520"/>
          </a:xfrm>
          <a:prstGeom prst="rect">
            <a:avLst/>
          </a:prstGeom>
          <a:noFill/>
          <a:ln/>
        </p:spPr>
        <p:txBody>
          <a:bodyPr wrap="square" lIns="0" tIns="0" rIns="0" bIns="0" rtlCol="0" anchor="ctr"/>
          <a:lstStyle/>
          <a:p>
            <a:pPr algn="ctr" indent="0" marL="0">
              <a:spcAft>
                <a:spcPts val="400"/>
              </a:spcAft>
              <a:buNone/>
            </a:pPr>
            <a:r>
              <a:rPr lang="en-US" sz="1400" b="1" dirty="0">
                <a:solidFill>
                  <a:srgbClr val="222222"/>
                </a:solidFill>
                <a:latin typeface="Arial" pitchFamily="34" charset="0"/>
                <a:ea typeface="Arial" pitchFamily="34" charset="-122"/>
                <a:cs typeface="Arial" pitchFamily="34" charset="-120"/>
              </a:rPr>
              <a:t>Fusion</a:t>
            </a:r>
            <a:endParaRPr lang="en-US" sz="1400" dirty="0"/>
          </a:p>
          <a:p>
            <a:pPr algn="ctr" indent="0" marL="0">
              <a:buNone/>
            </a:pPr>
            <a:r>
              <a:rPr lang="en-US" sz="1400" dirty="0">
                <a:solidFill>
                  <a:srgbClr val="222222"/>
                </a:solidFill>
                <a:latin typeface="Arial" pitchFamily="34" charset="0"/>
                <a:ea typeface="Arial" pitchFamily="34" charset="-122"/>
                <a:cs typeface="Arial" pitchFamily="34" charset="-120"/>
              </a:rPr>
              <a:t>+ Cox head</a:t>
            </a:r>
            <a:endParaRPr lang="en-US" sz="1400" dirty="0"/>
          </a:p>
        </p:txBody>
      </p:sp>
      <p:sp>
        <p:nvSpPr>
          <p:cNvPr id="26" name="Shape 21"/>
          <p:cNvSpPr/>
          <p:nvPr/>
        </p:nvSpPr>
        <p:spPr>
          <a:xfrm>
            <a:off x="4837176" y="1783080"/>
            <a:ext cx="246888" cy="0"/>
          </a:xfrm>
          <a:prstGeom prst="line">
            <a:avLst/>
          </a:prstGeom>
          <a:noFill/>
          <a:ln w="12700">
            <a:solidFill>
              <a:srgbClr val="7F7F7F"/>
            </a:solidFill>
            <a:prstDash val="solid"/>
            <a:tailEnd type="triangle"/>
          </a:ln>
        </p:spPr>
      </p:sp>
      <p:sp>
        <p:nvSpPr>
          <p:cNvPr id="27" name="Shape 22"/>
          <p:cNvSpPr/>
          <p:nvPr/>
        </p:nvSpPr>
        <p:spPr>
          <a:xfrm>
            <a:off x="4837176" y="3063240"/>
            <a:ext cx="246888" cy="0"/>
          </a:xfrm>
          <a:prstGeom prst="line">
            <a:avLst/>
          </a:prstGeom>
          <a:noFill/>
          <a:ln w="12700">
            <a:solidFill>
              <a:srgbClr val="7F7F7F"/>
            </a:solidFill>
            <a:prstDash val="solid"/>
            <a:tailEnd type="triangle"/>
          </a:ln>
        </p:spPr>
      </p:sp>
      <p:sp>
        <p:nvSpPr>
          <p:cNvPr id="28" name="Shape 23"/>
          <p:cNvSpPr/>
          <p:nvPr/>
        </p:nvSpPr>
        <p:spPr>
          <a:xfrm>
            <a:off x="6711696" y="1783080"/>
            <a:ext cx="292608" cy="0"/>
          </a:xfrm>
          <a:prstGeom prst="line">
            <a:avLst/>
          </a:prstGeom>
          <a:noFill/>
          <a:ln w="12700">
            <a:solidFill>
              <a:srgbClr val="7F7F7F"/>
            </a:solidFill>
            <a:prstDash val="solid"/>
            <a:tailEnd type="triangle"/>
          </a:ln>
        </p:spPr>
      </p:sp>
      <p:sp>
        <p:nvSpPr>
          <p:cNvPr id="29" name="Shape 24"/>
          <p:cNvSpPr/>
          <p:nvPr/>
        </p:nvSpPr>
        <p:spPr>
          <a:xfrm>
            <a:off x="6711696" y="3063240"/>
            <a:ext cx="292608" cy="0"/>
          </a:xfrm>
          <a:prstGeom prst="line">
            <a:avLst/>
          </a:prstGeom>
          <a:noFill/>
          <a:ln w="12700">
            <a:solidFill>
              <a:srgbClr val="7F7F7F"/>
            </a:solidFill>
            <a:prstDash val="solid"/>
            <a:tailEnd type="triangle"/>
          </a:ln>
        </p:spPr>
      </p:sp>
      <p:sp>
        <p:nvSpPr>
          <p:cNvPr id="30" name="Shape 25"/>
          <p:cNvSpPr/>
          <p:nvPr/>
        </p:nvSpPr>
        <p:spPr>
          <a:xfrm>
            <a:off x="4837176" y="4343400"/>
            <a:ext cx="2167128" cy="0"/>
          </a:xfrm>
          <a:prstGeom prst="line">
            <a:avLst/>
          </a:prstGeom>
          <a:noFill/>
          <a:ln w="12700">
            <a:solidFill>
              <a:srgbClr val="7F7F7F"/>
            </a:solidFill>
            <a:prstDash val="solid"/>
            <a:tailEnd type="triangle"/>
          </a:ln>
        </p:spPr>
      </p:sp>
      <p:sp>
        <p:nvSpPr>
          <p:cNvPr id="31" name="Shape 26"/>
          <p:cNvSpPr/>
          <p:nvPr/>
        </p:nvSpPr>
        <p:spPr>
          <a:xfrm>
            <a:off x="2468880" y="1783080"/>
            <a:ext cx="457200" cy="0"/>
          </a:xfrm>
          <a:prstGeom prst="line">
            <a:avLst/>
          </a:prstGeom>
          <a:noFill/>
          <a:ln w="44450">
            <a:solidFill>
              <a:srgbClr val="A51C30"/>
            </a:solidFill>
            <a:prstDash val="solid"/>
            <a:tailEnd type="triangle"/>
          </a:ln>
        </p:spPr>
      </p:sp>
      <p:sp>
        <p:nvSpPr>
          <p:cNvPr id="32" name="Shape 27"/>
          <p:cNvSpPr/>
          <p:nvPr/>
        </p:nvSpPr>
        <p:spPr>
          <a:xfrm>
            <a:off x="2468880" y="3063240"/>
            <a:ext cx="457200" cy="0"/>
          </a:xfrm>
          <a:prstGeom prst="line">
            <a:avLst/>
          </a:prstGeom>
          <a:noFill/>
          <a:ln w="44450">
            <a:solidFill>
              <a:srgbClr val="A51C30"/>
            </a:solidFill>
            <a:prstDash val="solid"/>
            <a:tailEnd type="triangle"/>
          </a:ln>
        </p:spPr>
      </p:sp>
      <p:sp>
        <p:nvSpPr>
          <p:cNvPr id="33" name="Shape 28"/>
          <p:cNvSpPr/>
          <p:nvPr/>
        </p:nvSpPr>
        <p:spPr>
          <a:xfrm>
            <a:off x="2468880" y="4343400"/>
            <a:ext cx="457200" cy="0"/>
          </a:xfrm>
          <a:prstGeom prst="line">
            <a:avLst/>
          </a:prstGeom>
          <a:noFill/>
          <a:ln w="44450">
            <a:solidFill>
              <a:srgbClr val="A51C30"/>
            </a:solidFill>
            <a:prstDash val="solid"/>
            <a:tailEnd type="triangle"/>
          </a:ln>
        </p:spPr>
      </p:sp>
      <p:sp>
        <p:nvSpPr>
          <p:cNvPr id="34" name="Shape 29"/>
          <p:cNvSpPr/>
          <p:nvPr/>
        </p:nvSpPr>
        <p:spPr>
          <a:xfrm>
            <a:off x="8778240" y="2423160"/>
            <a:ext cx="457200" cy="0"/>
          </a:xfrm>
          <a:prstGeom prst="line">
            <a:avLst/>
          </a:prstGeom>
          <a:noFill/>
          <a:ln w="44450">
            <a:solidFill>
              <a:srgbClr val="A51C30"/>
            </a:solidFill>
            <a:prstDash val="solid"/>
            <a:tailEnd type="triangle"/>
          </a:ln>
        </p:spPr>
      </p:sp>
      <p:sp>
        <p:nvSpPr>
          <p:cNvPr id="35" name="Shape 30"/>
          <p:cNvSpPr/>
          <p:nvPr/>
        </p:nvSpPr>
        <p:spPr>
          <a:xfrm>
            <a:off x="8778240" y="3703320"/>
            <a:ext cx="457200" cy="0"/>
          </a:xfrm>
          <a:prstGeom prst="line">
            <a:avLst/>
          </a:prstGeom>
          <a:noFill/>
          <a:ln w="44450">
            <a:solidFill>
              <a:srgbClr val="A51C30"/>
            </a:solidFill>
            <a:prstDash val="solid"/>
            <a:tailEnd type="triangle"/>
          </a:ln>
        </p:spPr>
      </p:sp>
      <p:pic>
        <p:nvPicPr>
          <p:cNvPr id="36" name="Image 3" descr="/mnt/data1/bal753/research-skills/examples/icons/png/tabler/chart-histogram_accent.png">    </p:cNvPr>
          <p:cNvPicPr>
            <a:picLocks noChangeAspect="1"/>
          </p:cNvPicPr>
          <p:nvPr/>
        </p:nvPicPr>
        <p:blipFill>
          <a:blip r:embed="rId4"/>
          <a:stretch>
            <a:fillRect/>
          </a:stretch>
        </p:blipFill>
        <p:spPr>
          <a:xfrm>
            <a:off x="9372600" y="2103120"/>
            <a:ext cx="640080" cy="640080"/>
          </a:xfrm>
          <a:prstGeom prst="rect">
            <a:avLst/>
          </a:prstGeom>
        </p:spPr>
      </p:pic>
      <p:sp>
        <p:nvSpPr>
          <p:cNvPr id="37" name="Text 31"/>
          <p:cNvSpPr/>
          <p:nvPr/>
        </p:nvSpPr>
        <p:spPr>
          <a:xfrm>
            <a:off x="10149840" y="2103120"/>
            <a:ext cx="1493215" cy="640080"/>
          </a:xfrm>
          <a:prstGeom prst="rect">
            <a:avLst/>
          </a:prstGeom>
          <a:noFill/>
          <a:ln/>
        </p:spPr>
        <p:txBody>
          <a:bodyPr wrap="square" lIns="0" tIns="0" rIns="0" bIns="0" rtlCol="0" anchor="ctr"/>
          <a:lstStyle/>
          <a:p>
            <a:pPr algn="l" indent="0" marL="0">
              <a:buNone/>
            </a:pPr>
            <a:r>
              <a:rPr lang="en-US" sz="1400" b="1" dirty="0">
                <a:solidFill>
                  <a:srgbClr val="595959"/>
                </a:solidFill>
                <a:latin typeface="Arial" pitchFamily="34" charset="0"/>
                <a:ea typeface="Arial" pitchFamily="34" charset="-122"/>
                <a:cs typeface="Arial" pitchFamily="34" charset="-120"/>
              </a:rPr>
              <a:t>Risk score</a:t>
            </a:r>
            <a:endParaRPr lang="en-US" sz="1400" dirty="0"/>
          </a:p>
          <a:p>
            <a:pPr algn="l" indent="0" marL="0">
              <a:buNone/>
            </a:pPr>
            <a:r>
              <a:rPr lang="en-US" sz="1400" dirty="0">
                <a:solidFill>
                  <a:srgbClr val="595959"/>
                </a:solidFill>
                <a:latin typeface="Arial" pitchFamily="34" charset="0"/>
                <a:ea typeface="Arial" pitchFamily="34" charset="-122"/>
                <a:cs typeface="Arial" pitchFamily="34" charset="-120"/>
              </a:rPr>
              <a:t>per patient</a:t>
            </a:r>
            <a:endParaRPr lang="en-US" sz="1400" dirty="0"/>
          </a:p>
        </p:txBody>
      </p:sp>
      <p:pic>
        <p:nvPicPr>
          <p:cNvPr id="38" name="Image 4" descr="/mnt/data1/bal753/research-skills/examples/icons/png/tabler/photo-scan_accent.png">    </p:cNvPr>
          <p:cNvPicPr>
            <a:picLocks noChangeAspect="1"/>
          </p:cNvPicPr>
          <p:nvPr/>
        </p:nvPicPr>
        <p:blipFill>
          <a:blip r:embed="rId5"/>
          <a:stretch>
            <a:fillRect/>
          </a:stretch>
        </p:blipFill>
        <p:spPr>
          <a:xfrm>
            <a:off x="9372600" y="3383280"/>
            <a:ext cx="640080" cy="640080"/>
          </a:xfrm>
          <a:prstGeom prst="rect">
            <a:avLst/>
          </a:prstGeom>
        </p:spPr>
      </p:pic>
      <p:sp>
        <p:nvSpPr>
          <p:cNvPr id="39" name="Text 32"/>
          <p:cNvSpPr/>
          <p:nvPr/>
        </p:nvSpPr>
        <p:spPr>
          <a:xfrm>
            <a:off x="10149840" y="3383280"/>
            <a:ext cx="1493215" cy="640080"/>
          </a:xfrm>
          <a:prstGeom prst="rect">
            <a:avLst/>
          </a:prstGeom>
          <a:noFill/>
          <a:ln/>
        </p:spPr>
        <p:txBody>
          <a:bodyPr wrap="square" lIns="0" tIns="0" rIns="0" bIns="0" rtlCol="0" anchor="ctr"/>
          <a:lstStyle/>
          <a:p>
            <a:pPr algn="l" indent="0" marL="0">
              <a:buNone/>
            </a:pPr>
            <a:r>
              <a:rPr lang="en-US" sz="1400" b="1" dirty="0">
                <a:solidFill>
                  <a:srgbClr val="595959"/>
                </a:solidFill>
                <a:latin typeface="Arial" pitchFamily="34" charset="0"/>
                <a:ea typeface="Arial" pitchFamily="34" charset="-122"/>
                <a:cs typeface="Arial" pitchFamily="34" charset="-120"/>
              </a:rPr>
              <a:t>Attention maps</a:t>
            </a:r>
            <a:endParaRPr lang="en-US" sz="1400" dirty="0"/>
          </a:p>
          <a:p>
            <a:pPr algn="l" indent="0" marL="0">
              <a:buNone/>
            </a:pPr>
            <a:r>
              <a:rPr lang="en-US" sz="1400" dirty="0">
                <a:solidFill>
                  <a:srgbClr val="595959"/>
                </a:solidFill>
                <a:latin typeface="Arial" pitchFamily="34" charset="0"/>
                <a:ea typeface="Arial" pitchFamily="34" charset="-122"/>
                <a:cs typeface="Arial" pitchFamily="34" charset="-120"/>
              </a:rPr>
              <a:t>per slide</a:t>
            </a:r>
            <a:endParaRPr lang="en-US" sz="1400" dirty="0"/>
          </a:p>
        </p:txBody>
      </p:sp>
      <p:sp>
        <p:nvSpPr>
          <p:cNvPr id="40" name="Text 33"/>
          <p:cNvSpPr/>
          <p:nvPr/>
        </p:nvSpPr>
        <p:spPr>
          <a:xfrm>
            <a:off x="640080" y="525780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Image, cell-graph and clinical features are fused into one patient-level risk score.</a:t>
            </a:r>
            <a:endParaRPr lang="en-US" sz="1800" dirty="0"/>
          </a:p>
        </p:txBody>
      </p:sp>
      <p:sp>
        <p:nvSpPr>
          <p:cNvPr id="41" name="Text 34"/>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MIL: </a:t>
            </a:r>
            <a:pPr algn="l" indent="0" marL="0">
              <a:buNone/>
            </a:pPr>
            <a:r>
              <a:rPr lang="en-US" sz="950" dirty="0">
                <a:solidFill>
                  <a:srgbClr val="7F7F7F"/>
                </a:solidFill>
                <a:latin typeface="Arial" pitchFamily="34" charset="0"/>
                <a:ea typeface="Arial" pitchFamily="34" charset="-122"/>
                <a:cs typeface="Arial" pitchFamily="34" charset="-120"/>
              </a:rPr>
              <a:t>multiple-instance learning;</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GNN: </a:t>
            </a:r>
            <a:pPr algn="l" indent="0" marL="0">
              <a:buNone/>
            </a:pPr>
            <a:r>
              <a:rPr lang="en-US" sz="950" dirty="0">
                <a:solidFill>
                  <a:srgbClr val="7F7F7F"/>
                </a:solidFill>
                <a:latin typeface="Arial" pitchFamily="34" charset="0"/>
                <a:ea typeface="Arial" pitchFamily="34" charset="-122"/>
                <a:cs typeface="Arial" pitchFamily="34" charset="-120"/>
              </a:rPr>
              <a:t>graph neural network.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Report-drafting Agent</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8</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agent loop</a:t>
            </a:r>
            <a:endParaRPr lang="en-US" sz="1200" dirty="0"/>
          </a:p>
        </p:txBody>
      </p:sp>
      <p:sp>
        <p:nvSpPr>
          <p:cNvPr id="6" name="Shape 4"/>
          <p:cNvSpPr/>
          <p:nvPr/>
        </p:nvSpPr>
        <p:spPr>
          <a:xfrm>
            <a:off x="4069080" y="1691640"/>
            <a:ext cx="1143000" cy="822960"/>
          </a:xfrm>
          <a:prstGeom prst="line">
            <a:avLst/>
          </a:prstGeom>
          <a:noFill/>
          <a:ln w="19050">
            <a:solidFill>
              <a:srgbClr val="7F7F7F"/>
            </a:solidFill>
            <a:prstDash val="solid"/>
            <a:tailEnd type="triangle"/>
          </a:ln>
        </p:spPr>
      </p:sp>
      <p:sp>
        <p:nvSpPr>
          <p:cNvPr id="7" name="Shape 5"/>
          <p:cNvSpPr/>
          <p:nvPr/>
        </p:nvSpPr>
        <p:spPr>
          <a:xfrm flipH="1">
            <a:off x="3840480" y="3685032"/>
            <a:ext cx="1371600" cy="384048"/>
          </a:xfrm>
          <a:prstGeom prst="line">
            <a:avLst/>
          </a:prstGeom>
          <a:noFill/>
          <a:ln w="19050">
            <a:solidFill>
              <a:srgbClr val="7F7F7F"/>
            </a:solidFill>
            <a:prstDash val="solid"/>
            <a:tailEnd type="triangle"/>
          </a:ln>
        </p:spPr>
      </p:sp>
      <p:sp>
        <p:nvSpPr>
          <p:cNvPr id="8" name="Shape 6"/>
          <p:cNvSpPr/>
          <p:nvPr/>
        </p:nvSpPr>
        <p:spPr>
          <a:xfrm>
            <a:off x="1554480" y="3685032"/>
            <a:ext cx="1371600" cy="384048"/>
          </a:xfrm>
          <a:prstGeom prst="line">
            <a:avLst/>
          </a:prstGeom>
          <a:noFill/>
          <a:ln w="19050">
            <a:solidFill>
              <a:srgbClr val="7F7F7F"/>
            </a:solidFill>
            <a:prstDash val="solid"/>
            <a:headEnd type="triangle"/>
          </a:ln>
        </p:spPr>
      </p:sp>
      <p:sp>
        <p:nvSpPr>
          <p:cNvPr id="9" name="Shape 7"/>
          <p:cNvSpPr/>
          <p:nvPr/>
        </p:nvSpPr>
        <p:spPr>
          <a:xfrm flipH="1">
            <a:off x="1554480" y="1691640"/>
            <a:ext cx="1143000" cy="822960"/>
          </a:xfrm>
          <a:prstGeom prst="line">
            <a:avLst/>
          </a:prstGeom>
          <a:noFill/>
          <a:ln w="19050">
            <a:solidFill>
              <a:srgbClr val="7F7F7F"/>
            </a:solidFill>
            <a:prstDash val="solid"/>
            <a:headEnd type="triangle"/>
          </a:ln>
        </p:spPr>
      </p:sp>
      <p:pic>
        <p:nvPicPr>
          <p:cNvPr id="10" name="Image 0" descr="/mnt/data1/bal753/research-skills/examples/icons/png/lucide/list-checks_accent.png">    </p:cNvPr>
          <p:cNvPicPr>
            <a:picLocks noChangeAspect="1"/>
          </p:cNvPicPr>
          <p:nvPr/>
        </p:nvPicPr>
        <p:blipFill>
          <a:blip r:embed="rId1"/>
          <a:stretch>
            <a:fillRect/>
          </a:stretch>
        </p:blipFill>
        <p:spPr>
          <a:xfrm>
            <a:off x="3086100" y="1211580"/>
            <a:ext cx="594360" cy="594360"/>
          </a:xfrm>
          <a:prstGeom prst="rect">
            <a:avLst/>
          </a:prstGeom>
        </p:spPr>
      </p:pic>
      <p:sp>
        <p:nvSpPr>
          <p:cNvPr id="11" name="Text 8"/>
          <p:cNvSpPr/>
          <p:nvPr/>
        </p:nvSpPr>
        <p:spPr>
          <a:xfrm>
            <a:off x="2560320" y="1847088"/>
            <a:ext cx="1645920"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1 · Plan</a:t>
            </a:r>
            <a:endParaRPr lang="en-US" sz="1400" dirty="0"/>
          </a:p>
        </p:txBody>
      </p:sp>
      <p:pic>
        <p:nvPicPr>
          <p:cNvPr id="12" name="Image 1" descr="/mnt/data1/bal753/research-skills/examples/icons/png/lucide/toolbox_accent.png">    </p:cNvPr>
          <p:cNvPicPr>
            <a:picLocks noChangeAspect="1"/>
          </p:cNvPicPr>
          <p:nvPr/>
        </p:nvPicPr>
        <p:blipFill>
          <a:blip r:embed="rId2"/>
          <a:stretch>
            <a:fillRect/>
          </a:stretch>
        </p:blipFill>
        <p:spPr>
          <a:xfrm>
            <a:off x="5097780" y="2628900"/>
            <a:ext cx="594360" cy="594360"/>
          </a:xfrm>
          <a:prstGeom prst="rect">
            <a:avLst/>
          </a:prstGeom>
        </p:spPr>
      </p:pic>
      <p:sp>
        <p:nvSpPr>
          <p:cNvPr id="13" name="Text 9"/>
          <p:cNvSpPr/>
          <p:nvPr/>
        </p:nvSpPr>
        <p:spPr>
          <a:xfrm>
            <a:off x="4572000" y="3264408"/>
            <a:ext cx="1645920"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2 · Use tools</a:t>
            </a:r>
            <a:endParaRPr lang="en-US" sz="1400" dirty="0"/>
          </a:p>
        </p:txBody>
      </p:sp>
      <p:pic>
        <p:nvPicPr>
          <p:cNvPr id="14" name="Image 2" descr="/mnt/data1/bal753/research-skills/examples/icons/png/lucide/scan-eye_accent.png">    </p:cNvPr>
          <p:cNvPicPr>
            <a:picLocks noChangeAspect="1"/>
          </p:cNvPicPr>
          <p:nvPr/>
        </p:nvPicPr>
        <p:blipFill>
          <a:blip r:embed="rId3"/>
          <a:stretch>
            <a:fillRect/>
          </a:stretch>
        </p:blipFill>
        <p:spPr>
          <a:xfrm>
            <a:off x="3086100" y="4046220"/>
            <a:ext cx="594360" cy="594360"/>
          </a:xfrm>
          <a:prstGeom prst="rect">
            <a:avLst/>
          </a:prstGeom>
        </p:spPr>
      </p:pic>
      <p:sp>
        <p:nvSpPr>
          <p:cNvPr id="15" name="Text 10"/>
          <p:cNvSpPr/>
          <p:nvPr/>
        </p:nvSpPr>
        <p:spPr>
          <a:xfrm>
            <a:off x="2560320" y="4681728"/>
            <a:ext cx="1645920"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3 · Observe</a:t>
            </a:r>
            <a:endParaRPr lang="en-US" sz="1400" dirty="0"/>
          </a:p>
        </p:txBody>
      </p:sp>
      <p:pic>
        <p:nvPicPr>
          <p:cNvPr id="16" name="Image 3" descr="/mnt/data1/bal753/research-skills/examples/icons/png/lucide/message-square-text_accent.png">    </p:cNvPr>
          <p:cNvPicPr>
            <a:picLocks noChangeAspect="1"/>
          </p:cNvPicPr>
          <p:nvPr/>
        </p:nvPicPr>
        <p:blipFill>
          <a:blip r:embed="rId4"/>
          <a:stretch>
            <a:fillRect/>
          </a:stretch>
        </p:blipFill>
        <p:spPr>
          <a:xfrm>
            <a:off x="1074420" y="2628900"/>
            <a:ext cx="594360" cy="594360"/>
          </a:xfrm>
          <a:prstGeom prst="rect">
            <a:avLst/>
          </a:prstGeom>
        </p:spPr>
      </p:pic>
      <p:sp>
        <p:nvSpPr>
          <p:cNvPr id="17" name="Text 11"/>
          <p:cNvSpPr/>
          <p:nvPr/>
        </p:nvSpPr>
        <p:spPr>
          <a:xfrm>
            <a:off x="548640" y="3264408"/>
            <a:ext cx="1645920" cy="320040"/>
          </a:xfrm>
          <a:prstGeom prst="rect">
            <a:avLst/>
          </a:prstGeom>
          <a:noFill/>
          <a:ln/>
        </p:spPr>
        <p:txBody>
          <a:bodyPr wrap="square" lIns="0" tIns="0" rIns="0" bIns="0" rtlCol="0" anchor="t"/>
          <a:lstStyle/>
          <a:p>
            <a:pPr algn="ctr" indent="0" marL="0">
              <a:buNone/>
            </a:pPr>
            <a:r>
              <a:rPr lang="en-US" sz="1400" b="1" dirty="0">
                <a:solidFill>
                  <a:srgbClr val="595959"/>
                </a:solidFill>
                <a:latin typeface="Arial" pitchFamily="34" charset="0"/>
                <a:ea typeface="Arial" pitchFamily="34" charset="-122"/>
                <a:cs typeface="Arial" pitchFamily="34" charset="-120"/>
              </a:rPr>
              <a:t>4 · Draft report</a:t>
            </a:r>
            <a:endParaRPr lang="en-US" sz="1400" dirty="0"/>
          </a:p>
        </p:txBody>
      </p:sp>
      <p:pic>
        <p:nvPicPr>
          <p:cNvPr id="18" name="Image 4" descr="/mnt/data1/bal753/research-skills/examples/icons/png/lucide/bot.png">    </p:cNvPr>
          <p:cNvPicPr>
            <a:picLocks noChangeAspect="1"/>
          </p:cNvPicPr>
          <p:nvPr/>
        </p:nvPicPr>
        <p:blipFill>
          <a:blip r:embed="rId5"/>
          <a:stretch>
            <a:fillRect/>
          </a:stretch>
        </p:blipFill>
        <p:spPr>
          <a:xfrm>
            <a:off x="3063240" y="2606040"/>
            <a:ext cx="640080" cy="640080"/>
          </a:xfrm>
          <a:prstGeom prst="rect">
            <a:avLst/>
          </a:prstGeom>
        </p:spPr>
      </p:pic>
      <p:sp>
        <p:nvSpPr>
          <p:cNvPr id="19" name="Text 12"/>
          <p:cNvSpPr/>
          <p:nvPr/>
        </p:nvSpPr>
        <p:spPr>
          <a:xfrm>
            <a:off x="2651760" y="3264408"/>
            <a:ext cx="1463040" cy="320040"/>
          </a:xfrm>
          <a:prstGeom prst="rect">
            <a:avLst/>
          </a:prstGeom>
          <a:noFill/>
          <a:ln/>
        </p:spPr>
        <p:txBody>
          <a:bodyPr wrap="square" lIns="0" tIns="0" rIns="0" bIns="0" rtlCol="0" anchor="t"/>
          <a:lstStyle/>
          <a:p>
            <a:pPr algn="ctr" indent="0" marL="0">
              <a:buNone/>
            </a:pPr>
            <a:r>
              <a:rPr lang="en-US" sz="1200" dirty="0">
                <a:solidFill>
                  <a:srgbClr val="7F7F7F"/>
                </a:solidFill>
                <a:latin typeface="Arial" pitchFamily="34" charset="0"/>
                <a:ea typeface="Arial" pitchFamily="34" charset="-122"/>
                <a:cs typeface="Arial" pitchFamily="34" charset="-120"/>
              </a:rPr>
              <a:t>LLM agent</a:t>
            </a:r>
            <a:endParaRPr lang="en-US" sz="1200" dirty="0"/>
          </a:p>
        </p:txBody>
      </p:sp>
      <p:sp>
        <p:nvSpPr>
          <p:cNvPr id="20" name="Text 13"/>
          <p:cNvSpPr/>
          <p:nvPr/>
        </p:nvSpPr>
        <p:spPr>
          <a:xfrm>
            <a:off x="6766560" y="1188720"/>
            <a:ext cx="4876495" cy="365760"/>
          </a:xfrm>
          <a:prstGeom prst="rect">
            <a:avLst/>
          </a:prstGeom>
          <a:noFill/>
          <a:ln/>
        </p:spPr>
        <p:txBody>
          <a:bodyPr wrap="square" lIns="0" tIns="0" rIns="0" bIns="0" rtlCol="0" anchor="t"/>
          <a:lstStyle/>
          <a:p>
            <a:pPr algn="l" indent="0" marL="0">
              <a:buNone/>
            </a:pPr>
            <a:r>
              <a:rPr lang="en-US" sz="1800" b="1" dirty="0">
                <a:solidFill>
                  <a:srgbClr val="595959"/>
                </a:solidFill>
                <a:latin typeface="Arial" pitchFamily="34" charset="0"/>
                <a:ea typeface="Arial" pitchFamily="34" charset="-122"/>
                <a:cs typeface="Arial" pitchFamily="34" charset="-120"/>
              </a:rPr>
              <a:t>Tools the agent can call</a:t>
            </a:r>
            <a:endParaRPr lang="en-US" sz="1800" dirty="0"/>
          </a:p>
        </p:txBody>
      </p:sp>
      <p:sp>
        <p:nvSpPr>
          <p:cNvPr id="21" name="Shape 14"/>
          <p:cNvSpPr/>
          <p:nvPr/>
        </p:nvSpPr>
        <p:spPr>
          <a:xfrm>
            <a:off x="6766560" y="1627632"/>
            <a:ext cx="4876495" cy="0"/>
          </a:xfrm>
          <a:prstGeom prst="line">
            <a:avLst/>
          </a:prstGeom>
          <a:noFill/>
          <a:ln w="12700">
            <a:solidFill>
              <a:srgbClr val="D9D9D9"/>
            </a:solidFill>
            <a:prstDash val="solid"/>
          </a:ln>
        </p:spPr>
      </p:sp>
      <p:pic>
        <p:nvPicPr>
          <p:cNvPr id="22" name="Image 5" descr="/mnt/data1/bal753/research-skills/examples/icons/png/tabler/photo-scan.png">    </p:cNvPr>
          <p:cNvPicPr>
            <a:picLocks noChangeAspect="1"/>
          </p:cNvPicPr>
          <p:nvPr/>
        </p:nvPicPr>
        <p:blipFill>
          <a:blip r:embed="rId6"/>
          <a:stretch>
            <a:fillRect/>
          </a:stretch>
        </p:blipFill>
        <p:spPr>
          <a:xfrm>
            <a:off x="6766560" y="1810512"/>
            <a:ext cx="502920" cy="502920"/>
          </a:xfrm>
          <a:prstGeom prst="rect">
            <a:avLst/>
          </a:prstGeom>
        </p:spPr>
      </p:pic>
      <p:sp>
        <p:nvSpPr>
          <p:cNvPr id="23" name="Text 15"/>
          <p:cNvSpPr/>
          <p:nvPr/>
        </p:nvSpPr>
        <p:spPr>
          <a:xfrm>
            <a:off x="7498080" y="1764792"/>
            <a:ext cx="4144975" cy="731520"/>
          </a:xfrm>
          <a:prstGeom prst="rect">
            <a:avLst/>
          </a:prstGeom>
          <a:noFill/>
          <a:ln/>
        </p:spPr>
        <p:txBody>
          <a:bodyPr wrap="square" lIns="0" tIns="0" rIns="0" bIns="0" rtlCol="0" anchor="t"/>
          <a:lstStyle/>
          <a:p>
            <a:pPr algn="l" indent="0" marL="0">
              <a:spcAft>
                <a:spcPts val="200"/>
              </a:spcAft>
              <a:buNone/>
            </a:pPr>
            <a:r>
              <a:rPr lang="en-US" sz="1400" b="1" dirty="0">
                <a:solidFill>
                  <a:srgbClr val="595959"/>
                </a:solidFill>
                <a:latin typeface="Arial" pitchFamily="34" charset="0"/>
                <a:ea typeface="Arial" pitchFamily="34" charset="-122"/>
                <a:cs typeface="Arial" pitchFamily="34" charset="-120"/>
              </a:rPr>
              <a:t>VLM slide reader</a:t>
            </a:r>
            <a:endParaRPr lang="en-US" sz="1400" dirty="0"/>
          </a:p>
          <a:p>
            <a:pPr algn="l" indent="0" marL="0">
              <a:buNone/>
            </a:pPr>
            <a:r>
              <a:rPr lang="en-US" sz="1400" dirty="0">
                <a:solidFill>
                  <a:srgbClr val="595959"/>
                </a:solidFill>
                <a:latin typeface="Arial" pitchFamily="34" charset="0"/>
                <a:ea typeface="Arial" pitchFamily="34" charset="-122"/>
                <a:cs typeface="Arial" pitchFamily="34" charset="-120"/>
              </a:rPr>
              <a:t>Describes a region the model attended to</a:t>
            </a:r>
            <a:endParaRPr lang="en-US" sz="1400" dirty="0"/>
          </a:p>
        </p:txBody>
      </p:sp>
      <p:pic>
        <p:nvPicPr>
          <p:cNvPr id="24" name="Image 6" descr="/mnt/data1/bal753/research-skills/examples/icons/png/tabler/api.png">    </p:cNvPr>
          <p:cNvPicPr>
            <a:picLocks noChangeAspect="1"/>
          </p:cNvPicPr>
          <p:nvPr/>
        </p:nvPicPr>
        <p:blipFill>
          <a:blip r:embed="rId7"/>
          <a:stretch>
            <a:fillRect/>
          </a:stretch>
        </p:blipFill>
        <p:spPr>
          <a:xfrm>
            <a:off x="6766560" y="2679192"/>
            <a:ext cx="502920" cy="502920"/>
          </a:xfrm>
          <a:prstGeom prst="rect">
            <a:avLst/>
          </a:prstGeom>
        </p:spPr>
      </p:pic>
      <p:sp>
        <p:nvSpPr>
          <p:cNvPr id="25" name="Text 16"/>
          <p:cNvSpPr/>
          <p:nvPr/>
        </p:nvSpPr>
        <p:spPr>
          <a:xfrm>
            <a:off x="7498080" y="2633472"/>
            <a:ext cx="4144975" cy="731520"/>
          </a:xfrm>
          <a:prstGeom prst="rect">
            <a:avLst/>
          </a:prstGeom>
          <a:noFill/>
          <a:ln/>
        </p:spPr>
        <p:txBody>
          <a:bodyPr wrap="square" lIns="0" tIns="0" rIns="0" bIns="0" rtlCol="0" anchor="t"/>
          <a:lstStyle/>
          <a:p>
            <a:pPr algn="l" indent="0" marL="0">
              <a:spcAft>
                <a:spcPts val="200"/>
              </a:spcAft>
              <a:buNone/>
            </a:pPr>
            <a:r>
              <a:rPr lang="en-US" sz="1400" b="1" dirty="0">
                <a:solidFill>
                  <a:srgbClr val="595959"/>
                </a:solidFill>
                <a:latin typeface="Arial" pitchFamily="34" charset="0"/>
                <a:ea typeface="Arial" pitchFamily="34" charset="-122"/>
                <a:cs typeface="Arial" pitchFamily="34" charset="-120"/>
              </a:rPr>
              <a:t>Feature store</a:t>
            </a:r>
            <a:endParaRPr lang="en-US" sz="1400" dirty="0"/>
          </a:p>
          <a:p>
            <a:pPr algn="l" indent="0" marL="0">
              <a:buNone/>
            </a:pPr>
            <a:r>
              <a:rPr lang="en-US" sz="1400" dirty="0">
                <a:solidFill>
                  <a:srgbClr val="595959"/>
                </a:solidFill>
                <a:latin typeface="Arial" pitchFamily="34" charset="0"/>
                <a:ea typeface="Arial" pitchFamily="34" charset="-122"/>
                <a:cs typeface="Arial" pitchFamily="34" charset="-120"/>
              </a:rPr>
              <a:t>Returns the patient's risk score and inputs</a:t>
            </a:r>
            <a:endParaRPr lang="en-US" sz="1400" dirty="0"/>
          </a:p>
        </p:txBody>
      </p:sp>
      <p:pic>
        <p:nvPicPr>
          <p:cNvPr id="26" name="Image 7" descr="/mnt/data1/bal753/research-skills/examples/icons/png/lucide/book-open-text.png">    </p:cNvPr>
          <p:cNvPicPr>
            <a:picLocks noChangeAspect="1"/>
          </p:cNvPicPr>
          <p:nvPr/>
        </p:nvPicPr>
        <p:blipFill>
          <a:blip r:embed="rId8"/>
          <a:stretch>
            <a:fillRect/>
          </a:stretch>
        </p:blipFill>
        <p:spPr>
          <a:xfrm>
            <a:off x="6766560" y="3547872"/>
            <a:ext cx="502920" cy="502920"/>
          </a:xfrm>
          <a:prstGeom prst="rect">
            <a:avLst/>
          </a:prstGeom>
        </p:spPr>
      </p:pic>
      <p:sp>
        <p:nvSpPr>
          <p:cNvPr id="27" name="Text 17"/>
          <p:cNvSpPr/>
          <p:nvPr/>
        </p:nvSpPr>
        <p:spPr>
          <a:xfrm>
            <a:off x="7498080" y="3502152"/>
            <a:ext cx="4144975" cy="731520"/>
          </a:xfrm>
          <a:prstGeom prst="rect">
            <a:avLst/>
          </a:prstGeom>
          <a:noFill/>
          <a:ln/>
        </p:spPr>
        <p:txBody>
          <a:bodyPr wrap="square" lIns="0" tIns="0" rIns="0" bIns="0" rtlCol="0" anchor="t"/>
          <a:lstStyle/>
          <a:p>
            <a:pPr algn="l" indent="0" marL="0">
              <a:spcAft>
                <a:spcPts val="200"/>
              </a:spcAft>
              <a:buNone/>
            </a:pPr>
            <a:r>
              <a:rPr lang="en-US" sz="1400" b="1" dirty="0">
                <a:solidFill>
                  <a:srgbClr val="595959"/>
                </a:solidFill>
                <a:latin typeface="Arial" pitchFamily="34" charset="0"/>
                <a:ea typeface="Arial" pitchFamily="34" charset="-122"/>
                <a:cs typeface="Arial" pitchFamily="34" charset="-120"/>
              </a:rPr>
              <a:t>Guideline lookup</a:t>
            </a:r>
            <a:endParaRPr lang="en-US" sz="1400" dirty="0"/>
          </a:p>
          <a:p>
            <a:pPr algn="l" indent="0" marL="0">
              <a:buNone/>
            </a:pPr>
            <a:r>
              <a:rPr lang="en-US" sz="1400" dirty="0">
                <a:solidFill>
                  <a:srgbClr val="595959"/>
                </a:solidFill>
                <a:latin typeface="Arial" pitchFamily="34" charset="0"/>
                <a:ea typeface="Arial" pitchFamily="34" charset="-122"/>
                <a:cs typeface="Arial" pitchFamily="34" charset="-120"/>
              </a:rPr>
              <a:t>Retrieves the reporting criteria text</a:t>
            </a:r>
            <a:endParaRPr lang="en-US" sz="1400" dirty="0"/>
          </a:p>
        </p:txBody>
      </p:sp>
      <p:sp>
        <p:nvSpPr>
          <p:cNvPr id="28" name="Shape 18"/>
          <p:cNvSpPr/>
          <p:nvPr/>
        </p:nvSpPr>
        <p:spPr>
          <a:xfrm>
            <a:off x="6766560" y="4480560"/>
            <a:ext cx="4876495" cy="548640"/>
          </a:xfrm>
          <a:prstGeom prst="rect">
            <a:avLst/>
          </a:prstGeom>
          <a:solidFill>
            <a:srgbClr val="F3F3F3"/>
          </a:solidFill>
          <a:ln/>
        </p:spPr>
      </p:sp>
      <p:sp>
        <p:nvSpPr>
          <p:cNvPr id="29" name="Text 19"/>
          <p:cNvSpPr/>
          <p:nvPr/>
        </p:nvSpPr>
        <p:spPr>
          <a:xfrm>
            <a:off x="6949440" y="4480560"/>
            <a:ext cx="4510735" cy="548640"/>
          </a:xfrm>
          <a:prstGeom prst="rect">
            <a:avLst/>
          </a:prstGeom>
          <a:noFill/>
          <a:ln/>
        </p:spPr>
        <p:txBody>
          <a:bodyPr wrap="square" lIns="0" tIns="0" rIns="0" bIns="0" rtlCol="0" anchor="ctr"/>
          <a:lstStyle/>
          <a:p>
            <a:pPr algn="l" indent="0" marL="0">
              <a:buNone/>
            </a:pPr>
            <a:r>
              <a:rPr lang="en-US" sz="1400" b="1" dirty="0">
                <a:solidFill>
                  <a:srgbClr val="222222"/>
                </a:solidFill>
                <a:latin typeface="Arial" pitchFamily="34" charset="0"/>
                <a:ea typeface="Arial" pitchFamily="34" charset="-122"/>
                <a:cs typeface="Arial" pitchFamily="34" charset="-120"/>
              </a:rPr>
              <a:t>Stop: </a:t>
            </a:r>
            <a:pPr algn="l" indent="0" marL="0">
              <a:buNone/>
            </a:pPr>
            <a:r>
              <a:rPr lang="en-US" sz="1400" dirty="0">
                <a:solidFill>
                  <a:srgbClr val="222222"/>
                </a:solidFill>
                <a:latin typeface="Arial" pitchFamily="34" charset="0"/>
                <a:ea typeface="Arial" pitchFamily="34" charset="-122"/>
                <a:cs typeface="Arial" pitchFamily="34" charset="-120"/>
              </a:rPr>
              <a:t>draft goes to a pathologist for sign-off</a:t>
            </a:r>
            <a:endParaRPr lang="en-US" sz="1400" dirty="0"/>
          </a:p>
        </p:txBody>
      </p:sp>
      <p:sp>
        <p:nvSpPr>
          <p:cNvPr id="30" name="Text 20"/>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The agent drafts the report; a pathologist signs it off, and every statement points to a tool output.</a:t>
            </a:r>
            <a:endParaRPr lang="en-US" sz="1800" dirty="0"/>
          </a:p>
        </p:txBody>
      </p:sp>
      <p:sp>
        <p:nvSpPr>
          <p:cNvPr id="31" name="Text 21"/>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LLM: </a:t>
            </a:r>
            <a:pPr algn="l" indent="0" marL="0">
              <a:buNone/>
            </a:pPr>
            <a:r>
              <a:rPr lang="en-US" sz="950" dirty="0">
                <a:solidFill>
                  <a:srgbClr val="7F7F7F"/>
                </a:solidFill>
                <a:latin typeface="Arial" pitchFamily="34" charset="0"/>
                <a:ea typeface="Arial" pitchFamily="34" charset="-122"/>
                <a:cs typeface="Arial" pitchFamily="34" charset="-120"/>
              </a:rPr>
              <a:t>large language model;</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VLM: </a:t>
            </a:r>
            <a:pPr algn="l" indent="0" marL="0">
              <a:buNone/>
            </a:pPr>
            <a:r>
              <a:rPr lang="en-US" sz="950" dirty="0">
                <a:solidFill>
                  <a:srgbClr val="7F7F7F"/>
                </a:solidFill>
                <a:latin typeface="Arial" pitchFamily="34" charset="0"/>
                <a:ea typeface="Arial" pitchFamily="34" charset="-122"/>
                <a:cs typeface="Arial" pitchFamily="34" charset="-120"/>
              </a:rPr>
              <a:t>vision-language model.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Study Design — Patient Timeline</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9</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timeline</a:t>
            </a:r>
            <a:endParaRPr lang="en-US" sz="1200" dirty="0"/>
          </a:p>
        </p:txBody>
      </p:sp>
      <p:sp>
        <p:nvSpPr>
          <p:cNvPr id="6" name="Shape 4"/>
          <p:cNvSpPr/>
          <p:nvPr/>
        </p:nvSpPr>
        <p:spPr>
          <a:xfrm>
            <a:off x="914400" y="3017520"/>
            <a:ext cx="10454335" cy="0"/>
          </a:xfrm>
          <a:prstGeom prst="line">
            <a:avLst/>
          </a:prstGeom>
          <a:noFill/>
          <a:ln w="25400">
            <a:solidFill>
              <a:srgbClr val="595959"/>
            </a:solidFill>
            <a:prstDash val="solid"/>
            <a:tailEnd type="triangle"/>
          </a:ln>
        </p:spPr>
      </p:sp>
      <p:sp>
        <p:nvSpPr>
          <p:cNvPr id="7" name="Text 5"/>
          <p:cNvSpPr/>
          <p:nvPr/>
        </p:nvSpPr>
        <p:spPr>
          <a:xfrm>
            <a:off x="8991295" y="3127248"/>
            <a:ext cx="237744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Time from diagnosis</a:t>
            </a:r>
            <a:endParaRPr lang="en-US" sz="1200" dirty="0"/>
          </a:p>
        </p:txBody>
      </p:sp>
      <p:sp>
        <p:nvSpPr>
          <p:cNvPr id="8" name="Shape 6"/>
          <p:cNvSpPr/>
          <p:nvPr/>
        </p:nvSpPr>
        <p:spPr>
          <a:xfrm>
            <a:off x="1709928" y="2898648"/>
            <a:ext cx="237744" cy="237744"/>
          </a:xfrm>
          <a:prstGeom prst="ellipse">
            <a:avLst/>
          </a:prstGeom>
          <a:solidFill>
            <a:srgbClr val="A51C30"/>
          </a:solidFill>
          <a:ln w="19050">
            <a:solidFill>
              <a:srgbClr val="A51C30"/>
            </a:solidFill>
            <a:prstDash val="solid"/>
          </a:ln>
        </p:spPr>
      </p:sp>
      <p:sp>
        <p:nvSpPr>
          <p:cNvPr id="9" name="Shape 7"/>
          <p:cNvSpPr/>
          <p:nvPr/>
        </p:nvSpPr>
        <p:spPr>
          <a:xfrm>
            <a:off x="1828800" y="2331720"/>
            <a:ext cx="0" cy="566928"/>
          </a:xfrm>
          <a:prstGeom prst="line">
            <a:avLst/>
          </a:prstGeom>
          <a:noFill/>
          <a:ln w="12700">
            <a:solidFill>
              <a:srgbClr val="D9D9D9"/>
            </a:solidFill>
            <a:prstDash val="solid"/>
          </a:ln>
        </p:spPr>
      </p:sp>
      <p:pic>
        <p:nvPicPr>
          <p:cNvPr id="10" name="Image 0" descr="/mnt/data1/bal753/research-skills/examples/icons/png/healthicons/biopsy_accent.png">    </p:cNvPr>
          <p:cNvPicPr>
            <a:picLocks noChangeAspect="1"/>
          </p:cNvPicPr>
          <p:nvPr/>
        </p:nvPicPr>
        <p:blipFill>
          <a:blip r:embed="rId1"/>
          <a:stretch>
            <a:fillRect/>
          </a:stretch>
        </p:blipFill>
        <p:spPr>
          <a:xfrm>
            <a:off x="1554480" y="1737360"/>
            <a:ext cx="548640" cy="548640"/>
          </a:xfrm>
          <a:prstGeom prst="rect">
            <a:avLst/>
          </a:prstGeom>
        </p:spPr>
      </p:pic>
      <p:sp>
        <p:nvSpPr>
          <p:cNvPr id="11" name="Text 8"/>
          <p:cNvSpPr/>
          <p:nvPr/>
        </p:nvSpPr>
        <p:spPr>
          <a:xfrm>
            <a:off x="548640" y="1005840"/>
            <a:ext cx="2560320" cy="685800"/>
          </a:xfrm>
          <a:prstGeom prst="rect">
            <a:avLst/>
          </a:prstGeom>
          <a:noFill/>
          <a:ln/>
        </p:spPr>
        <p:txBody>
          <a:bodyPr wrap="square" lIns="0" tIns="0" rIns="0" bIns="0" rtlCol="0" anchor="b"/>
          <a:lstStyle/>
          <a:p>
            <a:pPr algn="ctr" indent="0" marL="0">
              <a:spcAft>
                <a:spcPts val="200"/>
              </a:spcAft>
              <a:buNone/>
            </a:pPr>
            <a:r>
              <a:rPr lang="en-US" sz="1300" b="1" dirty="0">
                <a:solidFill>
                  <a:srgbClr val="595959"/>
                </a:solidFill>
                <a:latin typeface="Arial" pitchFamily="34" charset="0"/>
                <a:ea typeface="Arial" pitchFamily="34" charset="-122"/>
                <a:cs typeface="Arial" pitchFamily="34" charset="-120"/>
              </a:rPr>
              <a:t>Diagnosis</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t = 0; biopsy confirms cancer</a:t>
            </a:r>
            <a:endParaRPr lang="en-US" sz="1300" dirty="0"/>
          </a:p>
        </p:txBody>
      </p:sp>
      <p:sp>
        <p:nvSpPr>
          <p:cNvPr id="12" name="Shape 9"/>
          <p:cNvSpPr/>
          <p:nvPr/>
        </p:nvSpPr>
        <p:spPr>
          <a:xfrm>
            <a:off x="3843452" y="2898648"/>
            <a:ext cx="237744" cy="237744"/>
          </a:xfrm>
          <a:prstGeom prst="ellipse">
            <a:avLst/>
          </a:prstGeom>
          <a:solidFill>
            <a:srgbClr val="FFFFFF"/>
          </a:solidFill>
          <a:ln w="19050">
            <a:solidFill>
              <a:srgbClr val="595959"/>
            </a:solidFill>
            <a:prstDash val="solid"/>
          </a:ln>
        </p:spPr>
      </p:sp>
      <p:sp>
        <p:nvSpPr>
          <p:cNvPr id="13" name="Shape 10"/>
          <p:cNvSpPr/>
          <p:nvPr/>
        </p:nvSpPr>
        <p:spPr>
          <a:xfrm>
            <a:off x="3962324" y="3136392"/>
            <a:ext cx="0" cy="566928"/>
          </a:xfrm>
          <a:prstGeom prst="line">
            <a:avLst/>
          </a:prstGeom>
          <a:noFill/>
          <a:ln w="12700">
            <a:solidFill>
              <a:srgbClr val="D9D9D9"/>
            </a:solidFill>
            <a:prstDash val="solid"/>
          </a:ln>
        </p:spPr>
      </p:sp>
      <p:pic>
        <p:nvPicPr>
          <p:cNvPr id="14" name="Image 1" descr="/mnt/data1/bal753/research-skills/examples/icons/png/healthicons/tissue.png">    </p:cNvPr>
          <p:cNvPicPr>
            <a:picLocks noChangeAspect="1"/>
          </p:cNvPicPr>
          <p:nvPr/>
        </p:nvPicPr>
        <p:blipFill>
          <a:blip r:embed="rId2"/>
          <a:stretch>
            <a:fillRect/>
          </a:stretch>
        </p:blipFill>
        <p:spPr>
          <a:xfrm>
            <a:off x="3688004" y="3749040"/>
            <a:ext cx="548640" cy="548640"/>
          </a:xfrm>
          <a:prstGeom prst="rect">
            <a:avLst/>
          </a:prstGeom>
        </p:spPr>
      </p:pic>
      <p:sp>
        <p:nvSpPr>
          <p:cNvPr id="15" name="Text 11"/>
          <p:cNvSpPr/>
          <p:nvPr/>
        </p:nvSpPr>
        <p:spPr>
          <a:xfrm>
            <a:off x="2682164" y="4361688"/>
            <a:ext cx="2560320" cy="685800"/>
          </a:xfrm>
          <a:prstGeom prst="rect">
            <a:avLst/>
          </a:prstGeom>
          <a:noFill/>
          <a:ln/>
        </p:spPr>
        <p:txBody>
          <a:bodyPr wrap="square" lIns="0" tIns="0" rIns="0" bIns="0" rtlCol="0" anchor="t"/>
          <a:lstStyle/>
          <a:p>
            <a:pPr algn="ctr" indent="0" marL="0">
              <a:spcAft>
                <a:spcPts val="200"/>
              </a:spcAft>
              <a:buNone/>
            </a:pPr>
            <a:r>
              <a:rPr lang="en-US" sz="1300" b="1" dirty="0">
                <a:solidFill>
                  <a:srgbClr val="595959"/>
                </a:solidFill>
                <a:latin typeface="Arial" pitchFamily="34" charset="0"/>
                <a:ea typeface="Arial" pitchFamily="34" charset="-122"/>
                <a:cs typeface="Arial" pitchFamily="34" charset="-120"/>
              </a:rPr>
              <a:t>Surgery</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Tissue scanned and imaged</a:t>
            </a:r>
            <a:endParaRPr lang="en-US" sz="1300" dirty="0"/>
          </a:p>
        </p:txBody>
      </p:sp>
      <p:sp>
        <p:nvSpPr>
          <p:cNvPr id="16" name="Shape 12"/>
          <p:cNvSpPr/>
          <p:nvPr/>
        </p:nvSpPr>
        <p:spPr>
          <a:xfrm>
            <a:off x="5976976" y="2898648"/>
            <a:ext cx="237744" cy="237744"/>
          </a:xfrm>
          <a:prstGeom prst="ellipse">
            <a:avLst/>
          </a:prstGeom>
          <a:solidFill>
            <a:srgbClr val="FFFFFF"/>
          </a:solidFill>
          <a:ln w="19050">
            <a:solidFill>
              <a:srgbClr val="595959"/>
            </a:solidFill>
            <a:prstDash val="solid"/>
          </a:ln>
        </p:spPr>
      </p:sp>
      <p:sp>
        <p:nvSpPr>
          <p:cNvPr id="17" name="Shape 13"/>
          <p:cNvSpPr/>
          <p:nvPr/>
        </p:nvSpPr>
        <p:spPr>
          <a:xfrm>
            <a:off x="6095848" y="2331720"/>
            <a:ext cx="0" cy="566928"/>
          </a:xfrm>
          <a:prstGeom prst="line">
            <a:avLst/>
          </a:prstGeom>
          <a:noFill/>
          <a:ln w="12700">
            <a:solidFill>
              <a:srgbClr val="D9D9D9"/>
            </a:solidFill>
            <a:prstDash val="solid"/>
          </a:ln>
        </p:spPr>
      </p:sp>
      <p:pic>
        <p:nvPicPr>
          <p:cNvPr id="18" name="Image 2" descr="/mnt/data1/bal753/research-skills/examples/icons/png/healthicons/hospital.png">    </p:cNvPr>
          <p:cNvPicPr>
            <a:picLocks noChangeAspect="1"/>
          </p:cNvPicPr>
          <p:nvPr/>
        </p:nvPicPr>
        <p:blipFill>
          <a:blip r:embed="rId3"/>
          <a:stretch>
            <a:fillRect/>
          </a:stretch>
        </p:blipFill>
        <p:spPr>
          <a:xfrm>
            <a:off x="5821528" y="1737360"/>
            <a:ext cx="548640" cy="548640"/>
          </a:xfrm>
          <a:prstGeom prst="rect">
            <a:avLst/>
          </a:prstGeom>
        </p:spPr>
      </p:pic>
      <p:sp>
        <p:nvSpPr>
          <p:cNvPr id="19" name="Text 14"/>
          <p:cNvSpPr/>
          <p:nvPr/>
        </p:nvSpPr>
        <p:spPr>
          <a:xfrm>
            <a:off x="4815688" y="1005840"/>
            <a:ext cx="2560320" cy="685800"/>
          </a:xfrm>
          <a:prstGeom prst="rect">
            <a:avLst/>
          </a:prstGeom>
          <a:noFill/>
          <a:ln/>
        </p:spPr>
        <p:txBody>
          <a:bodyPr wrap="square" lIns="0" tIns="0" rIns="0" bIns="0" rtlCol="0" anchor="b"/>
          <a:lstStyle/>
          <a:p>
            <a:pPr algn="ctr" indent="0" marL="0">
              <a:spcAft>
                <a:spcPts val="200"/>
              </a:spcAft>
              <a:buNone/>
            </a:pPr>
            <a:r>
              <a:rPr lang="en-US" sz="1300" b="1" dirty="0">
                <a:solidFill>
                  <a:srgbClr val="595959"/>
                </a:solidFill>
                <a:latin typeface="Arial" pitchFamily="34" charset="0"/>
                <a:ea typeface="Arial" pitchFamily="34" charset="-122"/>
                <a:cs typeface="Arial" pitchFamily="34" charset="-120"/>
              </a:rPr>
              <a:t>Adjuvant therapy</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Chemotherapy or hormone therapy</a:t>
            </a:r>
            <a:endParaRPr lang="en-US" sz="1300" dirty="0"/>
          </a:p>
        </p:txBody>
      </p:sp>
      <p:sp>
        <p:nvSpPr>
          <p:cNvPr id="20" name="Shape 15"/>
          <p:cNvSpPr/>
          <p:nvPr/>
        </p:nvSpPr>
        <p:spPr>
          <a:xfrm>
            <a:off x="8110499" y="2898648"/>
            <a:ext cx="237744" cy="237744"/>
          </a:xfrm>
          <a:prstGeom prst="ellipse">
            <a:avLst/>
          </a:prstGeom>
          <a:solidFill>
            <a:srgbClr val="FFFFFF"/>
          </a:solidFill>
          <a:ln w="19050">
            <a:solidFill>
              <a:srgbClr val="595959"/>
            </a:solidFill>
            <a:prstDash val="solid"/>
          </a:ln>
        </p:spPr>
      </p:sp>
      <p:sp>
        <p:nvSpPr>
          <p:cNvPr id="21" name="Shape 16"/>
          <p:cNvSpPr/>
          <p:nvPr/>
        </p:nvSpPr>
        <p:spPr>
          <a:xfrm>
            <a:off x="8229371" y="3136392"/>
            <a:ext cx="0" cy="566928"/>
          </a:xfrm>
          <a:prstGeom prst="line">
            <a:avLst/>
          </a:prstGeom>
          <a:noFill/>
          <a:ln w="12700">
            <a:solidFill>
              <a:srgbClr val="D9D9D9"/>
            </a:solidFill>
            <a:prstDash val="solid"/>
          </a:ln>
        </p:spPr>
      </p:sp>
      <p:pic>
        <p:nvPicPr>
          <p:cNvPr id="22" name="Image 3" descr="/mnt/data1/bal753/research-skills/examples/icons/png/healthicons/regular-patient.png">    </p:cNvPr>
          <p:cNvPicPr>
            <a:picLocks noChangeAspect="1"/>
          </p:cNvPicPr>
          <p:nvPr/>
        </p:nvPicPr>
        <p:blipFill>
          <a:blip r:embed="rId4"/>
          <a:stretch>
            <a:fillRect/>
          </a:stretch>
        </p:blipFill>
        <p:spPr>
          <a:xfrm>
            <a:off x="7955051" y="3749040"/>
            <a:ext cx="548640" cy="548640"/>
          </a:xfrm>
          <a:prstGeom prst="rect">
            <a:avLst/>
          </a:prstGeom>
        </p:spPr>
      </p:pic>
      <p:sp>
        <p:nvSpPr>
          <p:cNvPr id="23" name="Text 17"/>
          <p:cNvSpPr/>
          <p:nvPr/>
        </p:nvSpPr>
        <p:spPr>
          <a:xfrm>
            <a:off x="6949211" y="4361688"/>
            <a:ext cx="2560320" cy="685800"/>
          </a:xfrm>
          <a:prstGeom prst="rect">
            <a:avLst/>
          </a:prstGeom>
          <a:noFill/>
          <a:ln/>
        </p:spPr>
        <p:txBody>
          <a:bodyPr wrap="square" lIns="0" tIns="0" rIns="0" bIns="0" rtlCol="0" anchor="t"/>
          <a:lstStyle/>
          <a:p>
            <a:pPr algn="ctr" indent="0" marL="0">
              <a:spcAft>
                <a:spcPts val="200"/>
              </a:spcAft>
              <a:buNone/>
            </a:pPr>
            <a:r>
              <a:rPr lang="en-US" sz="1300" b="1" dirty="0">
                <a:solidFill>
                  <a:srgbClr val="595959"/>
                </a:solidFill>
                <a:latin typeface="Arial" pitchFamily="34" charset="0"/>
                <a:ea typeface="Arial" pitchFamily="34" charset="-122"/>
                <a:cs typeface="Arial" pitchFamily="34" charset="-120"/>
              </a:rPr>
              <a:t>Follow-up</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Visits until event or last contact</a:t>
            </a:r>
            <a:endParaRPr lang="en-US" sz="1300" dirty="0"/>
          </a:p>
        </p:txBody>
      </p:sp>
      <p:sp>
        <p:nvSpPr>
          <p:cNvPr id="24" name="Shape 18"/>
          <p:cNvSpPr/>
          <p:nvPr/>
        </p:nvSpPr>
        <p:spPr>
          <a:xfrm>
            <a:off x="10244023" y="2898648"/>
            <a:ext cx="237744" cy="237744"/>
          </a:xfrm>
          <a:prstGeom prst="ellipse">
            <a:avLst/>
          </a:prstGeom>
          <a:solidFill>
            <a:srgbClr val="A51C30"/>
          </a:solidFill>
          <a:ln w="19050">
            <a:solidFill>
              <a:srgbClr val="A51C30"/>
            </a:solidFill>
            <a:prstDash val="solid"/>
          </a:ln>
        </p:spPr>
      </p:sp>
      <p:sp>
        <p:nvSpPr>
          <p:cNvPr id="25" name="Shape 19"/>
          <p:cNvSpPr/>
          <p:nvPr/>
        </p:nvSpPr>
        <p:spPr>
          <a:xfrm>
            <a:off x="10362895" y="2331720"/>
            <a:ext cx="0" cy="566928"/>
          </a:xfrm>
          <a:prstGeom prst="line">
            <a:avLst/>
          </a:prstGeom>
          <a:noFill/>
          <a:ln w="12700">
            <a:solidFill>
              <a:srgbClr val="D9D9D9"/>
            </a:solidFill>
            <a:prstDash val="solid"/>
          </a:ln>
        </p:spPr>
      </p:sp>
      <p:pic>
        <p:nvPicPr>
          <p:cNvPr id="26" name="Image 4" descr="/mnt/data1/bal753/research-skills/examples/icons/png/healthicons/chart-line_accent.png">    </p:cNvPr>
          <p:cNvPicPr>
            <a:picLocks noChangeAspect="1"/>
          </p:cNvPicPr>
          <p:nvPr/>
        </p:nvPicPr>
        <p:blipFill>
          <a:blip r:embed="rId5"/>
          <a:stretch>
            <a:fillRect/>
          </a:stretch>
        </p:blipFill>
        <p:spPr>
          <a:xfrm>
            <a:off x="10088575" y="1737360"/>
            <a:ext cx="548640" cy="548640"/>
          </a:xfrm>
          <a:prstGeom prst="rect">
            <a:avLst/>
          </a:prstGeom>
        </p:spPr>
      </p:pic>
      <p:sp>
        <p:nvSpPr>
          <p:cNvPr id="27" name="Text 20"/>
          <p:cNvSpPr/>
          <p:nvPr/>
        </p:nvSpPr>
        <p:spPr>
          <a:xfrm>
            <a:off x="9082735" y="1005840"/>
            <a:ext cx="2560320" cy="685800"/>
          </a:xfrm>
          <a:prstGeom prst="rect">
            <a:avLst/>
          </a:prstGeom>
          <a:noFill/>
          <a:ln/>
        </p:spPr>
        <p:txBody>
          <a:bodyPr wrap="square" lIns="0" tIns="0" rIns="0" bIns="0" rtlCol="0" anchor="b"/>
          <a:lstStyle/>
          <a:p>
            <a:pPr algn="ctr" indent="0" marL="0">
              <a:spcAft>
                <a:spcPts val="200"/>
              </a:spcAft>
              <a:buNone/>
            </a:pPr>
            <a:r>
              <a:rPr lang="en-US" sz="1300" b="1" dirty="0">
                <a:solidFill>
                  <a:srgbClr val="595959"/>
                </a:solidFill>
                <a:latin typeface="Arial" pitchFamily="34" charset="0"/>
                <a:ea typeface="Arial" pitchFamily="34" charset="-122"/>
                <a:cs typeface="Arial" pitchFamily="34" charset="-120"/>
              </a:rPr>
              <a:t>Event or censoring</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Recurrence or death</a:t>
            </a:r>
            <a:endParaRPr lang="en-US" sz="1300" dirty="0"/>
          </a:p>
        </p:txBody>
      </p:sp>
      <p:sp>
        <p:nvSpPr>
          <p:cNvPr id="28" name="Text 21"/>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Recurrence-free survival runs from diagnosis to recurrence or death; in GBSG2, 299 of 686 patients had an event and the rest were censored at last follow-up.</a:t>
            </a:r>
            <a:endParaRPr lang="en-US" sz="1800" dirty="0"/>
          </a:p>
        </p:txBody>
      </p:sp>
      <p:sp>
        <p:nvSpPr>
          <p:cNvPr id="29" name="Text 22"/>
          <p:cNvSpPr/>
          <p:nvPr/>
        </p:nvSpPr>
        <p:spPr>
          <a:xfrm>
            <a:off x="548640" y="6236208"/>
            <a:ext cx="10682935" cy="548640"/>
          </a:xfrm>
          <a:prstGeom prst="rect">
            <a:avLst/>
          </a:prstGeom>
          <a:noFill/>
          <a:ln/>
        </p:spPr>
        <p:txBody>
          <a:bodyPr wrap="square" lIns="0" tIns="0" rIns="0" bIns="0" rtlCol="0" anchor="b"/>
          <a:lstStyle/>
          <a:p>
            <a:pPr algn="r" indent="0" marL="0">
              <a:buNone/>
            </a:pPr>
            <a:r>
              <a:rPr lang="en-US" sz="900" dirty="0">
                <a:solidFill>
                  <a:srgbClr val="222222"/>
                </a:solidFill>
                <a:latin typeface="Times New Roman" pitchFamily="34" charset="0"/>
                <a:ea typeface="Times New Roman" pitchFamily="34" charset="-122"/>
                <a:cs typeface="Times New Roman" pitchFamily="34" charset="-120"/>
              </a:rPr>
              <a:t>Source: GBSG2 trial (lifelines load_gbsg2); event counts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Prior Approaches vs This Work</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10</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two-column comparison</a:t>
            </a:r>
            <a:endParaRPr lang="en-US" sz="1200" dirty="0"/>
          </a:p>
        </p:txBody>
      </p:sp>
      <p:sp>
        <p:nvSpPr>
          <p:cNvPr id="6" name="Shape 4"/>
          <p:cNvSpPr/>
          <p:nvPr/>
        </p:nvSpPr>
        <p:spPr>
          <a:xfrm>
            <a:off x="7452360" y="1234440"/>
            <a:ext cx="4190695" cy="3794760"/>
          </a:xfrm>
          <a:prstGeom prst="rect">
            <a:avLst/>
          </a:prstGeom>
          <a:solidFill>
            <a:srgbClr val="F3F3F3"/>
          </a:solidFill>
          <a:ln/>
        </p:spPr>
      </p:sp>
      <p:sp>
        <p:nvSpPr>
          <p:cNvPr id="7" name="Text 5"/>
          <p:cNvSpPr/>
          <p:nvPr/>
        </p:nvSpPr>
        <p:spPr>
          <a:xfrm>
            <a:off x="3291840" y="1234440"/>
            <a:ext cx="3657600" cy="502920"/>
          </a:xfrm>
          <a:prstGeom prst="rect">
            <a:avLst/>
          </a:prstGeom>
          <a:noFill/>
          <a:ln/>
        </p:spPr>
        <p:txBody>
          <a:bodyPr wrap="square" lIns="0" tIns="0" rIns="0" bIns="0" rtlCol="0" anchor="ctr"/>
          <a:lstStyle/>
          <a:p>
            <a:pPr algn="l" indent="0" marL="0">
              <a:buNone/>
            </a:pPr>
            <a:r>
              <a:rPr lang="en-US" sz="1800" b="1" dirty="0">
                <a:solidFill>
                  <a:srgbClr val="7F7F7F"/>
                </a:solidFill>
                <a:latin typeface="Arial" pitchFamily="34" charset="0"/>
                <a:ea typeface="Arial" pitchFamily="34" charset="-122"/>
                <a:cs typeface="Arial" pitchFamily="34" charset="-120"/>
              </a:rPr>
              <a:t>Prior approaches</a:t>
            </a:r>
            <a:endParaRPr lang="en-US" sz="1800" dirty="0"/>
          </a:p>
        </p:txBody>
      </p:sp>
      <p:sp>
        <p:nvSpPr>
          <p:cNvPr id="8" name="Text 6"/>
          <p:cNvSpPr/>
          <p:nvPr/>
        </p:nvSpPr>
        <p:spPr>
          <a:xfrm>
            <a:off x="7680960" y="1234440"/>
            <a:ext cx="4053535" cy="502920"/>
          </a:xfrm>
          <a:prstGeom prst="rect">
            <a:avLst/>
          </a:prstGeom>
          <a:noFill/>
          <a:ln/>
        </p:spPr>
        <p:txBody>
          <a:bodyPr wrap="square" lIns="0" tIns="0" rIns="0" bIns="0" rtlCol="0" anchor="ctr"/>
          <a:lstStyle/>
          <a:p>
            <a:pPr algn="l" indent="0" marL="0">
              <a:buNone/>
            </a:pPr>
            <a:r>
              <a:rPr lang="en-US" sz="1800" b="1" dirty="0">
                <a:solidFill>
                  <a:srgbClr val="A51C30"/>
                </a:solidFill>
                <a:latin typeface="Arial" pitchFamily="34" charset="0"/>
                <a:ea typeface="Arial" pitchFamily="34" charset="-122"/>
                <a:cs typeface="Arial" pitchFamily="34" charset="-120"/>
              </a:rPr>
              <a:t>This work</a:t>
            </a:r>
            <a:endParaRPr lang="en-US" sz="1800" dirty="0"/>
          </a:p>
        </p:txBody>
      </p:sp>
      <p:sp>
        <p:nvSpPr>
          <p:cNvPr id="9" name="Shape 7"/>
          <p:cNvSpPr/>
          <p:nvPr/>
        </p:nvSpPr>
        <p:spPr>
          <a:xfrm>
            <a:off x="548640" y="1737360"/>
            <a:ext cx="11094415" cy="0"/>
          </a:xfrm>
          <a:prstGeom prst="line">
            <a:avLst/>
          </a:prstGeom>
          <a:noFill/>
          <a:ln w="12700">
            <a:solidFill>
              <a:srgbClr val="595959"/>
            </a:solidFill>
            <a:prstDash val="solid"/>
          </a:ln>
        </p:spPr>
      </p:sp>
      <p:sp>
        <p:nvSpPr>
          <p:cNvPr id="10" name="Text 8"/>
          <p:cNvSpPr/>
          <p:nvPr/>
        </p:nvSpPr>
        <p:spPr>
          <a:xfrm>
            <a:off x="548640" y="1737360"/>
            <a:ext cx="2377440" cy="658368"/>
          </a:xfrm>
          <a:prstGeom prst="rect">
            <a:avLst/>
          </a:prstGeom>
          <a:noFill/>
          <a:ln/>
        </p:spPr>
        <p:txBody>
          <a:bodyPr wrap="square" lIns="0" tIns="0" rIns="0" bIns="0" rtlCol="0" anchor="ctr"/>
          <a:lstStyle/>
          <a:p>
            <a:pPr algn="l" indent="0" marL="0">
              <a:buNone/>
            </a:pPr>
            <a:r>
              <a:rPr lang="en-US" sz="1600" b="1" dirty="0">
                <a:solidFill>
                  <a:srgbClr val="595959"/>
                </a:solidFill>
                <a:latin typeface="Arial" pitchFamily="34" charset="0"/>
                <a:ea typeface="Arial" pitchFamily="34" charset="-122"/>
                <a:cs typeface="Arial" pitchFamily="34" charset="-120"/>
              </a:rPr>
              <a:t>Labels needed</a:t>
            </a:r>
            <a:endParaRPr lang="en-US" sz="1600" dirty="0"/>
          </a:p>
        </p:txBody>
      </p:sp>
      <p:sp>
        <p:nvSpPr>
          <p:cNvPr id="11" name="Shape 9"/>
          <p:cNvSpPr/>
          <p:nvPr/>
        </p:nvSpPr>
        <p:spPr>
          <a:xfrm>
            <a:off x="3291840" y="1901952"/>
            <a:ext cx="329184" cy="329184"/>
          </a:xfrm>
          <a:prstGeom prst="ellipse">
            <a:avLst/>
          </a:prstGeom>
          <a:solidFill>
            <a:srgbClr val="FFFFFF"/>
          </a:solidFill>
          <a:ln w="19050">
            <a:solidFill>
              <a:srgbClr val="7F7F7F"/>
            </a:solidFill>
            <a:prstDash val="solid"/>
          </a:ln>
        </p:spPr>
      </p:sp>
      <p:sp>
        <p:nvSpPr>
          <p:cNvPr id="12" name="Shape 10"/>
          <p:cNvSpPr/>
          <p:nvPr/>
        </p:nvSpPr>
        <p:spPr>
          <a:xfrm>
            <a:off x="3398496" y="2008608"/>
            <a:ext cx="115873" cy="115873"/>
          </a:xfrm>
          <a:prstGeom prst="line">
            <a:avLst/>
          </a:prstGeom>
          <a:noFill/>
          <a:ln w="25400">
            <a:solidFill>
              <a:srgbClr val="7F7F7F"/>
            </a:solidFill>
            <a:prstDash val="solid"/>
          </a:ln>
        </p:spPr>
      </p:sp>
      <p:sp>
        <p:nvSpPr>
          <p:cNvPr id="13" name="Shape 11"/>
          <p:cNvSpPr/>
          <p:nvPr/>
        </p:nvSpPr>
        <p:spPr>
          <a:xfrm flipH="1">
            <a:off x="3398496" y="2008608"/>
            <a:ext cx="115873" cy="115873"/>
          </a:xfrm>
          <a:prstGeom prst="line">
            <a:avLst/>
          </a:prstGeom>
          <a:noFill/>
          <a:ln w="25400">
            <a:solidFill>
              <a:srgbClr val="7F7F7F"/>
            </a:solidFill>
            <a:prstDash val="solid"/>
          </a:ln>
        </p:spPr>
      </p:sp>
      <p:sp>
        <p:nvSpPr>
          <p:cNvPr id="14" name="Text 12"/>
          <p:cNvSpPr/>
          <p:nvPr/>
        </p:nvSpPr>
        <p:spPr>
          <a:xfrm>
            <a:off x="3794760" y="1737360"/>
            <a:ext cx="3154680"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Pixel-level annotation</a:t>
            </a:r>
            <a:endParaRPr lang="en-US" sz="1600" dirty="0"/>
          </a:p>
        </p:txBody>
      </p:sp>
      <p:sp>
        <p:nvSpPr>
          <p:cNvPr id="15" name="Shape 13"/>
          <p:cNvSpPr/>
          <p:nvPr/>
        </p:nvSpPr>
        <p:spPr>
          <a:xfrm>
            <a:off x="7680960" y="1901952"/>
            <a:ext cx="329184" cy="329184"/>
          </a:xfrm>
          <a:prstGeom prst="ellipse">
            <a:avLst/>
          </a:prstGeom>
          <a:solidFill>
            <a:srgbClr val="FFFFFF"/>
          </a:solidFill>
          <a:ln w="19050">
            <a:solidFill>
              <a:srgbClr val="A51C30"/>
            </a:solidFill>
            <a:prstDash val="solid"/>
          </a:ln>
        </p:spPr>
      </p:sp>
      <p:sp>
        <p:nvSpPr>
          <p:cNvPr id="16" name="Shape 14"/>
          <p:cNvSpPr/>
          <p:nvPr/>
        </p:nvSpPr>
        <p:spPr>
          <a:xfrm>
            <a:off x="7773132" y="2066544"/>
            <a:ext cx="54315" cy="54315"/>
          </a:xfrm>
          <a:prstGeom prst="line">
            <a:avLst/>
          </a:prstGeom>
          <a:noFill/>
          <a:ln w="25400">
            <a:solidFill>
              <a:srgbClr val="A51C30"/>
            </a:solidFill>
            <a:prstDash val="solid"/>
          </a:ln>
        </p:spPr>
      </p:sp>
      <p:sp>
        <p:nvSpPr>
          <p:cNvPr id="17" name="Shape 15"/>
          <p:cNvSpPr/>
          <p:nvPr/>
        </p:nvSpPr>
        <p:spPr>
          <a:xfrm flipH="1">
            <a:off x="7827447" y="2008608"/>
            <a:ext cx="94147" cy="112252"/>
          </a:xfrm>
          <a:prstGeom prst="line">
            <a:avLst/>
          </a:prstGeom>
          <a:noFill/>
          <a:ln w="25400">
            <a:solidFill>
              <a:srgbClr val="A51C30"/>
            </a:solidFill>
            <a:prstDash val="solid"/>
          </a:ln>
        </p:spPr>
      </p:sp>
      <p:sp>
        <p:nvSpPr>
          <p:cNvPr id="18" name="Text 16"/>
          <p:cNvSpPr/>
          <p:nvPr/>
        </p:nvSpPr>
        <p:spPr>
          <a:xfrm>
            <a:off x="8183880" y="1737360"/>
            <a:ext cx="3413455"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Slide-level outcome only</a:t>
            </a:r>
            <a:endParaRPr lang="en-US" sz="1600" dirty="0"/>
          </a:p>
        </p:txBody>
      </p:sp>
      <p:sp>
        <p:nvSpPr>
          <p:cNvPr id="19" name="Shape 17"/>
          <p:cNvSpPr/>
          <p:nvPr/>
        </p:nvSpPr>
        <p:spPr>
          <a:xfrm>
            <a:off x="548640" y="2395728"/>
            <a:ext cx="11094415" cy="0"/>
          </a:xfrm>
          <a:prstGeom prst="line">
            <a:avLst/>
          </a:prstGeom>
          <a:noFill/>
          <a:ln w="12700">
            <a:solidFill>
              <a:srgbClr val="D9D9D9"/>
            </a:solidFill>
            <a:prstDash val="solid"/>
          </a:ln>
        </p:spPr>
      </p:sp>
      <p:sp>
        <p:nvSpPr>
          <p:cNvPr id="20" name="Text 18"/>
          <p:cNvSpPr/>
          <p:nvPr/>
        </p:nvSpPr>
        <p:spPr>
          <a:xfrm>
            <a:off x="548640" y="2395728"/>
            <a:ext cx="2377440" cy="658368"/>
          </a:xfrm>
          <a:prstGeom prst="rect">
            <a:avLst/>
          </a:prstGeom>
          <a:noFill/>
          <a:ln/>
        </p:spPr>
        <p:txBody>
          <a:bodyPr wrap="square" lIns="0" tIns="0" rIns="0" bIns="0" rtlCol="0" anchor="ctr"/>
          <a:lstStyle/>
          <a:p>
            <a:pPr algn="l" indent="0" marL="0">
              <a:buNone/>
            </a:pPr>
            <a:r>
              <a:rPr lang="en-US" sz="1600" b="1" dirty="0">
                <a:solidFill>
                  <a:srgbClr val="595959"/>
                </a:solidFill>
                <a:latin typeface="Arial" pitchFamily="34" charset="0"/>
                <a:ea typeface="Arial" pitchFamily="34" charset="-122"/>
                <a:cs typeface="Arial" pitchFamily="34" charset="-120"/>
              </a:rPr>
              <a:t>Spatial context</a:t>
            </a:r>
            <a:endParaRPr lang="en-US" sz="1600" dirty="0"/>
          </a:p>
        </p:txBody>
      </p:sp>
      <p:sp>
        <p:nvSpPr>
          <p:cNvPr id="21" name="Shape 19"/>
          <p:cNvSpPr/>
          <p:nvPr/>
        </p:nvSpPr>
        <p:spPr>
          <a:xfrm>
            <a:off x="3291840" y="2560320"/>
            <a:ext cx="329184" cy="329184"/>
          </a:xfrm>
          <a:prstGeom prst="ellipse">
            <a:avLst/>
          </a:prstGeom>
          <a:solidFill>
            <a:srgbClr val="FFFFFF"/>
          </a:solidFill>
          <a:ln w="19050">
            <a:solidFill>
              <a:srgbClr val="7F7F7F"/>
            </a:solidFill>
            <a:prstDash val="solid"/>
          </a:ln>
        </p:spPr>
      </p:sp>
      <p:sp>
        <p:nvSpPr>
          <p:cNvPr id="22" name="Shape 20"/>
          <p:cNvSpPr/>
          <p:nvPr/>
        </p:nvSpPr>
        <p:spPr>
          <a:xfrm>
            <a:off x="3398496" y="2666976"/>
            <a:ext cx="115873" cy="115873"/>
          </a:xfrm>
          <a:prstGeom prst="line">
            <a:avLst/>
          </a:prstGeom>
          <a:noFill/>
          <a:ln w="25400">
            <a:solidFill>
              <a:srgbClr val="7F7F7F"/>
            </a:solidFill>
            <a:prstDash val="solid"/>
          </a:ln>
        </p:spPr>
      </p:sp>
      <p:sp>
        <p:nvSpPr>
          <p:cNvPr id="23" name="Shape 21"/>
          <p:cNvSpPr/>
          <p:nvPr/>
        </p:nvSpPr>
        <p:spPr>
          <a:xfrm flipH="1">
            <a:off x="3398496" y="2666976"/>
            <a:ext cx="115873" cy="115873"/>
          </a:xfrm>
          <a:prstGeom prst="line">
            <a:avLst/>
          </a:prstGeom>
          <a:noFill/>
          <a:ln w="25400">
            <a:solidFill>
              <a:srgbClr val="7F7F7F"/>
            </a:solidFill>
            <a:prstDash val="solid"/>
          </a:ln>
        </p:spPr>
      </p:sp>
      <p:sp>
        <p:nvSpPr>
          <p:cNvPr id="24" name="Text 22"/>
          <p:cNvSpPr/>
          <p:nvPr/>
        </p:nvSpPr>
        <p:spPr>
          <a:xfrm>
            <a:off x="3794760" y="2395728"/>
            <a:ext cx="3154680"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Tile features averaged</a:t>
            </a:r>
            <a:endParaRPr lang="en-US" sz="1600" dirty="0"/>
          </a:p>
        </p:txBody>
      </p:sp>
      <p:sp>
        <p:nvSpPr>
          <p:cNvPr id="25" name="Shape 23"/>
          <p:cNvSpPr/>
          <p:nvPr/>
        </p:nvSpPr>
        <p:spPr>
          <a:xfrm>
            <a:off x="7680960" y="2560320"/>
            <a:ext cx="329184" cy="329184"/>
          </a:xfrm>
          <a:prstGeom prst="ellipse">
            <a:avLst/>
          </a:prstGeom>
          <a:solidFill>
            <a:srgbClr val="FFFFFF"/>
          </a:solidFill>
          <a:ln w="19050">
            <a:solidFill>
              <a:srgbClr val="A51C30"/>
            </a:solidFill>
            <a:prstDash val="solid"/>
          </a:ln>
        </p:spPr>
      </p:sp>
      <p:sp>
        <p:nvSpPr>
          <p:cNvPr id="26" name="Shape 24"/>
          <p:cNvSpPr/>
          <p:nvPr/>
        </p:nvSpPr>
        <p:spPr>
          <a:xfrm>
            <a:off x="7773132" y="2724912"/>
            <a:ext cx="54315" cy="54315"/>
          </a:xfrm>
          <a:prstGeom prst="line">
            <a:avLst/>
          </a:prstGeom>
          <a:noFill/>
          <a:ln w="25400">
            <a:solidFill>
              <a:srgbClr val="A51C30"/>
            </a:solidFill>
            <a:prstDash val="solid"/>
          </a:ln>
        </p:spPr>
      </p:sp>
      <p:sp>
        <p:nvSpPr>
          <p:cNvPr id="27" name="Shape 25"/>
          <p:cNvSpPr/>
          <p:nvPr/>
        </p:nvSpPr>
        <p:spPr>
          <a:xfrm flipH="1">
            <a:off x="7827447" y="2666976"/>
            <a:ext cx="94147" cy="112252"/>
          </a:xfrm>
          <a:prstGeom prst="line">
            <a:avLst/>
          </a:prstGeom>
          <a:noFill/>
          <a:ln w="25400">
            <a:solidFill>
              <a:srgbClr val="A51C30"/>
            </a:solidFill>
            <a:prstDash val="solid"/>
          </a:ln>
        </p:spPr>
      </p:sp>
      <p:sp>
        <p:nvSpPr>
          <p:cNvPr id="28" name="Text 26"/>
          <p:cNvSpPr/>
          <p:nvPr/>
        </p:nvSpPr>
        <p:spPr>
          <a:xfrm>
            <a:off x="8183880" y="2395728"/>
            <a:ext cx="3413455"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Cell graph keeps neighbours</a:t>
            </a:r>
            <a:endParaRPr lang="en-US" sz="1600" dirty="0"/>
          </a:p>
        </p:txBody>
      </p:sp>
      <p:sp>
        <p:nvSpPr>
          <p:cNvPr id="29" name="Shape 27"/>
          <p:cNvSpPr/>
          <p:nvPr/>
        </p:nvSpPr>
        <p:spPr>
          <a:xfrm>
            <a:off x="548640" y="3054096"/>
            <a:ext cx="11094415" cy="0"/>
          </a:xfrm>
          <a:prstGeom prst="line">
            <a:avLst/>
          </a:prstGeom>
          <a:noFill/>
          <a:ln w="12700">
            <a:solidFill>
              <a:srgbClr val="D9D9D9"/>
            </a:solidFill>
            <a:prstDash val="solid"/>
          </a:ln>
        </p:spPr>
      </p:sp>
      <p:sp>
        <p:nvSpPr>
          <p:cNvPr id="30" name="Text 28"/>
          <p:cNvSpPr/>
          <p:nvPr/>
        </p:nvSpPr>
        <p:spPr>
          <a:xfrm>
            <a:off x="548640" y="3054096"/>
            <a:ext cx="2377440" cy="658368"/>
          </a:xfrm>
          <a:prstGeom prst="rect">
            <a:avLst/>
          </a:prstGeom>
          <a:noFill/>
          <a:ln/>
        </p:spPr>
        <p:txBody>
          <a:bodyPr wrap="square" lIns="0" tIns="0" rIns="0" bIns="0" rtlCol="0" anchor="ctr"/>
          <a:lstStyle/>
          <a:p>
            <a:pPr algn="l" indent="0" marL="0">
              <a:buNone/>
            </a:pPr>
            <a:r>
              <a:rPr lang="en-US" sz="1600" b="1" dirty="0">
                <a:solidFill>
                  <a:srgbClr val="595959"/>
                </a:solidFill>
                <a:latin typeface="Arial" pitchFamily="34" charset="0"/>
                <a:ea typeface="Arial" pitchFamily="34" charset="-122"/>
                <a:cs typeface="Arial" pitchFamily="34" charset="-120"/>
              </a:rPr>
              <a:t>Modalities</a:t>
            </a:r>
            <a:endParaRPr lang="en-US" sz="1600" dirty="0"/>
          </a:p>
        </p:txBody>
      </p:sp>
      <p:sp>
        <p:nvSpPr>
          <p:cNvPr id="31" name="Shape 29"/>
          <p:cNvSpPr/>
          <p:nvPr/>
        </p:nvSpPr>
        <p:spPr>
          <a:xfrm>
            <a:off x="3291840" y="3218688"/>
            <a:ext cx="329184" cy="329184"/>
          </a:xfrm>
          <a:prstGeom prst="ellipse">
            <a:avLst/>
          </a:prstGeom>
          <a:solidFill>
            <a:srgbClr val="FFFFFF"/>
          </a:solidFill>
          <a:ln w="19050">
            <a:solidFill>
              <a:srgbClr val="7F7F7F"/>
            </a:solidFill>
            <a:prstDash val="solid"/>
          </a:ln>
        </p:spPr>
      </p:sp>
      <p:sp>
        <p:nvSpPr>
          <p:cNvPr id="32" name="Shape 30"/>
          <p:cNvSpPr/>
          <p:nvPr/>
        </p:nvSpPr>
        <p:spPr>
          <a:xfrm>
            <a:off x="3398496" y="3325344"/>
            <a:ext cx="115873" cy="115873"/>
          </a:xfrm>
          <a:prstGeom prst="line">
            <a:avLst/>
          </a:prstGeom>
          <a:noFill/>
          <a:ln w="25400">
            <a:solidFill>
              <a:srgbClr val="7F7F7F"/>
            </a:solidFill>
            <a:prstDash val="solid"/>
          </a:ln>
        </p:spPr>
      </p:sp>
      <p:sp>
        <p:nvSpPr>
          <p:cNvPr id="33" name="Shape 31"/>
          <p:cNvSpPr/>
          <p:nvPr/>
        </p:nvSpPr>
        <p:spPr>
          <a:xfrm flipH="1">
            <a:off x="3398496" y="3325344"/>
            <a:ext cx="115873" cy="115873"/>
          </a:xfrm>
          <a:prstGeom prst="line">
            <a:avLst/>
          </a:prstGeom>
          <a:noFill/>
          <a:ln w="25400">
            <a:solidFill>
              <a:srgbClr val="7F7F7F"/>
            </a:solidFill>
            <a:prstDash val="solid"/>
          </a:ln>
        </p:spPr>
      </p:sp>
      <p:sp>
        <p:nvSpPr>
          <p:cNvPr id="34" name="Text 32"/>
          <p:cNvSpPr/>
          <p:nvPr/>
        </p:nvSpPr>
        <p:spPr>
          <a:xfrm>
            <a:off x="3794760" y="3054096"/>
            <a:ext cx="3154680"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H&amp;E only</a:t>
            </a:r>
            <a:endParaRPr lang="en-US" sz="1600" dirty="0"/>
          </a:p>
        </p:txBody>
      </p:sp>
      <p:sp>
        <p:nvSpPr>
          <p:cNvPr id="35" name="Shape 33"/>
          <p:cNvSpPr/>
          <p:nvPr/>
        </p:nvSpPr>
        <p:spPr>
          <a:xfrm>
            <a:off x="7680960" y="3218688"/>
            <a:ext cx="329184" cy="329184"/>
          </a:xfrm>
          <a:prstGeom prst="ellipse">
            <a:avLst/>
          </a:prstGeom>
          <a:solidFill>
            <a:srgbClr val="FFFFFF"/>
          </a:solidFill>
          <a:ln w="19050">
            <a:solidFill>
              <a:srgbClr val="A51C30"/>
            </a:solidFill>
            <a:prstDash val="solid"/>
          </a:ln>
        </p:spPr>
      </p:sp>
      <p:sp>
        <p:nvSpPr>
          <p:cNvPr id="36" name="Shape 34"/>
          <p:cNvSpPr/>
          <p:nvPr/>
        </p:nvSpPr>
        <p:spPr>
          <a:xfrm>
            <a:off x="7773132" y="3383280"/>
            <a:ext cx="54315" cy="54315"/>
          </a:xfrm>
          <a:prstGeom prst="line">
            <a:avLst/>
          </a:prstGeom>
          <a:noFill/>
          <a:ln w="25400">
            <a:solidFill>
              <a:srgbClr val="A51C30"/>
            </a:solidFill>
            <a:prstDash val="solid"/>
          </a:ln>
        </p:spPr>
      </p:sp>
      <p:sp>
        <p:nvSpPr>
          <p:cNvPr id="37" name="Shape 35"/>
          <p:cNvSpPr/>
          <p:nvPr/>
        </p:nvSpPr>
        <p:spPr>
          <a:xfrm flipH="1">
            <a:off x="7827447" y="3325344"/>
            <a:ext cx="94147" cy="112252"/>
          </a:xfrm>
          <a:prstGeom prst="line">
            <a:avLst/>
          </a:prstGeom>
          <a:noFill/>
          <a:ln w="25400">
            <a:solidFill>
              <a:srgbClr val="A51C30"/>
            </a:solidFill>
            <a:prstDash val="solid"/>
          </a:ln>
        </p:spPr>
      </p:sp>
      <p:sp>
        <p:nvSpPr>
          <p:cNvPr id="38" name="Text 36"/>
          <p:cNvSpPr/>
          <p:nvPr/>
        </p:nvSpPr>
        <p:spPr>
          <a:xfrm>
            <a:off x="8183880" y="3054096"/>
            <a:ext cx="3413455"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H&amp;E, multiplex and clinical</a:t>
            </a:r>
            <a:endParaRPr lang="en-US" sz="1600" dirty="0"/>
          </a:p>
        </p:txBody>
      </p:sp>
      <p:sp>
        <p:nvSpPr>
          <p:cNvPr id="39" name="Shape 37"/>
          <p:cNvSpPr/>
          <p:nvPr/>
        </p:nvSpPr>
        <p:spPr>
          <a:xfrm>
            <a:off x="548640" y="3712464"/>
            <a:ext cx="11094415" cy="0"/>
          </a:xfrm>
          <a:prstGeom prst="line">
            <a:avLst/>
          </a:prstGeom>
          <a:noFill/>
          <a:ln w="12700">
            <a:solidFill>
              <a:srgbClr val="D9D9D9"/>
            </a:solidFill>
            <a:prstDash val="solid"/>
          </a:ln>
        </p:spPr>
      </p:sp>
      <p:sp>
        <p:nvSpPr>
          <p:cNvPr id="40" name="Text 38"/>
          <p:cNvSpPr/>
          <p:nvPr/>
        </p:nvSpPr>
        <p:spPr>
          <a:xfrm>
            <a:off x="548640" y="3712464"/>
            <a:ext cx="2377440" cy="658368"/>
          </a:xfrm>
          <a:prstGeom prst="rect">
            <a:avLst/>
          </a:prstGeom>
          <a:noFill/>
          <a:ln/>
        </p:spPr>
        <p:txBody>
          <a:bodyPr wrap="square" lIns="0" tIns="0" rIns="0" bIns="0" rtlCol="0" anchor="ctr"/>
          <a:lstStyle/>
          <a:p>
            <a:pPr algn="l" indent="0" marL="0">
              <a:buNone/>
            </a:pPr>
            <a:r>
              <a:rPr lang="en-US" sz="1600" b="1" dirty="0">
                <a:solidFill>
                  <a:srgbClr val="595959"/>
                </a:solidFill>
                <a:latin typeface="Arial" pitchFamily="34" charset="0"/>
                <a:ea typeface="Arial" pitchFamily="34" charset="-122"/>
                <a:cs typeface="Arial" pitchFamily="34" charset="-120"/>
              </a:rPr>
              <a:t>Validation</a:t>
            </a:r>
            <a:endParaRPr lang="en-US" sz="1600" dirty="0"/>
          </a:p>
        </p:txBody>
      </p:sp>
      <p:sp>
        <p:nvSpPr>
          <p:cNvPr id="41" name="Shape 39"/>
          <p:cNvSpPr/>
          <p:nvPr/>
        </p:nvSpPr>
        <p:spPr>
          <a:xfrm>
            <a:off x="3291840" y="3877056"/>
            <a:ext cx="329184" cy="329184"/>
          </a:xfrm>
          <a:prstGeom prst="ellipse">
            <a:avLst/>
          </a:prstGeom>
          <a:solidFill>
            <a:srgbClr val="FFFFFF"/>
          </a:solidFill>
          <a:ln w="19050">
            <a:solidFill>
              <a:srgbClr val="A51C30"/>
            </a:solidFill>
            <a:prstDash val="solid"/>
          </a:ln>
        </p:spPr>
      </p:sp>
      <p:sp>
        <p:nvSpPr>
          <p:cNvPr id="42" name="Shape 40"/>
          <p:cNvSpPr/>
          <p:nvPr/>
        </p:nvSpPr>
        <p:spPr>
          <a:xfrm>
            <a:off x="3384012" y="4041648"/>
            <a:ext cx="54315" cy="54315"/>
          </a:xfrm>
          <a:prstGeom prst="line">
            <a:avLst/>
          </a:prstGeom>
          <a:noFill/>
          <a:ln w="25400">
            <a:solidFill>
              <a:srgbClr val="A51C30"/>
            </a:solidFill>
            <a:prstDash val="solid"/>
          </a:ln>
        </p:spPr>
      </p:sp>
      <p:sp>
        <p:nvSpPr>
          <p:cNvPr id="43" name="Shape 41"/>
          <p:cNvSpPr/>
          <p:nvPr/>
        </p:nvSpPr>
        <p:spPr>
          <a:xfrm flipH="1">
            <a:off x="3438327" y="3983712"/>
            <a:ext cx="94147" cy="112252"/>
          </a:xfrm>
          <a:prstGeom prst="line">
            <a:avLst/>
          </a:prstGeom>
          <a:noFill/>
          <a:ln w="25400">
            <a:solidFill>
              <a:srgbClr val="A51C30"/>
            </a:solidFill>
            <a:prstDash val="solid"/>
          </a:ln>
        </p:spPr>
      </p:sp>
      <p:sp>
        <p:nvSpPr>
          <p:cNvPr id="44" name="Text 42"/>
          <p:cNvSpPr/>
          <p:nvPr/>
        </p:nvSpPr>
        <p:spPr>
          <a:xfrm>
            <a:off x="3794760" y="3712464"/>
            <a:ext cx="3154680"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Often external cohorts</a:t>
            </a:r>
            <a:endParaRPr lang="en-US" sz="1600" dirty="0"/>
          </a:p>
        </p:txBody>
      </p:sp>
      <p:sp>
        <p:nvSpPr>
          <p:cNvPr id="45" name="Shape 43"/>
          <p:cNvSpPr/>
          <p:nvPr/>
        </p:nvSpPr>
        <p:spPr>
          <a:xfrm>
            <a:off x="7680960" y="3877056"/>
            <a:ext cx="329184" cy="329184"/>
          </a:xfrm>
          <a:prstGeom prst="ellipse">
            <a:avLst/>
          </a:prstGeom>
          <a:solidFill>
            <a:srgbClr val="FFFFFF"/>
          </a:solidFill>
          <a:ln w="19050">
            <a:solidFill>
              <a:srgbClr val="7F7F7F"/>
            </a:solidFill>
            <a:prstDash val="solid"/>
          </a:ln>
        </p:spPr>
      </p:sp>
      <p:sp>
        <p:nvSpPr>
          <p:cNvPr id="46" name="Shape 44"/>
          <p:cNvSpPr/>
          <p:nvPr/>
        </p:nvSpPr>
        <p:spPr>
          <a:xfrm>
            <a:off x="7773132" y="4041648"/>
            <a:ext cx="144841" cy="0"/>
          </a:xfrm>
          <a:prstGeom prst="line">
            <a:avLst/>
          </a:prstGeom>
          <a:noFill/>
          <a:ln w="25400">
            <a:solidFill>
              <a:srgbClr val="7F7F7F"/>
            </a:solidFill>
            <a:prstDash val="solid"/>
          </a:ln>
        </p:spPr>
      </p:sp>
      <p:sp>
        <p:nvSpPr>
          <p:cNvPr id="47" name="Text 45"/>
          <p:cNvSpPr/>
          <p:nvPr/>
        </p:nvSpPr>
        <p:spPr>
          <a:xfrm>
            <a:off x="8183880" y="3712464"/>
            <a:ext cx="3413455"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Internal 5-fold CV so far</a:t>
            </a:r>
            <a:endParaRPr lang="en-US" sz="1600" dirty="0"/>
          </a:p>
        </p:txBody>
      </p:sp>
      <p:sp>
        <p:nvSpPr>
          <p:cNvPr id="48" name="Shape 46"/>
          <p:cNvSpPr/>
          <p:nvPr/>
        </p:nvSpPr>
        <p:spPr>
          <a:xfrm>
            <a:off x="548640" y="4370832"/>
            <a:ext cx="11094415" cy="0"/>
          </a:xfrm>
          <a:prstGeom prst="line">
            <a:avLst/>
          </a:prstGeom>
          <a:noFill/>
          <a:ln w="12700">
            <a:solidFill>
              <a:srgbClr val="D9D9D9"/>
            </a:solidFill>
            <a:prstDash val="solid"/>
          </a:ln>
        </p:spPr>
      </p:sp>
      <p:sp>
        <p:nvSpPr>
          <p:cNvPr id="49" name="Text 47"/>
          <p:cNvSpPr/>
          <p:nvPr/>
        </p:nvSpPr>
        <p:spPr>
          <a:xfrm>
            <a:off x="548640" y="4370832"/>
            <a:ext cx="2377440" cy="658368"/>
          </a:xfrm>
          <a:prstGeom prst="rect">
            <a:avLst/>
          </a:prstGeom>
          <a:noFill/>
          <a:ln/>
        </p:spPr>
        <p:txBody>
          <a:bodyPr wrap="square" lIns="0" tIns="0" rIns="0" bIns="0" rtlCol="0" anchor="ctr"/>
          <a:lstStyle/>
          <a:p>
            <a:pPr algn="l" indent="0" marL="0">
              <a:buNone/>
            </a:pPr>
            <a:r>
              <a:rPr lang="en-US" sz="1600" b="1" dirty="0">
                <a:solidFill>
                  <a:srgbClr val="595959"/>
                </a:solidFill>
                <a:latin typeface="Arial" pitchFamily="34" charset="0"/>
                <a:ea typeface="Arial" pitchFamily="34" charset="-122"/>
                <a:cs typeface="Arial" pitchFamily="34" charset="-120"/>
              </a:rPr>
              <a:t>Report</a:t>
            </a:r>
            <a:endParaRPr lang="en-US" sz="1600" dirty="0"/>
          </a:p>
        </p:txBody>
      </p:sp>
      <p:sp>
        <p:nvSpPr>
          <p:cNvPr id="50" name="Shape 48"/>
          <p:cNvSpPr/>
          <p:nvPr/>
        </p:nvSpPr>
        <p:spPr>
          <a:xfrm>
            <a:off x="3291840" y="4535424"/>
            <a:ext cx="329184" cy="329184"/>
          </a:xfrm>
          <a:prstGeom prst="ellipse">
            <a:avLst/>
          </a:prstGeom>
          <a:solidFill>
            <a:srgbClr val="FFFFFF"/>
          </a:solidFill>
          <a:ln w="19050">
            <a:solidFill>
              <a:srgbClr val="7F7F7F"/>
            </a:solidFill>
            <a:prstDash val="solid"/>
          </a:ln>
        </p:spPr>
      </p:sp>
      <p:sp>
        <p:nvSpPr>
          <p:cNvPr id="51" name="Shape 49"/>
          <p:cNvSpPr/>
          <p:nvPr/>
        </p:nvSpPr>
        <p:spPr>
          <a:xfrm>
            <a:off x="3398496" y="4642080"/>
            <a:ext cx="115873" cy="115873"/>
          </a:xfrm>
          <a:prstGeom prst="line">
            <a:avLst/>
          </a:prstGeom>
          <a:noFill/>
          <a:ln w="25400">
            <a:solidFill>
              <a:srgbClr val="7F7F7F"/>
            </a:solidFill>
            <a:prstDash val="solid"/>
          </a:ln>
        </p:spPr>
      </p:sp>
      <p:sp>
        <p:nvSpPr>
          <p:cNvPr id="52" name="Shape 50"/>
          <p:cNvSpPr/>
          <p:nvPr/>
        </p:nvSpPr>
        <p:spPr>
          <a:xfrm flipH="1">
            <a:off x="3398496" y="4642080"/>
            <a:ext cx="115873" cy="115873"/>
          </a:xfrm>
          <a:prstGeom prst="line">
            <a:avLst/>
          </a:prstGeom>
          <a:noFill/>
          <a:ln w="25400">
            <a:solidFill>
              <a:srgbClr val="7F7F7F"/>
            </a:solidFill>
            <a:prstDash val="solid"/>
          </a:ln>
        </p:spPr>
      </p:sp>
      <p:sp>
        <p:nvSpPr>
          <p:cNvPr id="53" name="Text 51"/>
          <p:cNvSpPr/>
          <p:nvPr/>
        </p:nvSpPr>
        <p:spPr>
          <a:xfrm>
            <a:off x="3794760" y="4370832"/>
            <a:ext cx="3154680"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Written by hand</a:t>
            </a:r>
            <a:endParaRPr lang="en-US" sz="1600" dirty="0"/>
          </a:p>
        </p:txBody>
      </p:sp>
      <p:sp>
        <p:nvSpPr>
          <p:cNvPr id="54" name="Shape 52"/>
          <p:cNvSpPr/>
          <p:nvPr/>
        </p:nvSpPr>
        <p:spPr>
          <a:xfrm>
            <a:off x="7680960" y="4535424"/>
            <a:ext cx="329184" cy="329184"/>
          </a:xfrm>
          <a:prstGeom prst="ellipse">
            <a:avLst/>
          </a:prstGeom>
          <a:solidFill>
            <a:srgbClr val="FFFFFF"/>
          </a:solidFill>
          <a:ln w="19050">
            <a:solidFill>
              <a:srgbClr val="A51C30"/>
            </a:solidFill>
            <a:prstDash val="solid"/>
          </a:ln>
        </p:spPr>
      </p:sp>
      <p:sp>
        <p:nvSpPr>
          <p:cNvPr id="55" name="Shape 53"/>
          <p:cNvSpPr/>
          <p:nvPr/>
        </p:nvSpPr>
        <p:spPr>
          <a:xfrm>
            <a:off x="7773132" y="4700016"/>
            <a:ext cx="54315" cy="54315"/>
          </a:xfrm>
          <a:prstGeom prst="line">
            <a:avLst/>
          </a:prstGeom>
          <a:noFill/>
          <a:ln w="25400">
            <a:solidFill>
              <a:srgbClr val="A51C30"/>
            </a:solidFill>
            <a:prstDash val="solid"/>
          </a:ln>
        </p:spPr>
      </p:sp>
      <p:sp>
        <p:nvSpPr>
          <p:cNvPr id="56" name="Shape 54"/>
          <p:cNvSpPr/>
          <p:nvPr/>
        </p:nvSpPr>
        <p:spPr>
          <a:xfrm flipH="1">
            <a:off x="7827447" y="4642080"/>
            <a:ext cx="94147" cy="112252"/>
          </a:xfrm>
          <a:prstGeom prst="line">
            <a:avLst/>
          </a:prstGeom>
          <a:noFill/>
          <a:ln w="25400">
            <a:solidFill>
              <a:srgbClr val="A51C30"/>
            </a:solidFill>
            <a:prstDash val="solid"/>
          </a:ln>
        </p:spPr>
      </p:sp>
      <p:sp>
        <p:nvSpPr>
          <p:cNvPr id="57" name="Text 55"/>
          <p:cNvSpPr/>
          <p:nvPr/>
        </p:nvSpPr>
        <p:spPr>
          <a:xfrm>
            <a:off x="8183880" y="4370832"/>
            <a:ext cx="3413455" cy="658368"/>
          </a:xfrm>
          <a:prstGeom prst="rect">
            <a:avLst/>
          </a:prstGeom>
          <a:noFill/>
          <a:ln/>
        </p:spPr>
        <p:txBody>
          <a:bodyPr wrap="square" lIns="0" tIns="0" rIns="0" bIns="0" rtlCol="0" anchor="ctr"/>
          <a:lstStyle/>
          <a:p>
            <a:pPr algn="l" indent="0" marL="0">
              <a:buNone/>
            </a:pPr>
            <a:r>
              <a:rPr lang="en-US" sz="1600" dirty="0">
                <a:solidFill>
                  <a:srgbClr val="222222"/>
                </a:solidFill>
                <a:latin typeface="Arial" pitchFamily="34" charset="0"/>
                <a:ea typeface="Arial" pitchFamily="34" charset="-122"/>
                <a:cs typeface="Arial" pitchFamily="34" charset="-120"/>
              </a:rPr>
              <a:t>Agent drafts, human signs off</a:t>
            </a:r>
            <a:endParaRPr lang="en-US" sz="1600" dirty="0"/>
          </a:p>
        </p:txBody>
      </p:sp>
      <p:sp>
        <p:nvSpPr>
          <p:cNvPr id="58" name="Shape 56"/>
          <p:cNvSpPr/>
          <p:nvPr/>
        </p:nvSpPr>
        <p:spPr>
          <a:xfrm>
            <a:off x="548640" y="5029200"/>
            <a:ext cx="11094415" cy="0"/>
          </a:xfrm>
          <a:prstGeom prst="line">
            <a:avLst/>
          </a:prstGeom>
          <a:noFill/>
          <a:ln w="12700">
            <a:solidFill>
              <a:srgbClr val="595959"/>
            </a:solidFill>
            <a:prstDash val="solid"/>
          </a:ln>
        </p:spPr>
      </p:sp>
      <p:sp>
        <p:nvSpPr>
          <p:cNvPr id="59" name="Text 57"/>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This work trades external validation for richer inputs; the gap is listed under limitations.</a:t>
            </a:r>
            <a:endParaRPr lang="en-US" sz="1800" dirty="0"/>
          </a:p>
        </p:txBody>
      </p:sp>
      <p:sp>
        <p:nvSpPr>
          <p:cNvPr id="60" name="Text 58"/>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CV: </a:t>
            </a:r>
            <a:pPr algn="l" indent="0" marL="0">
              <a:buNone/>
            </a:pPr>
            <a:r>
              <a:rPr lang="en-US" sz="950" dirty="0">
                <a:solidFill>
                  <a:srgbClr val="7F7F7F"/>
                </a:solidFill>
                <a:latin typeface="Arial" pitchFamily="34" charset="0"/>
                <a:ea typeface="Arial" pitchFamily="34" charset="-122"/>
                <a:cs typeface="Arial" pitchFamily="34" charset="-120"/>
              </a:rPr>
              <a:t>cross-validation.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Limitations</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11</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limitations</a:t>
            </a:r>
            <a:endParaRPr lang="en-US" sz="1200" dirty="0"/>
          </a:p>
        </p:txBody>
      </p:sp>
      <p:sp>
        <p:nvSpPr>
          <p:cNvPr id="6" name="Text 4"/>
          <p:cNvSpPr/>
          <p:nvPr/>
        </p:nvSpPr>
        <p:spPr>
          <a:xfrm>
            <a:off x="1463040" y="1188720"/>
            <a:ext cx="4572000" cy="320040"/>
          </a:xfrm>
          <a:prstGeom prst="rect">
            <a:avLst/>
          </a:prstGeom>
          <a:noFill/>
          <a:ln/>
        </p:spPr>
        <p:txBody>
          <a:bodyPr wrap="square" lIns="0" tIns="0" rIns="0" bIns="0" rtlCol="0" anchor="t"/>
          <a:lstStyle/>
          <a:p>
            <a:pPr algn="l" indent="0" marL="0">
              <a:buNone/>
            </a:pPr>
            <a:r>
              <a:rPr lang="en-US" sz="1200" b="1" spc="200" kern="0" dirty="0">
                <a:solidFill>
                  <a:srgbClr val="7F7F7F"/>
                </a:solidFill>
                <a:latin typeface="Arial" pitchFamily="34" charset="0"/>
                <a:ea typeface="Arial" pitchFamily="34" charset="-122"/>
                <a:cs typeface="Arial" pitchFamily="34" charset="-120"/>
              </a:rPr>
              <a:t>LIMITATION</a:t>
            </a:r>
            <a:endParaRPr lang="en-US" sz="1200" dirty="0"/>
          </a:p>
        </p:txBody>
      </p:sp>
      <p:sp>
        <p:nvSpPr>
          <p:cNvPr id="7" name="Text 5"/>
          <p:cNvSpPr/>
          <p:nvPr/>
        </p:nvSpPr>
        <p:spPr>
          <a:xfrm>
            <a:off x="6309360" y="1188720"/>
            <a:ext cx="5303520" cy="320040"/>
          </a:xfrm>
          <a:prstGeom prst="rect">
            <a:avLst/>
          </a:prstGeom>
          <a:noFill/>
          <a:ln/>
        </p:spPr>
        <p:txBody>
          <a:bodyPr wrap="square" lIns="0" tIns="0" rIns="0" bIns="0" rtlCol="0" anchor="t"/>
          <a:lstStyle/>
          <a:p>
            <a:pPr algn="l" indent="0" marL="0">
              <a:buNone/>
            </a:pPr>
            <a:r>
              <a:rPr lang="en-US" sz="1200" b="1" spc="200" kern="0" dirty="0">
                <a:solidFill>
                  <a:srgbClr val="7F7F7F"/>
                </a:solidFill>
                <a:latin typeface="Arial" pitchFamily="34" charset="0"/>
                <a:ea typeface="Arial" pitchFamily="34" charset="-122"/>
                <a:cs typeface="Arial" pitchFamily="34" charset="-120"/>
              </a:rPr>
              <a:t>WHAT IT AFFECTS</a:t>
            </a:r>
            <a:endParaRPr lang="en-US" sz="1200" dirty="0"/>
          </a:p>
        </p:txBody>
      </p:sp>
      <p:sp>
        <p:nvSpPr>
          <p:cNvPr id="8" name="Shape 6"/>
          <p:cNvSpPr/>
          <p:nvPr/>
        </p:nvSpPr>
        <p:spPr>
          <a:xfrm>
            <a:off x="548640" y="1600200"/>
            <a:ext cx="11094415" cy="0"/>
          </a:xfrm>
          <a:prstGeom prst="line">
            <a:avLst/>
          </a:prstGeom>
          <a:noFill/>
          <a:ln w="12700">
            <a:solidFill>
              <a:srgbClr val="D9D9D9"/>
            </a:solidFill>
            <a:prstDash val="solid"/>
          </a:ln>
        </p:spPr>
      </p:sp>
      <p:sp>
        <p:nvSpPr>
          <p:cNvPr id="9" name="Text 7"/>
          <p:cNvSpPr/>
          <p:nvPr/>
        </p:nvSpPr>
        <p:spPr>
          <a:xfrm>
            <a:off x="548640" y="1600200"/>
            <a:ext cx="731520" cy="914400"/>
          </a:xfrm>
          <a:prstGeom prst="rect">
            <a:avLst/>
          </a:prstGeom>
          <a:noFill/>
          <a:ln/>
        </p:spPr>
        <p:txBody>
          <a:bodyPr wrap="square" lIns="0" tIns="0" rIns="0" bIns="0" rtlCol="0" anchor="ctr"/>
          <a:lstStyle/>
          <a:p>
            <a:pPr algn="l" indent="0" marL="0">
              <a:buNone/>
            </a:pPr>
            <a:r>
              <a:rPr lang="en-US" sz="2800" b="1" dirty="0">
                <a:solidFill>
                  <a:srgbClr val="7F7F7F"/>
                </a:solidFill>
                <a:latin typeface="Arial" pitchFamily="34" charset="0"/>
                <a:ea typeface="Arial" pitchFamily="34" charset="-122"/>
                <a:cs typeface="Arial" pitchFamily="34" charset="-120"/>
              </a:rPr>
              <a:t>1</a:t>
            </a:r>
            <a:endParaRPr lang="en-US" sz="2800" dirty="0"/>
          </a:p>
        </p:txBody>
      </p:sp>
      <p:sp>
        <p:nvSpPr>
          <p:cNvPr id="10" name="Text 8"/>
          <p:cNvSpPr/>
          <p:nvPr/>
        </p:nvSpPr>
        <p:spPr>
          <a:xfrm>
            <a:off x="1463040" y="1600200"/>
            <a:ext cx="5120640" cy="914400"/>
          </a:xfrm>
          <a:prstGeom prst="rect">
            <a:avLst/>
          </a:prstGeom>
          <a:noFill/>
          <a:ln/>
        </p:spPr>
        <p:txBody>
          <a:bodyPr wrap="square" lIns="0" tIns="0" rIns="0" bIns="0" rtlCol="0" anchor="ctr"/>
          <a:lstStyle/>
          <a:p>
            <a:pPr algn="l" indent="0" marL="0">
              <a:buNone/>
            </a:pPr>
            <a:r>
              <a:rPr lang="en-US" sz="1800" b="1" dirty="0">
                <a:solidFill>
                  <a:srgbClr val="595959"/>
                </a:solidFill>
                <a:latin typeface="Arial" pitchFamily="34" charset="0"/>
                <a:ea typeface="Arial" pitchFamily="34" charset="-122"/>
                <a:cs typeface="Arial" pitchFamily="34" charset="-120"/>
              </a:rPr>
              <a:t>Single-centre cohort</a:t>
            </a:r>
            <a:endParaRPr lang="en-US" sz="1800" dirty="0"/>
          </a:p>
        </p:txBody>
      </p:sp>
      <p:sp>
        <p:nvSpPr>
          <p:cNvPr id="11" name="Text 9"/>
          <p:cNvSpPr/>
          <p:nvPr/>
        </p:nvSpPr>
        <p:spPr>
          <a:xfrm>
            <a:off x="6309360" y="1600200"/>
            <a:ext cx="5333695" cy="91440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Other scanners, stains and sites are untested</a:t>
            </a:r>
            <a:endParaRPr lang="en-US" sz="1600" dirty="0"/>
          </a:p>
        </p:txBody>
      </p:sp>
      <p:sp>
        <p:nvSpPr>
          <p:cNvPr id="12" name="Shape 10"/>
          <p:cNvSpPr/>
          <p:nvPr/>
        </p:nvSpPr>
        <p:spPr>
          <a:xfrm>
            <a:off x="548640" y="2514600"/>
            <a:ext cx="11094415" cy="0"/>
          </a:xfrm>
          <a:prstGeom prst="line">
            <a:avLst/>
          </a:prstGeom>
          <a:noFill/>
          <a:ln w="12700">
            <a:solidFill>
              <a:srgbClr val="D9D9D9"/>
            </a:solidFill>
            <a:prstDash val="solid"/>
          </a:ln>
        </p:spPr>
      </p:sp>
      <p:sp>
        <p:nvSpPr>
          <p:cNvPr id="13" name="Text 11"/>
          <p:cNvSpPr/>
          <p:nvPr/>
        </p:nvSpPr>
        <p:spPr>
          <a:xfrm>
            <a:off x="548640" y="2514600"/>
            <a:ext cx="731520" cy="914400"/>
          </a:xfrm>
          <a:prstGeom prst="rect">
            <a:avLst/>
          </a:prstGeom>
          <a:noFill/>
          <a:ln/>
        </p:spPr>
        <p:txBody>
          <a:bodyPr wrap="square" lIns="0" tIns="0" rIns="0" bIns="0" rtlCol="0" anchor="ctr"/>
          <a:lstStyle/>
          <a:p>
            <a:pPr algn="l" indent="0" marL="0">
              <a:buNone/>
            </a:pPr>
            <a:r>
              <a:rPr lang="en-US" sz="2800" b="1" dirty="0">
                <a:solidFill>
                  <a:srgbClr val="7F7F7F"/>
                </a:solidFill>
                <a:latin typeface="Arial" pitchFamily="34" charset="0"/>
                <a:ea typeface="Arial" pitchFamily="34" charset="-122"/>
                <a:cs typeface="Arial" pitchFamily="34" charset="-120"/>
              </a:rPr>
              <a:t>2</a:t>
            </a:r>
            <a:endParaRPr lang="en-US" sz="2800" dirty="0"/>
          </a:p>
        </p:txBody>
      </p:sp>
      <p:sp>
        <p:nvSpPr>
          <p:cNvPr id="14" name="Text 12"/>
          <p:cNvSpPr/>
          <p:nvPr/>
        </p:nvSpPr>
        <p:spPr>
          <a:xfrm>
            <a:off x="1463040" y="2514600"/>
            <a:ext cx="5120640" cy="914400"/>
          </a:xfrm>
          <a:prstGeom prst="rect">
            <a:avLst/>
          </a:prstGeom>
          <a:noFill/>
          <a:ln/>
        </p:spPr>
        <p:txBody>
          <a:bodyPr wrap="square" lIns="0" tIns="0" rIns="0" bIns="0" rtlCol="0" anchor="ctr"/>
          <a:lstStyle/>
          <a:p>
            <a:pPr algn="l" indent="0" marL="0">
              <a:buNone/>
            </a:pPr>
            <a:r>
              <a:rPr lang="en-US" sz="1800" b="1" dirty="0">
                <a:solidFill>
                  <a:srgbClr val="595959"/>
                </a:solidFill>
                <a:latin typeface="Arial" pitchFamily="34" charset="0"/>
                <a:ea typeface="Arial" pitchFamily="34" charset="-122"/>
                <a:cs typeface="Arial" pitchFamily="34" charset="-120"/>
              </a:rPr>
              <a:t>No external validation yet</a:t>
            </a:r>
            <a:endParaRPr lang="en-US" sz="1800" dirty="0"/>
          </a:p>
        </p:txBody>
      </p:sp>
      <p:sp>
        <p:nvSpPr>
          <p:cNvPr id="15" name="Text 13"/>
          <p:cNvSpPr/>
          <p:nvPr/>
        </p:nvSpPr>
        <p:spPr>
          <a:xfrm>
            <a:off x="6309360" y="2514600"/>
            <a:ext cx="5333695" cy="91440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Performance is cross-validated on one cohort</a:t>
            </a:r>
            <a:endParaRPr lang="en-US" sz="1600" dirty="0"/>
          </a:p>
        </p:txBody>
      </p:sp>
      <p:sp>
        <p:nvSpPr>
          <p:cNvPr id="16" name="Shape 14"/>
          <p:cNvSpPr/>
          <p:nvPr/>
        </p:nvSpPr>
        <p:spPr>
          <a:xfrm>
            <a:off x="548640" y="3429000"/>
            <a:ext cx="11094415" cy="0"/>
          </a:xfrm>
          <a:prstGeom prst="line">
            <a:avLst/>
          </a:prstGeom>
          <a:noFill/>
          <a:ln w="12700">
            <a:solidFill>
              <a:srgbClr val="D9D9D9"/>
            </a:solidFill>
            <a:prstDash val="solid"/>
          </a:ln>
        </p:spPr>
      </p:sp>
      <p:sp>
        <p:nvSpPr>
          <p:cNvPr id="17" name="Text 15"/>
          <p:cNvSpPr/>
          <p:nvPr/>
        </p:nvSpPr>
        <p:spPr>
          <a:xfrm>
            <a:off x="548640" y="3429000"/>
            <a:ext cx="731520" cy="914400"/>
          </a:xfrm>
          <a:prstGeom prst="rect">
            <a:avLst/>
          </a:prstGeom>
          <a:noFill/>
          <a:ln/>
        </p:spPr>
        <p:txBody>
          <a:bodyPr wrap="square" lIns="0" tIns="0" rIns="0" bIns="0" rtlCol="0" anchor="ctr"/>
          <a:lstStyle/>
          <a:p>
            <a:pPr algn="l" indent="0" marL="0">
              <a:buNone/>
            </a:pPr>
            <a:r>
              <a:rPr lang="en-US" sz="2800" b="1" dirty="0">
                <a:solidFill>
                  <a:srgbClr val="7F7F7F"/>
                </a:solidFill>
                <a:latin typeface="Arial" pitchFamily="34" charset="0"/>
                <a:ea typeface="Arial" pitchFamily="34" charset="-122"/>
                <a:cs typeface="Arial" pitchFamily="34" charset="-120"/>
              </a:rPr>
              <a:t>3</a:t>
            </a:r>
            <a:endParaRPr lang="en-US" sz="2800" dirty="0"/>
          </a:p>
        </p:txBody>
      </p:sp>
      <p:sp>
        <p:nvSpPr>
          <p:cNvPr id="18" name="Text 16"/>
          <p:cNvSpPr/>
          <p:nvPr/>
        </p:nvSpPr>
        <p:spPr>
          <a:xfrm>
            <a:off x="1463040" y="3429000"/>
            <a:ext cx="5120640" cy="914400"/>
          </a:xfrm>
          <a:prstGeom prst="rect">
            <a:avLst/>
          </a:prstGeom>
          <a:noFill/>
          <a:ln/>
        </p:spPr>
        <p:txBody>
          <a:bodyPr wrap="square" lIns="0" tIns="0" rIns="0" bIns="0" rtlCol="0" anchor="ctr"/>
          <a:lstStyle/>
          <a:p>
            <a:pPr algn="l" indent="0" marL="0">
              <a:buNone/>
            </a:pPr>
            <a:r>
              <a:rPr lang="en-US" sz="1800" b="1" dirty="0">
                <a:solidFill>
                  <a:srgbClr val="595959"/>
                </a:solidFill>
                <a:latin typeface="Arial" pitchFamily="34" charset="0"/>
                <a:ea typeface="Arial" pitchFamily="34" charset="-122"/>
                <a:cs typeface="Arial" pitchFamily="34" charset="-120"/>
              </a:rPr>
              <a:t>Multiplex data on a subset (n = XX)</a:t>
            </a:r>
            <a:endParaRPr lang="en-US" sz="1800" dirty="0"/>
          </a:p>
        </p:txBody>
      </p:sp>
      <p:sp>
        <p:nvSpPr>
          <p:cNvPr id="19" name="Text 17"/>
          <p:cNvSpPr/>
          <p:nvPr/>
        </p:nvSpPr>
        <p:spPr>
          <a:xfrm>
            <a:off x="6309360" y="3429000"/>
            <a:ext cx="5333695" cy="91440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Fusion model trained on fewer patients</a:t>
            </a:r>
            <a:endParaRPr lang="en-US" sz="1600" dirty="0"/>
          </a:p>
        </p:txBody>
      </p:sp>
      <p:sp>
        <p:nvSpPr>
          <p:cNvPr id="20" name="Shape 18"/>
          <p:cNvSpPr/>
          <p:nvPr/>
        </p:nvSpPr>
        <p:spPr>
          <a:xfrm>
            <a:off x="548640" y="4343400"/>
            <a:ext cx="11094415" cy="0"/>
          </a:xfrm>
          <a:prstGeom prst="line">
            <a:avLst/>
          </a:prstGeom>
          <a:noFill/>
          <a:ln w="12700">
            <a:solidFill>
              <a:srgbClr val="D9D9D9"/>
            </a:solidFill>
            <a:prstDash val="solid"/>
          </a:ln>
        </p:spPr>
      </p:sp>
      <p:sp>
        <p:nvSpPr>
          <p:cNvPr id="21" name="Text 19"/>
          <p:cNvSpPr/>
          <p:nvPr/>
        </p:nvSpPr>
        <p:spPr>
          <a:xfrm>
            <a:off x="548640" y="4343400"/>
            <a:ext cx="731520" cy="914400"/>
          </a:xfrm>
          <a:prstGeom prst="rect">
            <a:avLst/>
          </a:prstGeom>
          <a:noFill/>
          <a:ln/>
        </p:spPr>
        <p:txBody>
          <a:bodyPr wrap="square" lIns="0" tIns="0" rIns="0" bIns="0" rtlCol="0" anchor="ctr"/>
          <a:lstStyle/>
          <a:p>
            <a:pPr algn="l" indent="0" marL="0">
              <a:buNone/>
            </a:pPr>
            <a:r>
              <a:rPr lang="en-US" sz="2800" b="1" dirty="0">
                <a:solidFill>
                  <a:srgbClr val="7F7F7F"/>
                </a:solidFill>
                <a:latin typeface="Arial" pitchFamily="34" charset="0"/>
                <a:ea typeface="Arial" pitchFamily="34" charset="-122"/>
                <a:cs typeface="Arial" pitchFamily="34" charset="-120"/>
              </a:rPr>
              <a:t>4</a:t>
            </a:r>
            <a:endParaRPr lang="en-US" sz="2800" dirty="0"/>
          </a:p>
        </p:txBody>
      </p:sp>
      <p:sp>
        <p:nvSpPr>
          <p:cNvPr id="22" name="Text 20"/>
          <p:cNvSpPr/>
          <p:nvPr/>
        </p:nvSpPr>
        <p:spPr>
          <a:xfrm>
            <a:off x="1463040" y="4343400"/>
            <a:ext cx="5120640" cy="914400"/>
          </a:xfrm>
          <a:prstGeom prst="rect">
            <a:avLst/>
          </a:prstGeom>
          <a:noFill/>
          <a:ln/>
        </p:spPr>
        <p:txBody>
          <a:bodyPr wrap="square" lIns="0" tIns="0" rIns="0" bIns="0" rtlCol="0" anchor="ctr"/>
          <a:lstStyle/>
          <a:p>
            <a:pPr algn="l" indent="0" marL="0">
              <a:buNone/>
            </a:pPr>
            <a:r>
              <a:rPr lang="en-US" sz="1800" b="1" dirty="0">
                <a:solidFill>
                  <a:srgbClr val="595959"/>
                </a:solidFill>
                <a:latin typeface="Arial" pitchFamily="34" charset="0"/>
                <a:ea typeface="Arial" pitchFamily="34" charset="-122"/>
                <a:cs typeface="Arial" pitchFamily="34" charset="-120"/>
              </a:rPr>
              <a:t>Agent reports not yet graded</a:t>
            </a:r>
            <a:endParaRPr lang="en-US" sz="1800" dirty="0"/>
          </a:p>
        </p:txBody>
      </p:sp>
      <p:sp>
        <p:nvSpPr>
          <p:cNvPr id="23" name="Text 21"/>
          <p:cNvSpPr/>
          <p:nvPr/>
        </p:nvSpPr>
        <p:spPr>
          <a:xfrm>
            <a:off x="6309360" y="4343400"/>
            <a:ext cx="5333695" cy="91440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Draft accuracy unknown; drafts only</a:t>
            </a:r>
            <a:endParaRPr lang="en-US" sz="1600" dirty="0"/>
          </a:p>
        </p:txBody>
      </p:sp>
      <p:sp>
        <p:nvSpPr>
          <p:cNvPr id="24" name="Shape 22"/>
          <p:cNvSpPr/>
          <p:nvPr/>
        </p:nvSpPr>
        <p:spPr>
          <a:xfrm>
            <a:off x="548640" y="5257800"/>
            <a:ext cx="11094415" cy="0"/>
          </a:xfrm>
          <a:prstGeom prst="line">
            <a:avLst/>
          </a:prstGeom>
          <a:noFill/>
          <a:ln w="12700">
            <a:solidFill>
              <a:srgbClr val="D9D9D9"/>
            </a:solidFill>
            <a:prstDash val="solid"/>
          </a:ln>
        </p:spPr>
      </p:sp>
      <p:sp>
        <p:nvSpPr>
          <p:cNvPr id="25" name="Text 23"/>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These results are exploratory; an external cohort is needed before any clinical claim.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Summary</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12</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key takeaways</a:t>
            </a:r>
            <a:endParaRPr lang="en-US" sz="1200" dirty="0"/>
          </a:p>
        </p:txBody>
      </p:sp>
      <p:sp>
        <p:nvSpPr>
          <p:cNvPr id="6" name="Text 4"/>
          <p:cNvSpPr/>
          <p:nvPr/>
        </p:nvSpPr>
        <p:spPr>
          <a:xfrm>
            <a:off x="548640" y="1325880"/>
            <a:ext cx="914400" cy="1097280"/>
          </a:xfrm>
          <a:prstGeom prst="rect">
            <a:avLst/>
          </a:prstGeom>
          <a:noFill/>
          <a:ln/>
        </p:spPr>
        <p:txBody>
          <a:bodyPr wrap="square" lIns="0" tIns="0" rIns="0" bIns="0" rtlCol="0" anchor="t"/>
          <a:lstStyle/>
          <a:p>
            <a:pPr algn="l" indent="0" marL="0">
              <a:buNone/>
            </a:pPr>
            <a:r>
              <a:rPr lang="en-US" sz="4400" b="1" dirty="0">
                <a:solidFill>
                  <a:srgbClr val="A51C30"/>
                </a:solidFill>
                <a:latin typeface="Arial" pitchFamily="34" charset="0"/>
                <a:ea typeface="Arial" pitchFamily="34" charset="-122"/>
                <a:cs typeface="Arial" pitchFamily="34" charset="-120"/>
              </a:rPr>
              <a:t>1</a:t>
            </a:r>
            <a:endParaRPr lang="en-US" sz="4400" dirty="0"/>
          </a:p>
        </p:txBody>
      </p:sp>
      <p:sp>
        <p:nvSpPr>
          <p:cNvPr id="7" name="Text 5"/>
          <p:cNvSpPr/>
          <p:nvPr/>
        </p:nvSpPr>
        <p:spPr>
          <a:xfrm>
            <a:off x="1554480" y="1399032"/>
            <a:ext cx="10088575" cy="457200"/>
          </a:xfrm>
          <a:prstGeom prst="rect">
            <a:avLst/>
          </a:prstGeom>
          <a:noFill/>
          <a:ln/>
        </p:spPr>
        <p:txBody>
          <a:bodyPr wrap="square" lIns="0" tIns="0" rIns="0" bIns="0" rtlCol="0" anchor="t"/>
          <a:lstStyle/>
          <a:p>
            <a:pPr algn="l" indent="0" marL="0">
              <a:buNone/>
            </a:pPr>
            <a:r>
              <a:rPr lang="en-US" sz="2200" b="1" dirty="0">
                <a:solidFill>
                  <a:srgbClr val="000000"/>
                </a:solidFill>
                <a:latin typeface="Arial" pitchFamily="34" charset="0"/>
                <a:ea typeface="Arial" pitchFamily="34" charset="-122"/>
                <a:cs typeface="Arial" pitchFamily="34" charset="-120"/>
              </a:rPr>
              <a:t>Routine slides and spatial data feed one risk score</a:t>
            </a:r>
            <a:endParaRPr lang="en-US" sz="2200" dirty="0"/>
          </a:p>
        </p:txBody>
      </p:sp>
      <p:sp>
        <p:nvSpPr>
          <p:cNvPr id="8" name="Text 6"/>
          <p:cNvSpPr/>
          <p:nvPr/>
        </p:nvSpPr>
        <p:spPr>
          <a:xfrm>
            <a:off x="1554480" y="1892808"/>
            <a:ext cx="10088575" cy="502920"/>
          </a:xfrm>
          <a:prstGeom prst="rect">
            <a:avLst/>
          </a:prstGeom>
          <a:noFill/>
          <a:ln/>
        </p:spPr>
        <p:txBody>
          <a:bodyPr wrap="square" lIns="0" tIns="0" rIns="0" bIns="0" rtlCol="0" anchor="t"/>
          <a:lstStyle/>
          <a:p>
            <a:pPr algn="l" indent="0" marL="0">
              <a:buNone/>
            </a:pPr>
            <a:r>
              <a:rPr lang="en-US" sz="1600" dirty="0">
                <a:solidFill>
                  <a:srgbClr val="595959"/>
                </a:solidFill>
                <a:latin typeface="Arial" pitchFamily="34" charset="0"/>
                <a:ea typeface="Arial" pitchFamily="34" charset="-122"/>
                <a:cs typeface="Arial" pitchFamily="34" charset="-120"/>
              </a:rPr>
              <a:t>Tiling and embeddings fixed; only the aggregator and Cox head see outcomes (methods flow)</a:t>
            </a:r>
            <a:endParaRPr lang="en-US" sz="1600" dirty="0"/>
          </a:p>
        </p:txBody>
      </p:sp>
      <p:sp>
        <p:nvSpPr>
          <p:cNvPr id="9" name="Shape 7"/>
          <p:cNvSpPr/>
          <p:nvPr/>
        </p:nvSpPr>
        <p:spPr>
          <a:xfrm>
            <a:off x="548640" y="2743200"/>
            <a:ext cx="11094415" cy="0"/>
          </a:xfrm>
          <a:prstGeom prst="line">
            <a:avLst/>
          </a:prstGeom>
          <a:noFill/>
          <a:ln w="12700">
            <a:solidFill>
              <a:srgbClr val="D9D9D9"/>
            </a:solidFill>
            <a:prstDash val="solid"/>
          </a:ln>
        </p:spPr>
      </p:sp>
      <p:sp>
        <p:nvSpPr>
          <p:cNvPr id="10" name="Text 8"/>
          <p:cNvSpPr/>
          <p:nvPr/>
        </p:nvSpPr>
        <p:spPr>
          <a:xfrm>
            <a:off x="548640" y="2834640"/>
            <a:ext cx="914400" cy="1097280"/>
          </a:xfrm>
          <a:prstGeom prst="rect">
            <a:avLst/>
          </a:prstGeom>
          <a:noFill/>
          <a:ln/>
        </p:spPr>
        <p:txBody>
          <a:bodyPr wrap="square" lIns="0" tIns="0" rIns="0" bIns="0" rtlCol="0" anchor="t"/>
          <a:lstStyle/>
          <a:p>
            <a:pPr algn="l" indent="0" marL="0">
              <a:buNone/>
            </a:pPr>
            <a:r>
              <a:rPr lang="en-US" sz="4400" b="1" dirty="0">
                <a:solidFill>
                  <a:srgbClr val="A51C30"/>
                </a:solidFill>
                <a:latin typeface="Arial" pitchFamily="34" charset="0"/>
                <a:ea typeface="Arial" pitchFamily="34" charset="-122"/>
                <a:cs typeface="Arial" pitchFamily="34" charset="-120"/>
              </a:rPr>
              <a:t>2</a:t>
            </a:r>
            <a:endParaRPr lang="en-US" sz="4400" dirty="0"/>
          </a:p>
        </p:txBody>
      </p:sp>
      <p:sp>
        <p:nvSpPr>
          <p:cNvPr id="11" name="Text 9"/>
          <p:cNvSpPr/>
          <p:nvPr/>
        </p:nvSpPr>
        <p:spPr>
          <a:xfrm>
            <a:off x="1554480" y="2907792"/>
            <a:ext cx="10088575" cy="457200"/>
          </a:xfrm>
          <a:prstGeom prst="rect">
            <a:avLst/>
          </a:prstGeom>
          <a:noFill/>
          <a:ln/>
        </p:spPr>
        <p:txBody>
          <a:bodyPr wrap="square" lIns="0" tIns="0" rIns="0" bIns="0" rtlCol="0" anchor="t"/>
          <a:lstStyle/>
          <a:p>
            <a:pPr algn="l" indent="0" marL="0">
              <a:buNone/>
            </a:pPr>
            <a:r>
              <a:rPr lang="en-US" sz="2200" b="1" dirty="0">
                <a:solidFill>
                  <a:srgbClr val="000000"/>
                </a:solidFill>
                <a:latin typeface="Arial" pitchFamily="34" charset="0"/>
                <a:ea typeface="Arial" pitchFamily="34" charset="-122"/>
                <a:cs typeface="Arial" pitchFamily="34" charset="-120"/>
              </a:rPr>
              <a:t>Cell graphs add the spatial context that tile averages lose</a:t>
            </a:r>
            <a:endParaRPr lang="en-US" sz="2200" dirty="0"/>
          </a:p>
        </p:txBody>
      </p:sp>
      <p:sp>
        <p:nvSpPr>
          <p:cNvPr id="12" name="Text 10"/>
          <p:cNvSpPr/>
          <p:nvPr/>
        </p:nvSpPr>
        <p:spPr>
          <a:xfrm>
            <a:off x="1554480" y="3401568"/>
            <a:ext cx="10088575" cy="502920"/>
          </a:xfrm>
          <a:prstGeom prst="rect">
            <a:avLst/>
          </a:prstGeom>
          <a:noFill/>
          <a:ln/>
        </p:spPr>
        <p:txBody>
          <a:bodyPr wrap="square" lIns="0" tIns="0" rIns="0" bIns="0" rtlCol="0" anchor="t"/>
          <a:lstStyle/>
          <a:p>
            <a:pPr algn="l" indent="0" marL="0">
              <a:buNone/>
            </a:pPr>
            <a:r>
              <a:rPr lang="en-US" sz="1600" dirty="0">
                <a:solidFill>
                  <a:srgbClr val="595959"/>
                </a:solidFill>
                <a:latin typeface="Arial" pitchFamily="34" charset="0"/>
                <a:ea typeface="Arial" pitchFamily="34" charset="-122"/>
                <a:cs typeface="Arial" pitchFamily="34" charset="-120"/>
              </a:rPr>
              <a:t>C-index XX vs XX, 5-fold CV (n = XX patients); placeholders for this example</a:t>
            </a:r>
            <a:endParaRPr lang="en-US" sz="1600" dirty="0"/>
          </a:p>
        </p:txBody>
      </p:sp>
      <p:sp>
        <p:nvSpPr>
          <p:cNvPr id="13" name="Shape 11"/>
          <p:cNvSpPr/>
          <p:nvPr/>
        </p:nvSpPr>
        <p:spPr>
          <a:xfrm>
            <a:off x="548640" y="4251960"/>
            <a:ext cx="11094415" cy="0"/>
          </a:xfrm>
          <a:prstGeom prst="line">
            <a:avLst/>
          </a:prstGeom>
          <a:noFill/>
          <a:ln w="12700">
            <a:solidFill>
              <a:srgbClr val="D9D9D9"/>
            </a:solidFill>
            <a:prstDash val="solid"/>
          </a:ln>
        </p:spPr>
      </p:sp>
      <p:sp>
        <p:nvSpPr>
          <p:cNvPr id="14" name="Text 12"/>
          <p:cNvSpPr/>
          <p:nvPr/>
        </p:nvSpPr>
        <p:spPr>
          <a:xfrm>
            <a:off x="548640" y="4343400"/>
            <a:ext cx="914400" cy="1097280"/>
          </a:xfrm>
          <a:prstGeom prst="rect">
            <a:avLst/>
          </a:prstGeom>
          <a:noFill/>
          <a:ln/>
        </p:spPr>
        <p:txBody>
          <a:bodyPr wrap="square" lIns="0" tIns="0" rIns="0" bIns="0" rtlCol="0" anchor="t"/>
          <a:lstStyle/>
          <a:p>
            <a:pPr algn="l" indent="0" marL="0">
              <a:buNone/>
            </a:pPr>
            <a:r>
              <a:rPr lang="en-US" sz="4400" b="1" dirty="0">
                <a:solidFill>
                  <a:srgbClr val="A51C30"/>
                </a:solidFill>
                <a:latin typeface="Arial" pitchFamily="34" charset="0"/>
                <a:ea typeface="Arial" pitchFamily="34" charset="-122"/>
                <a:cs typeface="Arial" pitchFamily="34" charset="-120"/>
              </a:rPr>
              <a:t>3</a:t>
            </a:r>
            <a:endParaRPr lang="en-US" sz="4400" dirty="0"/>
          </a:p>
        </p:txBody>
      </p:sp>
      <p:sp>
        <p:nvSpPr>
          <p:cNvPr id="15" name="Text 13"/>
          <p:cNvSpPr/>
          <p:nvPr/>
        </p:nvSpPr>
        <p:spPr>
          <a:xfrm>
            <a:off x="1554480" y="4416552"/>
            <a:ext cx="10088575" cy="457200"/>
          </a:xfrm>
          <a:prstGeom prst="rect">
            <a:avLst/>
          </a:prstGeom>
          <a:noFill/>
          <a:ln/>
        </p:spPr>
        <p:txBody>
          <a:bodyPr wrap="square" lIns="0" tIns="0" rIns="0" bIns="0" rtlCol="0" anchor="t"/>
          <a:lstStyle/>
          <a:p>
            <a:pPr algn="l" indent="0" marL="0">
              <a:buNone/>
            </a:pPr>
            <a:r>
              <a:rPr lang="en-US" sz="2200" b="1" dirty="0">
                <a:solidFill>
                  <a:srgbClr val="000000"/>
                </a:solidFill>
                <a:latin typeface="Arial" pitchFamily="34" charset="0"/>
                <a:ea typeface="Arial" pitchFamily="34" charset="-122"/>
                <a:cs typeface="Arial" pitchFamily="34" charset="-120"/>
              </a:rPr>
              <a:t>An agent drafts the report; a pathologist signs it off</a:t>
            </a:r>
            <a:endParaRPr lang="en-US" sz="2200" dirty="0"/>
          </a:p>
        </p:txBody>
      </p:sp>
      <p:sp>
        <p:nvSpPr>
          <p:cNvPr id="16" name="Text 14"/>
          <p:cNvSpPr/>
          <p:nvPr/>
        </p:nvSpPr>
        <p:spPr>
          <a:xfrm>
            <a:off x="1554480" y="4910328"/>
            <a:ext cx="10088575" cy="502920"/>
          </a:xfrm>
          <a:prstGeom prst="rect">
            <a:avLst/>
          </a:prstGeom>
          <a:noFill/>
          <a:ln/>
        </p:spPr>
        <p:txBody>
          <a:bodyPr wrap="square" lIns="0" tIns="0" rIns="0" bIns="0" rtlCol="0" anchor="t"/>
          <a:lstStyle/>
          <a:p>
            <a:pPr algn="l" indent="0" marL="0">
              <a:buNone/>
            </a:pPr>
            <a:r>
              <a:rPr lang="en-US" sz="1600" dirty="0">
                <a:solidFill>
                  <a:srgbClr val="595959"/>
                </a:solidFill>
                <a:latin typeface="Arial" pitchFamily="34" charset="0"/>
                <a:ea typeface="Arial" pitchFamily="34" charset="-122"/>
                <a:cs typeface="Arial" pitchFamily="34" charset="-120"/>
              </a:rPr>
              <a:t>Every statement links back to a tool output (agent loop)</a:t>
            </a:r>
            <a:endParaRPr lang="en-US" sz="1600" dirty="0"/>
          </a:p>
        </p:txBody>
      </p:sp>
      <p:sp>
        <p:nvSpPr>
          <p:cNvPr id="17" name="Text 15"/>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C-index: </a:t>
            </a:r>
            <a:pPr algn="l" indent="0" marL="0">
              <a:buNone/>
            </a:pPr>
            <a:r>
              <a:rPr lang="en-US" sz="950" dirty="0">
                <a:solidFill>
                  <a:srgbClr val="7F7F7F"/>
                </a:solidFill>
                <a:latin typeface="Arial" pitchFamily="34" charset="0"/>
                <a:ea typeface="Arial" pitchFamily="34" charset="-122"/>
                <a:cs typeface="Arial" pitchFamily="34" charset="-120"/>
              </a:rPr>
              <a:t>concordance index;</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CV: </a:t>
            </a:r>
            <a:pPr algn="l" indent="0" marL="0">
              <a:buNone/>
            </a:pPr>
            <a:r>
              <a:rPr lang="en-US" sz="950" dirty="0">
                <a:solidFill>
                  <a:srgbClr val="7F7F7F"/>
                </a:solidFill>
                <a:latin typeface="Arial" pitchFamily="34" charset="0"/>
                <a:ea typeface="Arial" pitchFamily="34" charset="-122"/>
                <a:cs typeface="Arial" pitchFamily="34" charset="-120"/>
              </a:rPr>
              <a:t>cross-validation.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Next Steps</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13</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next steps / roadmap</a:t>
            </a:r>
            <a:endParaRPr lang="en-US" sz="1200" dirty="0"/>
          </a:p>
        </p:txBody>
      </p:sp>
      <p:sp>
        <p:nvSpPr>
          <p:cNvPr id="6" name="Shape 4"/>
          <p:cNvSpPr/>
          <p:nvPr/>
        </p:nvSpPr>
        <p:spPr>
          <a:xfrm>
            <a:off x="548640" y="1234440"/>
            <a:ext cx="11094415" cy="0"/>
          </a:xfrm>
          <a:prstGeom prst="line">
            <a:avLst/>
          </a:prstGeom>
          <a:noFill/>
          <a:ln w="19050">
            <a:solidFill>
              <a:srgbClr val="7F7F7F"/>
            </a:solidFill>
            <a:prstDash val="solid"/>
            <a:tailEnd type="triangle"/>
          </a:ln>
        </p:spPr>
      </p:sp>
      <p:sp>
        <p:nvSpPr>
          <p:cNvPr id="7" name="Shape 5"/>
          <p:cNvSpPr/>
          <p:nvPr/>
        </p:nvSpPr>
        <p:spPr>
          <a:xfrm>
            <a:off x="548640" y="1554480"/>
            <a:ext cx="3423818" cy="457200"/>
          </a:xfrm>
          <a:prstGeom prst="rect">
            <a:avLst/>
          </a:prstGeom>
          <a:solidFill>
            <a:srgbClr val="A51C30"/>
          </a:solidFill>
          <a:ln/>
        </p:spPr>
      </p:sp>
      <p:sp>
        <p:nvSpPr>
          <p:cNvPr id="8" name="Text 6"/>
          <p:cNvSpPr/>
          <p:nvPr/>
        </p:nvSpPr>
        <p:spPr>
          <a:xfrm>
            <a:off x="731520" y="1554480"/>
            <a:ext cx="3058058"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Next 3 months</a:t>
            </a:r>
            <a:endParaRPr lang="en-US" sz="1600" dirty="0"/>
          </a:p>
        </p:txBody>
      </p:sp>
      <p:sp>
        <p:nvSpPr>
          <p:cNvPr id="9" name="Shape 7"/>
          <p:cNvSpPr/>
          <p:nvPr/>
        </p:nvSpPr>
        <p:spPr>
          <a:xfrm>
            <a:off x="548640" y="2011680"/>
            <a:ext cx="3423818" cy="2743200"/>
          </a:xfrm>
          <a:prstGeom prst="rect">
            <a:avLst/>
          </a:prstGeom>
          <a:solidFill>
            <a:srgbClr val="F3F3F3"/>
          </a:solidFill>
          <a:ln/>
        </p:spPr>
      </p:sp>
      <p:pic>
        <p:nvPicPr>
          <p:cNvPr id="10" name="Image 0" descr="/mnt/data1/bal753/research-skills/examples/icons/png/lucide/users_accent.png">    </p:cNvPr>
          <p:cNvPicPr>
            <a:picLocks noChangeAspect="1"/>
          </p:cNvPicPr>
          <p:nvPr/>
        </p:nvPicPr>
        <p:blipFill>
          <a:blip r:embed="rId1"/>
          <a:stretch>
            <a:fillRect/>
          </a:stretch>
        </p:blipFill>
        <p:spPr>
          <a:xfrm>
            <a:off x="777240" y="2286000"/>
            <a:ext cx="640080" cy="640080"/>
          </a:xfrm>
          <a:prstGeom prst="rect">
            <a:avLst/>
          </a:prstGeom>
        </p:spPr>
      </p:pic>
      <p:sp>
        <p:nvSpPr>
          <p:cNvPr id="11" name="Text 8"/>
          <p:cNvSpPr/>
          <p:nvPr/>
        </p:nvSpPr>
        <p:spPr>
          <a:xfrm>
            <a:off x="777240" y="3063240"/>
            <a:ext cx="2966618" cy="411480"/>
          </a:xfrm>
          <a:prstGeom prst="rect">
            <a:avLst/>
          </a:prstGeom>
          <a:noFill/>
          <a:ln/>
        </p:spPr>
        <p:txBody>
          <a:bodyPr wrap="square" lIns="0" tIns="0" rIns="0" bIns="0" rtlCol="0" anchor="ctr"/>
          <a:lstStyle/>
          <a:p>
            <a:pPr algn="l" indent="0" marL="0">
              <a:buNone/>
            </a:pPr>
            <a:r>
              <a:rPr lang="en-US" sz="2000" b="1" dirty="0">
                <a:solidFill>
                  <a:srgbClr val="595959"/>
                </a:solidFill>
                <a:latin typeface="Arial" pitchFamily="34" charset="0"/>
                <a:ea typeface="Arial" pitchFamily="34" charset="-122"/>
                <a:cs typeface="Arial" pitchFamily="34" charset="-120"/>
              </a:rPr>
              <a:t>External validation</a:t>
            </a:r>
            <a:endParaRPr lang="en-US" sz="2000" dirty="0"/>
          </a:p>
        </p:txBody>
      </p:sp>
      <p:sp>
        <p:nvSpPr>
          <p:cNvPr id="12" name="Text 9"/>
          <p:cNvSpPr/>
          <p:nvPr/>
        </p:nvSpPr>
        <p:spPr>
          <a:xfrm>
            <a:off x="777240" y="3657600"/>
            <a:ext cx="2966618" cy="1005840"/>
          </a:xfrm>
          <a:prstGeom prst="rect">
            <a:avLst/>
          </a:prstGeom>
          <a:noFill/>
          <a:ln/>
        </p:spPr>
        <p:txBody>
          <a:bodyPr wrap="square" lIns="0" tIns="0" rIns="0" bIns="0" rtlCol="0" anchor="t"/>
          <a:lstStyle/>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Second cohort, other scanner</a:t>
            </a:r>
            <a:endParaRPr lang="en-US" sz="1600" dirty="0"/>
          </a:p>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Frozen model, no retraining</a:t>
            </a:r>
            <a:endParaRPr lang="en-US" sz="1600" dirty="0"/>
          </a:p>
        </p:txBody>
      </p:sp>
      <p:sp>
        <p:nvSpPr>
          <p:cNvPr id="13" name="Shape 10"/>
          <p:cNvSpPr/>
          <p:nvPr/>
        </p:nvSpPr>
        <p:spPr>
          <a:xfrm>
            <a:off x="4383938" y="1554480"/>
            <a:ext cx="3423818" cy="457200"/>
          </a:xfrm>
          <a:prstGeom prst="rect">
            <a:avLst/>
          </a:prstGeom>
          <a:solidFill>
            <a:srgbClr val="595959"/>
          </a:solidFill>
          <a:ln/>
        </p:spPr>
      </p:sp>
      <p:sp>
        <p:nvSpPr>
          <p:cNvPr id="14" name="Text 11"/>
          <p:cNvSpPr/>
          <p:nvPr/>
        </p:nvSpPr>
        <p:spPr>
          <a:xfrm>
            <a:off x="4566818" y="1554480"/>
            <a:ext cx="3058058"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3–6 months</a:t>
            </a:r>
            <a:endParaRPr lang="en-US" sz="1600" dirty="0"/>
          </a:p>
        </p:txBody>
      </p:sp>
      <p:sp>
        <p:nvSpPr>
          <p:cNvPr id="15" name="Shape 12"/>
          <p:cNvSpPr/>
          <p:nvPr/>
        </p:nvSpPr>
        <p:spPr>
          <a:xfrm>
            <a:off x="4383938" y="2011680"/>
            <a:ext cx="3423818" cy="2743200"/>
          </a:xfrm>
          <a:prstGeom prst="rect">
            <a:avLst/>
          </a:prstGeom>
          <a:solidFill>
            <a:srgbClr val="F3F3F3"/>
          </a:solidFill>
          <a:ln/>
        </p:spPr>
      </p:sp>
      <p:pic>
        <p:nvPicPr>
          <p:cNvPr id="16" name="Image 1" descr="/mnt/data1/bal753/research-skills/examples/icons/png/lucide/list-checks.png">    </p:cNvPr>
          <p:cNvPicPr>
            <a:picLocks noChangeAspect="1"/>
          </p:cNvPicPr>
          <p:nvPr/>
        </p:nvPicPr>
        <p:blipFill>
          <a:blip r:embed="rId2"/>
          <a:stretch>
            <a:fillRect/>
          </a:stretch>
        </p:blipFill>
        <p:spPr>
          <a:xfrm>
            <a:off x="4612538" y="2286000"/>
            <a:ext cx="640080" cy="640080"/>
          </a:xfrm>
          <a:prstGeom prst="rect">
            <a:avLst/>
          </a:prstGeom>
        </p:spPr>
      </p:pic>
      <p:sp>
        <p:nvSpPr>
          <p:cNvPr id="17" name="Text 13"/>
          <p:cNvSpPr/>
          <p:nvPr/>
        </p:nvSpPr>
        <p:spPr>
          <a:xfrm>
            <a:off x="4612538" y="3063240"/>
            <a:ext cx="2966618" cy="411480"/>
          </a:xfrm>
          <a:prstGeom prst="rect">
            <a:avLst/>
          </a:prstGeom>
          <a:noFill/>
          <a:ln/>
        </p:spPr>
        <p:txBody>
          <a:bodyPr wrap="square" lIns="0" tIns="0" rIns="0" bIns="0" rtlCol="0" anchor="ctr"/>
          <a:lstStyle/>
          <a:p>
            <a:pPr algn="l" indent="0" marL="0">
              <a:buNone/>
            </a:pPr>
            <a:r>
              <a:rPr lang="en-US" sz="2000" b="1" dirty="0">
                <a:solidFill>
                  <a:srgbClr val="595959"/>
                </a:solidFill>
                <a:latin typeface="Arial" pitchFamily="34" charset="0"/>
                <a:ea typeface="Arial" pitchFamily="34" charset="-122"/>
                <a:cs typeface="Arial" pitchFamily="34" charset="-120"/>
              </a:rPr>
              <a:t>Grade agent reports</a:t>
            </a:r>
            <a:endParaRPr lang="en-US" sz="2000" dirty="0"/>
          </a:p>
        </p:txBody>
      </p:sp>
      <p:sp>
        <p:nvSpPr>
          <p:cNvPr id="18" name="Text 14"/>
          <p:cNvSpPr/>
          <p:nvPr/>
        </p:nvSpPr>
        <p:spPr>
          <a:xfrm>
            <a:off x="4612538" y="3657600"/>
            <a:ext cx="2966618" cy="1005840"/>
          </a:xfrm>
          <a:prstGeom prst="rect">
            <a:avLst/>
          </a:prstGeom>
          <a:noFill/>
          <a:ln/>
        </p:spPr>
        <p:txBody>
          <a:bodyPr wrap="square" lIns="0" tIns="0" rIns="0" bIns="0" rtlCol="0" anchor="t"/>
          <a:lstStyle/>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Blinded scoring of n = XX</a:t>
            </a:r>
            <a:endParaRPr lang="en-US" sz="1600" dirty="0"/>
          </a:p>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Errors logged per tool</a:t>
            </a:r>
            <a:endParaRPr lang="en-US" sz="1600" dirty="0"/>
          </a:p>
        </p:txBody>
      </p:sp>
      <p:sp>
        <p:nvSpPr>
          <p:cNvPr id="19" name="Shape 15"/>
          <p:cNvSpPr/>
          <p:nvPr/>
        </p:nvSpPr>
        <p:spPr>
          <a:xfrm>
            <a:off x="8219237" y="1554480"/>
            <a:ext cx="3423818" cy="457200"/>
          </a:xfrm>
          <a:prstGeom prst="rect">
            <a:avLst/>
          </a:prstGeom>
          <a:solidFill>
            <a:srgbClr val="595959"/>
          </a:solidFill>
          <a:ln/>
        </p:spPr>
      </p:sp>
      <p:sp>
        <p:nvSpPr>
          <p:cNvPr id="20" name="Text 16"/>
          <p:cNvSpPr/>
          <p:nvPr/>
        </p:nvSpPr>
        <p:spPr>
          <a:xfrm>
            <a:off x="8402117" y="1554480"/>
            <a:ext cx="3058058"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6–12 months</a:t>
            </a:r>
            <a:endParaRPr lang="en-US" sz="1600" dirty="0"/>
          </a:p>
        </p:txBody>
      </p:sp>
      <p:sp>
        <p:nvSpPr>
          <p:cNvPr id="21" name="Shape 17"/>
          <p:cNvSpPr/>
          <p:nvPr/>
        </p:nvSpPr>
        <p:spPr>
          <a:xfrm>
            <a:off x="8219237" y="2011680"/>
            <a:ext cx="3423818" cy="2743200"/>
          </a:xfrm>
          <a:prstGeom prst="rect">
            <a:avLst/>
          </a:prstGeom>
          <a:solidFill>
            <a:srgbClr val="F3F3F3"/>
          </a:solidFill>
          <a:ln/>
        </p:spPr>
      </p:sp>
      <p:pic>
        <p:nvPicPr>
          <p:cNvPr id="22" name="Image 2" descr="/mnt/data1/bal753/research-skills/examples/icons/png/lucide/code.png">    </p:cNvPr>
          <p:cNvPicPr>
            <a:picLocks noChangeAspect="1"/>
          </p:cNvPicPr>
          <p:nvPr/>
        </p:nvPicPr>
        <p:blipFill>
          <a:blip r:embed="rId3"/>
          <a:stretch>
            <a:fillRect/>
          </a:stretch>
        </p:blipFill>
        <p:spPr>
          <a:xfrm>
            <a:off x="8447837" y="2286000"/>
            <a:ext cx="640080" cy="640080"/>
          </a:xfrm>
          <a:prstGeom prst="rect">
            <a:avLst/>
          </a:prstGeom>
        </p:spPr>
      </p:pic>
      <p:sp>
        <p:nvSpPr>
          <p:cNvPr id="23" name="Text 18"/>
          <p:cNvSpPr/>
          <p:nvPr/>
        </p:nvSpPr>
        <p:spPr>
          <a:xfrm>
            <a:off x="8447837" y="3063240"/>
            <a:ext cx="2966618" cy="411480"/>
          </a:xfrm>
          <a:prstGeom prst="rect">
            <a:avLst/>
          </a:prstGeom>
          <a:noFill/>
          <a:ln/>
        </p:spPr>
        <p:txBody>
          <a:bodyPr wrap="square" lIns="0" tIns="0" rIns="0" bIns="0" rtlCol="0" anchor="ctr"/>
          <a:lstStyle/>
          <a:p>
            <a:pPr algn="l" indent="0" marL="0">
              <a:buNone/>
            </a:pPr>
            <a:r>
              <a:rPr lang="en-US" sz="2000" b="1" dirty="0">
                <a:solidFill>
                  <a:srgbClr val="595959"/>
                </a:solidFill>
                <a:latin typeface="Arial" pitchFamily="34" charset="0"/>
                <a:ea typeface="Arial" pitchFamily="34" charset="-122"/>
                <a:cs typeface="Arial" pitchFamily="34" charset="-120"/>
              </a:rPr>
              <a:t>Release</a:t>
            </a:r>
            <a:endParaRPr lang="en-US" sz="2000" dirty="0"/>
          </a:p>
        </p:txBody>
      </p:sp>
      <p:sp>
        <p:nvSpPr>
          <p:cNvPr id="24" name="Text 19"/>
          <p:cNvSpPr/>
          <p:nvPr/>
        </p:nvSpPr>
        <p:spPr>
          <a:xfrm>
            <a:off x="8447837" y="3657600"/>
            <a:ext cx="2966618" cy="1005840"/>
          </a:xfrm>
          <a:prstGeom prst="rect">
            <a:avLst/>
          </a:prstGeom>
          <a:noFill/>
          <a:ln/>
        </p:spPr>
        <p:txBody>
          <a:bodyPr wrap="square" lIns="0" tIns="0" rIns="0" bIns="0" rtlCol="0" anchor="t"/>
          <a:lstStyle/>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Code and model card</a:t>
            </a:r>
            <a:endParaRPr lang="en-US" sz="1600" dirty="0"/>
          </a:p>
          <a:p>
            <a:pPr algn="l" marL="203200" indent="-2032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Preprint, no placeholders</a:t>
            </a:r>
            <a:endParaRPr lang="en-US" sz="1600" dirty="0"/>
          </a:p>
        </p:txBody>
      </p:sp>
      <p:sp>
        <p:nvSpPr>
          <p:cNvPr id="25" name="Text 20"/>
          <p:cNvSpPr/>
          <p:nvPr/>
        </p:nvSpPr>
        <p:spPr>
          <a:xfrm>
            <a:off x="640080" y="544068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External validation comes first; its result decides whether the later steps go ahead.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2194560" cy="320040"/>
          </a:xfrm>
          <a:prstGeom prst="rect">
            <a:avLst/>
          </a:prstGeom>
          <a:noFill/>
          <a:ln/>
        </p:spPr>
        <p:txBody>
          <a:bodyPr wrap="square" lIns="0" tIns="0" rIns="0" bIns="0" rtlCol="0" anchor="t"/>
          <a:lstStyle/>
          <a:p>
            <a:pPr algn="l"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Shape 1"/>
          <p:cNvSpPr/>
          <p:nvPr/>
        </p:nvSpPr>
        <p:spPr>
          <a:xfrm>
            <a:off x="548640" y="2103120"/>
            <a:ext cx="91440" cy="1371600"/>
          </a:xfrm>
          <a:prstGeom prst="rect">
            <a:avLst/>
          </a:prstGeom>
          <a:solidFill>
            <a:srgbClr val="A51C30"/>
          </a:solidFill>
          <a:ln/>
        </p:spPr>
      </p:sp>
      <p:sp>
        <p:nvSpPr>
          <p:cNvPr id="4" name="Shape 2"/>
          <p:cNvSpPr/>
          <p:nvPr/>
        </p:nvSpPr>
        <p:spPr>
          <a:xfrm>
            <a:off x="0" y="6245352"/>
            <a:ext cx="12191695" cy="45720"/>
          </a:xfrm>
          <a:prstGeom prst="rect">
            <a:avLst/>
          </a:prstGeom>
          <a:solidFill>
            <a:srgbClr val="A51C30"/>
          </a:solidFill>
          <a:ln/>
        </p:spPr>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questions / thank you</a:t>
            </a:r>
            <a:endParaRPr lang="en-US" sz="1200" dirty="0"/>
          </a:p>
        </p:txBody>
      </p:sp>
      <p:sp>
        <p:nvSpPr>
          <p:cNvPr id="6" name="Text 4"/>
          <p:cNvSpPr/>
          <p:nvPr/>
        </p:nvSpPr>
        <p:spPr>
          <a:xfrm>
            <a:off x="868680" y="2103120"/>
            <a:ext cx="10241280" cy="822960"/>
          </a:xfrm>
          <a:prstGeom prst="rect">
            <a:avLst/>
          </a:prstGeom>
          <a:noFill/>
          <a:ln/>
        </p:spPr>
        <p:txBody>
          <a:bodyPr wrap="square" lIns="0" tIns="0" rIns="0" bIns="0" rtlCol="0" anchor="t"/>
          <a:lstStyle/>
          <a:p>
            <a:pPr algn="l" indent="0" marL="0">
              <a:buNone/>
            </a:pPr>
            <a:r>
              <a:rPr lang="en-US" sz="4400" b="1" dirty="0">
                <a:solidFill>
                  <a:srgbClr val="595959"/>
                </a:solidFill>
                <a:latin typeface="Arial" pitchFamily="34" charset="0"/>
                <a:ea typeface="Arial" pitchFamily="34" charset="-122"/>
                <a:cs typeface="Arial" pitchFamily="34" charset="-120"/>
              </a:rPr>
              <a:t>Thank you</a:t>
            </a:r>
            <a:endParaRPr lang="en-US" sz="4400" dirty="0"/>
          </a:p>
        </p:txBody>
      </p:sp>
      <p:sp>
        <p:nvSpPr>
          <p:cNvPr id="7" name="Text 5"/>
          <p:cNvSpPr/>
          <p:nvPr/>
        </p:nvSpPr>
        <p:spPr>
          <a:xfrm>
            <a:off x="868680" y="2926080"/>
            <a:ext cx="10241280" cy="502920"/>
          </a:xfrm>
          <a:prstGeom prst="rect">
            <a:avLst/>
          </a:prstGeom>
          <a:noFill/>
          <a:ln/>
        </p:spPr>
        <p:txBody>
          <a:bodyPr wrap="square" lIns="0" tIns="0" rIns="0" bIns="0" rtlCol="0" anchor="t"/>
          <a:lstStyle/>
          <a:p>
            <a:pPr algn="l" indent="0" marL="0">
              <a:buNone/>
            </a:pPr>
            <a:r>
              <a:rPr lang="en-US" sz="2400" dirty="0">
                <a:solidFill>
                  <a:srgbClr val="7F7F7F"/>
                </a:solidFill>
                <a:latin typeface="Arial" pitchFamily="34" charset="0"/>
                <a:ea typeface="Arial" pitchFamily="34" charset="-122"/>
                <a:cs typeface="Arial" pitchFamily="34" charset="-120"/>
              </a:rPr>
              <a:t>Questions and discussion</a:t>
            </a:r>
            <a:endParaRPr lang="en-US" sz="2400" dirty="0"/>
          </a:p>
        </p:txBody>
      </p:sp>
      <p:pic>
        <p:nvPicPr>
          <p:cNvPr id="8" name="Image 0" descr="/mnt/data1/bal753/research-skills/examples/icons/png/lucide/message-square-text.png">    </p:cNvPr>
          <p:cNvPicPr>
            <a:picLocks noChangeAspect="1"/>
          </p:cNvPicPr>
          <p:nvPr/>
        </p:nvPicPr>
        <p:blipFill>
          <a:blip r:embed="rId1"/>
          <a:stretch>
            <a:fillRect/>
          </a:stretch>
        </p:blipFill>
        <p:spPr>
          <a:xfrm>
            <a:off x="868680" y="4069080"/>
            <a:ext cx="411480" cy="411480"/>
          </a:xfrm>
          <a:prstGeom prst="rect">
            <a:avLst/>
          </a:prstGeom>
        </p:spPr>
      </p:pic>
      <p:sp>
        <p:nvSpPr>
          <p:cNvPr id="9" name="Text 6"/>
          <p:cNvSpPr/>
          <p:nvPr/>
        </p:nvSpPr>
        <p:spPr>
          <a:xfrm>
            <a:off x="1463040" y="4023360"/>
            <a:ext cx="5486400" cy="50292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contact@institution.org</a:t>
            </a:r>
            <a:endParaRPr lang="en-US" sz="1600" dirty="0"/>
          </a:p>
        </p:txBody>
      </p:sp>
      <p:pic>
        <p:nvPicPr>
          <p:cNvPr id="10" name="Image 1" descr="/mnt/data1/bal753/research-skills/examples/icons/png/lucide/code.png">    </p:cNvPr>
          <p:cNvPicPr>
            <a:picLocks noChangeAspect="1"/>
          </p:cNvPicPr>
          <p:nvPr/>
        </p:nvPicPr>
        <p:blipFill>
          <a:blip r:embed="rId2"/>
          <a:stretch>
            <a:fillRect/>
          </a:stretch>
        </p:blipFill>
        <p:spPr>
          <a:xfrm>
            <a:off x="868680" y="4663440"/>
            <a:ext cx="411480" cy="411480"/>
          </a:xfrm>
          <a:prstGeom prst="rect">
            <a:avLst/>
          </a:prstGeom>
        </p:spPr>
      </p:pic>
      <p:sp>
        <p:nvSpPr>
          <p:cNvPr id="11" name="Text 7"/>
          <p:cNvSpPr/>
          <p:nvPr/>
        </p:nvSpPr>
        <p:spPr>
          <a:xfrm>
            <a:off x="1463040" y="4617720"/>
            <a:ext cx="5486400" cy="502920"/>
          </a:xfrm>
          <a:prstGeom prst="rect">
            <a:avLst/>
          </a:prstGeom>
          <a:noFill/>
          <a:ln/>
        </p:spPr>
        <p:txBody>
          <a:bodyPr wrap="square" lIns="0" tIns="0" rIns="0" bIns="0" rtlCol="0" anchor="ctr"/>
          <a:lstStyle/>
          <a:p>
            <a:pPr algn="l" indent="0" marL="0">
              <a:buNone/>
            </a:pPr>
            <a:r>
              <a:rPr lang="en-US" sz="1600" dirty="0">
                <a:solidFill>
                  <a:srgbClr val="595959"/>
                </a:solidFill>
                <a:latin typeface="Arial" pitchFamily="34" charset="0"/>
                <a:ea typeface="Arial" pitchFamily="34" charset="-122"/>
                <a:cs typeface="Arial" pitchFamily="34" charset="-120"/>
              </a:rPr>
              <a:t>github.com/&lt;org&gt;/&lt;repo&gt;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Supplementary — Model Settings</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14</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supplementary (hidden)</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3728" y="1097280"/>
          <a:ext cx="11064240" cy="3785616"/>
        </p:xfrm>
        <a:graphic>
          <a:graphicData uri="http://schemas.openxmlformats.org/drawingml/2006/table">
            <a:tbl>
              <a:tblPr/>
              <a:tblGrid>
                <a:gridCol w="2194560"/>
                <a:gridCol w="3383280"/>
                <a:gridCol w="3017520"/>
                <a:gridCol w="2468880"/>
              </a:tblGrid>
              <a:tr h="420624">
                <a:tc>
                  <a:txBody>
                    <a:bodyPr/>
                    <a:lstStyle/>
                    <a:p>
                      <a:pPr algn="l" indent="0" marL="0">
                        <a:buNone/>
                      </a:pPr>
                      <a:r>
                        <a:rPr lang="en-US" sz="1300" b="1" dirty="0">
                          <a:solidFill>
                            <a:srgbClr val="595959"/>
                          </a:solidFill>
                          <a:latin typeface="Arial" pitchFamily="34" charset="0"/>
                          <a:ea typeface="Arial" pitchFamily="34" charset="-122"/>
                          <a:cs typeface="Arial" pitchFamily="34" charset="-120"/>
                        </a:rPr>
                        <a:t>Component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algn="ctr" indent="0" marL="0">
                        <a:buNone/>
                      </a:pPr>
                      <a:r>
                        <a:rPr lang="en-US" sz="1300" b="1" dirty="0">
                          <a:solidFill>
                            <a:srgbClr val="595959"/>
                          </a:solidFill>
                          <a:latin typeface="Arial" pitchFamily="34" charset="0"/>
                          <a:ea typeface="Arial" pitchFamily="34" charset="-122"/>
                          <a:cs typeface="Arial" pitchFamily="34" charset="-120"/>
                        </a:rPr>
                        <a:t>Setting</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algn="ctr" indent="0" marL="0">
                        <a:buNone/>
                      </a:pPr>
                      <a:r>
                        <a:rPr lang="en-US" sz="1300" b="1" dirty="0">
                          <a:solidFill>
                            <a:srgbClr val="595959"/>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algn="ctr" indent="0" marL="0">
                        <a:buNone/>
                      </a:pPr>
                      <a:r>
                        <a:rPr lang="en-US" sz="1300" b="1" dirty="0">
                          <a:solidFill>
                            <a:srgbClr val="595959"/>
                          </a:solidFill>
                          <a:latin typeface="Arial" pitchFamily="34" charset="0"/>
                          <a:ea typeface="Arial" pitchFamily="34" charset="-122"/>
                          <a:cs typeface="Arial" pitchFamily="34" charset="-120"/>
                        </a:rPr>
                        <a:t>Fixed before outcomes?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Tiling</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Tile size; magnification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256 × 256 px; 20×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Tissue mask</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Threshold on saturation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Otsu</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Foundation model</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Encoder; embedding dimension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Frozen ViT; XX</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Attention MIL</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Hidden units; dropout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XX; XX</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Cell graph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Edges; neighbours per cell</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k-nearest neighbours; k = XX</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Cox head</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Penalty; learning rate; epochs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L2 XX; XX; XX</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Tuned in inner folds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Cross-validation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Folds; split unit; random_state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5; patient; 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20624">
                <a:tc>
                  <a:txBody>
                    <a:bodyPr/>
                    <a:lstStyle/>
                    <a:p>
                      <a:pPr algn="l" indent="0" marL="0">
                        <a:buNone/>
                      </a:pPr>
                      <a:r>
                        <a:rPr lang="en-US" sz="1300" b="1" dirty="0">
                          <a:solidFill>
                            <a:srgbClr val="222222"/>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Model; temperature; max tool calls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XX; 0; XX</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c>
                  <a:txBody>
                    <a:bodyPr/>
                    <a:lstStyle/>
                    <a:p>
                      <a:pPr algn="ctr" indent="0" marL="0">
                        <a:buNone/>
                      </a:pPr>
                      <a:r>
                        <a:rPr lang="en-US" sz="1300" dirty="0">
                          <a:solidFill>
                            <a:srgbClr val="22222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r>
            </a:tbl>
          </a:graphicData>
        </a:graphic>
      </p:graphicFrame>
      <p:sp>
        <p:nvSpPr>
          <p:cNvPr id="7" name="Text 4"/>
          <p:cNvSpPr/>
          <p:nvPr/>
        </p:nvSpPr>
        <p:spPr>
          <a:xfrm>
            <a:off x="640080" y="5257800"/>
            <a:ext cx="10911535" cy="96012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All settings except the Cox penalty were fixed before outcome data were used; random_state is recorded in run_meta.json.</a:t>
            </a:r>
            <a:endParaRPr lang="en-US" sz="1800" dirty="0"/>
          </a:p>
        </p:txBody>
      </p:sp>
      <p:sp>
        <p:nvSpPr>
          <p:cNvPr id="8" name="Text 5"/>
          <p:cNvSpPr/>
          <p:nvPr/>
        </p:nvSpPr>
        <p:spPr>
          <a:xfrm>
            <a:off x="548640" y="6263640"/>
            <a:ext cx="5486400" cy="502920"/>
          </a:xfrm>
          <a:prstGeom prst="rect">
            <a:avLst/>
          </a:prstGeom>
          <a:noFill/>
          <a:ln/>
        </p:spPr>
        <p:txBody>
          <a:bodyPr wrap="square" lIns="0" tIns="0" rIns="0" bIns="0" rtlCol="0" anchor="b"/>
          <a:lstStyle/>
          <a:p>
            <a:pPr algn="l" indent="0" marL="0">
              <a:buNone/>
            </a:pPr>
            <a:r>
              <a:rPr lang="en-US" sz="950" b="1" dirty="0">
                <a:solidFill>
                  <a:srgbClr val="7F7F7F"/>
                </a:solidFill>
                <a:latin typeface="Arial" pitchFamily="34" charset="0"/>
                <a:ea typeface="Arial" pitchFamily="34" charset="-122"/>
                <a:cs typeface="Arial" pitchFamily="34" charset="-120"/>
              </a:rPr>
              <a:t>MIL: </a:t>
            </a:r>
            <a:pPr algn="l" indent="0" marL="0">
              <a:buNone/>
            </a:pPr>
            <a:r>
              <a:rPr lang="en-US" sz="950" dirty="0">
                <a:solidFill>
                  <a:srgbClr val="7F7F7F"/>
                </a:solidFill>
                <a:latin typeface="Arial" pitchFamily="34" charset="0"/>
                <a:ea typeface="Arial" pitchFamily="34" charset="-122"/>
                <a:cs typeface="Arial" pitchFamily="34" charset="-120"/>
              </a:rPr>
              <a:t>multiple-instance learning;</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ViT: </a:t>
            </a:r>
            <a:pPr algn="l" indent="0" marL="0">
              <a:buNone/>
            </a:pPr>
            <a:r>
              <a:rPr lang="en-US" sz="950" dirty="0">
                <a:solidFill>
                  <a:srgbClr val="7F7F7F"/>
                </a:solidFill>
                <a:latin typeface="Arial" pitchFamily="34" charset="0"/>
                <a:ea typeface="Arial" pitchFamily="34" charset="-122"/>
                <a:cs typeface="Arial" pitchFamily="34" charset="-120"/>
              </a:rPr>
              <a:t>vision transformer;</a:t>
            </a:r>
            <a:pPr algn="l" indent="0" marL="0">
              <a:buNone/>
            </a:pPr>
            <a:r>
              <a:rPr lang="en-US" sz="950" dirty="0">
                <a:solidFill>
                  <a:srgbClr val="7F7F7F"/>
                </a:solidFill>
                <a:latin typeface="Arial" pitchFamily="34" charset="0"/>
                <a:ea typeface="Arial" pitchFamily="34" charset="-122"/>
                <a:cs typeface="Arial" pitchFamily="34" charset="-120"/>
              </a:rPr>
              <a:t> </a:t>
            </a:r>
            <a:pPr algn="l" indent="0" marL="0">
              <a:buNone/>
            </a:pPr>
            <a:r>
              <a:rPr lang="en-US" sz="950" b="1" dirty="0">
                <a:solidFill>
                  <a:srgbClr val="7F7F7F"/>
                </a:solidFill>
                <a:latin typeface="Arial" pitchFamily="34" charset="0"/>
                <a:ea typeface="Arial" pitchFamily="34" charset="-122"/>
                <a:cs typeface="Arial" pitchFamily="34" charset="-120"/>
              </a:rPr>
              <a:t>L2: </a:t>
            </a:r>
            <a:pPr algn="l" indent="0" marL="0">
              <a:buNone/>
            </a:pPr>
            <a:r>
              <a:rPr lang="en-US" sz="950" dirty="0">
                <a:solidFill>
                  <a:srgbClr val="7F7F7F"/>
                </a:solidFill>
                <a:latin typeface="Arial" pitchFamily="34" charset="0"/>
                <a:ea typeface="Arial" pitchFamily="34" charset="-122"/>
                <a:cs typeface="Arial" pitchFamily="34" charset="-120"/>
              </a:rPr>
              <a:t>ridge penalty.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42855" y="182880"/>
            <a:ext cx="1828800" cy="320040"/>
          </a:xfrm>
          <a:prstGeom prst="rect">
            <a:avLst/>
          </a:prstGeom>
          <a:noFill/>
          <a:ln/>
        </p:spPr>
        <p:txBody>
          <a:bodyPr wrap="square" lIns="0" tIns="0" rIns="0" bIns="0" rtlCol="0" anchor="t"/>
          <a:lstStyle/>
          <a:p>
            <a:pPr algn="r" indent="0" marL="0">
              <a:buNone/>
            </a:pPr>
            <a:r>
              <a:rPr lang="en-US" sz="1100" b="1" dirty="0">
                <a:solidFill>
                  <a:srgbClr val="D9D9D9"/>
                </a:solidFill>
                <a:latin typeface="Arial" pitchFamily="34" charset="0"/>
                <a:ea typeface="Arial" pitchFamily="34" charset="-122"/>
                <a:cs typeface="Arial" pitchFamily="34" charset="-120"/>
              </a:rPr>
              <a:t>YOUR LOGO</a:t>
            </a:r>
            <a:endParaRPr lang="en-US" sz="1100" dirty="0"/>
          </a:p>
        </p:txBody>
      </p:sp>
      <p:sp>
        <p:nvSpPr>
          <p:cNvPr id="3" name="Text 1"/>
          <p:cNvSpPr/>
          <p:nvPr/>
        </p:nvSpPr>
        <p:spPr>
          <a:xfrm>
            <a:off x="539496" y="329184"/>
            <a:ext cx="8778240" cy="548640"/>
          </a:xfrm>
          <a:prstGeom prst="rect">
            <a:avLst/>
          </a:prstGeom>
          <a:noFill/>
          <a:ln/>
        </p:spPr>
        <p:txBody>
          <a:bodyPr wrap="square" lIns="0" tIns="0" rIns="0" bIns="0" rtlCol="0" anchor="t"/>
          <a:lstStyle/>
          <a:p>
            <a:pPr algn="l" indent="0" marL="0">
              <a:buNone/>
            </a:pPr>
            <a:r>
              <a:rPr lang="en-US" sz="2800" b="1" dirty="0">
                <a:solidFill>
                  <a:srgbClr val="595959"/>
                </a:solidFill>
                <a:latin typeface="Arial" pitchFamily="34" charset="0"/>
                <a:ea typeface="Arial" pitchFamily="34" charset="-122"/>
                <a:cs typeface="Arial" pitchFamily="34" charset="-120"/>
              </a:rPr>
              <a:t>Credits</a:t>
            </a:r>
            <a:endParaRPr lang="en-US" sz="2800" dirty="0"/>
          </a:p>
        </p:txBody>
      </p:sp>
      <p:sp>
        <p:nvSpPr>
          <p:cNvPr id="4" name="Text 2"/>
          <p:cNvSpPr/>
          <p:nvPr/>
        </p:nvSpPr>
        <p:spPr>
          <a:xfrm>
            <a:off x="11304727" y="6400800"/>
            <a:ext cx="548640" cy="274320"/>
          </a:xfrm>
          <a:prstGeom prst="rect">
            <a:avLst/>
          </a:prstGeom>
          <a:noFill/>
          <a:ln/>
        </p:spPr>
        <p:txBody>
          <a:bodyPr wrap="square" lIns="0" tIns="0" rIns="0" bIns="0" rtlCol="0" anchor="t"/>
          <a:lstStyle/>
          <a:p>
            <a:pPr algn="r" indent="0" marL="0">
              <a:buNone/>
            </a:pPr>
            <a:r>
              <a:rPr lang="en-US" sz="1200" dirty="0">
                <a:solidFill>
                  <a:srgbClr val="595959"/>
                </a:solidFill>
                <a:latin typeface="Arial" pitchFamily="34" charset="0"/>
                <a:ea typeface="Arial" pitchFamily="34" charset="-122"/>
                <a:cs typeface="Arial" pitchFamily="34" charset="-120"/>
              </a:rPr>
              <a:t>15</a:t>
            </a:r>
            <a:endParaRPr lang="en-US" sz="1200" dirty="0"/>
          </a:p>
        </p:txBody>
      </p:sp>
      <p:sp>
        <p:nvSpPr>
          <p:cNvPr id="5" name="Text 3"/>
          <p:cNvSpPr/>
          <p:nvPr/>
        </p:nvSpPr>
        <p:spPr>
          <a:xfrm>
            <a:off x="8762695" y="566928"/>
            <a:ext cx="3108960" cy="274320"/>
          </a:xfrm>
          <a:prstGeom prst="rect">
            <a:avLst/>
          </a:prstGeom>
          <a:noFill/>
          <a:ln/>
        </p:spPr>
        <p:txBody>
          <a:bodyPr wrap="square" lIns="0" tIns="0" rIns="0" bIns="0" rtlCol="0" anchor="t"/>
          <a:lstStyle/>
          <a:p>
            <a:pPr algn="r" indent="0" marL="0">
              <a:buNone/>
            </a:pPr>
            <a:r>
              <a:rPr lang="en-US" sz="1200" i="1" dirty="0">
                <a:solidFill>
                  <a:srgbClr val="7F7F7F"/>
                </a:solidFill>
                <a:latin typeface="Arial" pitchFamily="34" charset="0"/>
                <a:ea typeface="Arial" pitchFamily="34" charset="-122"/>
                <a:cs typeface="Arial" pitchFamily="34" charset="-120"/>
              </a:rPr>
              <a:t>Pattern: credits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3728" y="1143000"/>
          <a:ext cx="11064240" cy="3127248"/>
        </p:xfrm>
        <a:graphic>
          <a:graphicData uri="http://schemas.openxmlformats.org/drawingml/2006/table">
            <a:tbl>
              <a:tblPr/>
              <a:tblGrid>
                <a:gridCol w="3017520"/>
                <a:gridCol w="5852160"/>
                <a:gridCol w="2194560"/>
              </a:tblGrid>
              <a:tr h="411480">
                <a:tc>
                  <a:txBody>
                    <a:bodyPr/>
                    <a:lstStyle/>
                    <a:p>
                      <a:pPr algn="l" indent="0" marL="0">
                        <a:buNone/>
                      </a:pPr>
                      <a:r>
                        <a:rPr lang="en-US" sz="1200" b="1" dirty="0">
                          <a:solidFill>
                            <a:srgbClr val="595959"/>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algn="ctr" indent="0" marL="0">
                        <a:buNone/>
                      </a:pPr>
                      <a:r>
                        <a:rPr lang="en-US" sz="1200" b="1" dirty="0">
                          <a:solidFill>
                            <a:srgbClr val="595959"/>
                          </a:solidFill>
                          <a:latin typeface="Arial" pitchFamily="34" charset="0"/>
                          <a:ea typeface="Arial" pitchFamily="34" charset="-122"/>
                          <a:cs typeface="Arial" pitchFamily="34" charset="-120"/>
                        </a:rPr>
                        <a:t>Icons used in this deck</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algn="ctr" indent="0" marL="0">
                        <a:buNone/>
                      </a:pPr>
                      <a:r>
                        <a:rPr lang="en-US" sz="1200" b="1" dirty="0">
                          <a:solidFill>
                            <a:srgbClr val="595959"/>
                          </a:solidFill>
                          <a:latin typeface="Arial" pitchFamily="34" charset="0"/>
                          <a:ea typeface="Arial" pitchFamily="34" charset="-122"/>
                          <a:cs typeface="Arial" pitchFamily="34" charset="-120"/>
                        </a:rPr>
                        <a:t>Licence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19050"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r>
              <a:tr h="411480">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Health Icons (healthicons.org)</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biopsy, tissue, hospital, regular-patient, chart-line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CC0 1.0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9525" cap="flat" cmpd="sng" algn="ctr">
                      <a:solidFill>
                        <a:srgbClr val="595959"/>
                      </a:solidFill>
                      <a:prstDash val="solid"/>
                      <a:round/>
                      <a:headEnd type="none" w="med" len="med"/>
                      <a:tailEnd type="none" w="med" len="med"/>
                    </a:lnT>
                    <a:lnB w="0" cap="flat" cmpd="sng" algn="ctr">
                      <a:noFill/>
                    </a:lnB>
                  </a:tcPr>
                </a:tc>
              </a:tr>
              <a:tr h="658368">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Lucide (lucide.dev)</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scan-eye, brain-circuit, users, network, trending-down, microscope, clipboard-list,</a:t>
                      </a:r>
                      <a:endParaRPr lang="en-US" sz="1200" dirty="0">
                        <a:latin typeface="Arial" charset="0"/>
                        <a:ea typeface="Arial" charset="0"/>
                        <a:cs typeface="Arial" charset="0"/>
                      </a:endParaRPr>
                    </a:p>
                    <a:p>
                      <a:pPr algn="ctr" indent="0" marL="0">
                        <a:buNone/>
                      </a:pPr>
                      <a:r>
                        <a:rPr lang="en-US" sz="1200" dirty="0">
                          <a:solidFill>
                            <a:srgbClr val="222222"/>
                          </a:solidFill>
                          <a:latin typeface="Arial" pitchFamily="34" charset="0"/>
                          <a:ea typeface="Arial" pitchFamily="34" charset="-122"/>
                          <a:cs typeface="Arial" pitchFamily="34" charset="-120"/>
                        </a:rPr>
                        <a:t>list-checks, toolbox, message-square-text, bot, book-open-text, code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ISC (code: MIT, Feather)</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Tabler Icons (tabler.io/icons)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grid-scan, cube-spark, chart-histogram, stack-2, photo-scan, api</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MIT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200" dirty="0">
                          <a:solidFill>
                            <a:srgbClr val="222222"/>
                          </a:solidFill>
                          <a:latin typeface="Arial" pitchFamily="34" charset="0"/>
                          <a:ea typeface="Arial" pitchFamily="34" charset="-122"/>
                          <a:cs typeface="Arial" pitchFamily="34" charset="-120"/>
                        </a:rPr>
                        <a:t>Bioicons (bioicons.com)</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glass-slide — Servier Medical Art (smart.servier.com)</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CC BY 3.0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confocal-microscope — DBCLS TogoTV</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CC BY 4.0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single-cell-umap — James Lloyd; patient — Marcel Tisch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c>
                  <a:txBody>
                    <a:bodyPr/>
                    <a:lstStyle/>
                    <a:p>
                      <a:pPr algn="ctr" indent="0" marL="0">
                        <a:buNone/>
                      </a:pPr>
                      <a:r>
                        <a:rPr lang="en-US" sz="1200" dirty="0">
                          <a:solidFill>
                            <a:srgbClr val="222222"/>
                          </a:solidFill>
                          <a:latin typeface="Arial" pitchFamily="34" charset="0"/>
                          <a:ea typeface="Arial" pitchFamily="34" charset="-122"/>
                          <a:cs typeface="Arial" pitchFamily="34" charset="-120"/>
                        </a:rPr>
                        <a:t>CC0 1.0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595959"/>
                      </a:solidFill>
                      <a:prstDash val="solid"/>
                      <a:round/>
                      <a:headEnd type="none" w="med" len="med"/>
                      <a:tailEnd type="none" w="med" len="med"/>
                    </a:lnB>
                  </a:tcPr>
                </a:tc>
              </a:tr>
            </a:tbl>
          </a:graphicData>
        </a:graphic>
      </p:graphicFrame>
      <p:sp>
        <p:nvSpPr>
          <p:cNvPr id="7" name="Text 4"/>
          <p:cNvSpPr/>
          <p:nvPr/>
        </p:nvSpPr>
        <p:spPr>
          <a:xfrm>
            <a:off x="563728" y="4526280"/>
            <a:ext cx="11064240" cy="1280160"/>
          </a:xfrm>
          <a:prstGeom prst="rect">
            <a:avLst/>
          </a:prstGeom>
          <a:noFill/>
          <a:ln/>
        </p:spPr>
        <p:txBody>
          <a:bodyPr wrap="square" lIns="0" tIns="0" rIns="0" bIns="0" rtlCol="0" anchor="t"/>
          <a:lstStyle/>
          <a:p>
            <a:pPr algn="l" indent="0" marL="0">
              <a:spcAft>
                <a:spcPts val="600"/>
              </a:spcAft>
              <a:buNone/>
            </a:pPr>
            <a:r>
              <a:rPr lang="en-US" sz="1300" b="1" dirty="0">
                <a:solidFill>
                  <a:srgbClr val="595959"/>
                </a:solidFill>
                <a:latin typeface="Arial" pitchFamily="34" charset="0"/>
                <a:ea typeface="Arial" pitchFamily="34" charset="-122"/>
                <a:cs typeface="Arial" pitchFamily="34" charset="-120"/>
              </a:rPr>
              <a:t>Data: </a:t>
            </a:r>
            <a:pPr algn="l" indent="0" marL="0">
              <a:spcAft>
                <a:spcPts val="600"/>
              </a:spcAft>
              <a:buNone/>
            </a:pPr>
            <a:r>
              <a:rPr lang="en-US" sz="1300" dirty="0">
                <a:solidFill>
                  <a:srgbClr val="595959"/>
                </a:solidFill>
                <a:latin typeface="Arial" pitchFamily="34" charset="0"/>
                <a:ea typeface="Arial" pitchFamily="34" charset="-122"/>
                <a:cs typeface="Arial" pitchFamily="34" charset="-120"/>
              </a:rPr>
              <a:t>GBSG2 trial counts (686 patients, 299 recurrence-or-death events) via lifelines load_gbsg2.</a:t>
            </a:r>
            <a:endParaRPr lang="en-US" sz="1300" dirty="0"/>
          </a:p>
          <a:p>
            <a:pPr algn="l" indent="0" marL="0">
              <a:spcAft>
                <a:spcPts val="600"/>
              </a:spcAft>
              <a:buNone/>
            </a:pPr>
            <a:r>
              <a:rPr lang="en-US" sz="1300" b="1" dirty="0">
                <a:solidFill>
                  <a:srgbClr val="595959"/>
                </a:solidFill>
                <a:latin typeface="Arial" pitchFamily="34" charset="0"/>
                <a:ea typeface="Arial" pitchFamily="34" charset="-122"/>
                <a:cs typeface="Arial" pitchFamily="34" charset="-120"/>
              </a:rPr>
              <a:t>Reference: </a:t>
            </a:r>
            <a:pPr algn="l" indent="0" marL="0">
              <a:spcAft>
                <a:spcPts val="600"/>
              </a:spcAft>
              <a:buNone/>
            </a:pPr>
            <a:r>
              <a:rPr lang="en-US" sz="1300" dirty="0">
                <a:solidFill>
                  <a:srgbClr val="595959"/>
                </a:solidFill>
                <a:latin typeface="Arial" pitchFamily="34" charset="0"/>
                <a:ea typeface="Arial" pitchFamily="34" charset="-122"/>
                <a:cs typeface="Arial" pitchFamily="34" charset="-120"/>
              </a:rPr>
              <a:t>Lu, Ming Y., et al. </a:t>
            </a:r>
            <a:pPr algn="l" indent="0" marL="0">
              <a:spcAft>
                <a:spcPts val="600"/>
              </a:spcAft>
              <a:buNone/>
            </a:pPr>
            <a:r>
              <a:rPr lang="en-US" sz="1300" i="1" dirty="0">
                <a:solidFill>
                  <a:srgbClr val="595959"/>
                </a:solidFill>
                <a:latin typeface="Arial" pitchFamily="34" charset="0"/>
                <a:ea typeface="Arial" pitchFamily="34" charset="-122"/>
                <a:cs typeface="Arial" pitchFamily="34" charset="-120"/>
              </a:rPr>
              <a:t>Nature Biomedical Engineering</a:t>
            </a:r>
            <a:pPr algn="l" indent="0" marL="0">
              <a:spcAft>
                <a:spcPts val="600"/>
              </a:spcAft>
              <a:buNone/>
            </a:pPr>
            <a:r>
              <a:rPr lang="en-US" sz="1300" dirty="0">
                <a:solidFill>
                  <a:srgbClr val="595959"/>
                </a:solidFill>
                <a:latin typeface="Arial" pitchFamily="34" charset="0"/>
                <a:ea typeface="Arial" pitchFamily="34" charset="-122"/>
                <a:cs typeface="Arial" pitchFamily="34" charset="-120"/>
              </a:rPr>
              <a:t> 5.6 (2021): 555–570.</a:t>
            </a:r>
            <a:endParaRPr lang="en-US" sz="1300" dirty="0"/>
          </a:p>
          <a:p>
            <a:pPr algn="l" indent="0" marL="0">
              <a:buNone/>
            </a:pPr>
            <a:r>
              <a:rPr lang="en-US" sz="1300" dirty="0">
                <a:solidFill>
                  <a:srgbClr val="595959"/>
                </a:solidFill>
                <a:latin typeface="Arial" pitchFamily="34" charset="0"/>
                <a:ea typeface="Arial" pitchFamily="34" charset="-122"/>
                <a:cs typeface="Arial" pitchFamily="34" charset="-120"/>
              </a:rPr>
              <a:t>All other content is an illustrative example; values marked XX are placeholders.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Narrative slide patterns</dc:title>
  <dc:subject>PptxGenJS Presentation</dc:subject>
  <dc:creator>PptxGenJS</dc:creator>
  <cp:lastModifiedBy>PptxGenJS</cp:lastModifiedBy>
  <cp:revision>1</cp:revision>
  <dcterms:created xsi:type="dcterms:W3CDTF">2026-10-01T22:00:31Z</dcterms:created>
  <dcterms:modified xsi:type="dcterms:W3CDTF">2026-10-01T22:00:31Z</dcterms:modified>
</cp:coreProperties>
</file>