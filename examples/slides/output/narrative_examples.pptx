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title slide. The first slide carries the talk title, the presenter, affiliation and date; it has no topic-title chrome and no page number.</a:t>
            </a:r>
          </a:p>
          <a:p>
            <a:endParaRPr lang="en-US" dirty="0"/>
          </a:p>
          <a:p>
            <a:r>
              <a:rPr lang="en-US" dirty="0"/>
              <a:t>Design rules shown: logo placeholder top left; title in a horizontal band with a thin accent bar on its left (0.1 x 1.86 in) and a full-width accent rule near the bottom (y 6.83); the title wraps onto two lines inside one text box; presenter, affiliation and date right-aligned under the title. The presenter's name appears only here (and in literature citations), never in notes, code or other slides.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agenda / roadmap. Show it after the title, and again at each section start with that section highlighted, so the audience always knows where they are. Four to six sections; more is a table of contents.</a:t>
            </a:r>
          </a:p>
          <a:p>
            <a:endParaRPr lang="en-US" dirty="0"/>
          </a:p>
          <a:p>
            <a:r>
              <a:rPr lang="en-US" dirty="0"/>
              <a:t>Design rules shown: numbered rows; the current section has an accent numeral, black name, tint band and accent edge bar; the other sections are muted gray; one short subtitle per section, no bullets. Reuse the same geometry on every repeat so only the highlight moves.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section divider. Use it between major blocks of a long talk (20 minutes or more) as a pause; in a short talk the repeated agenda slide does the same job.</a:t>
            </a:r>
          </a:p>
          <a:p>
            <a:endParaRPr lang="en-US" dirty="0"/>
          </a:p>
          <a:p>
            <a:r>
              <a:rPr lang="en-US" dirty="0"/>
              <a:t>Design rules shown: no topic title, nothing to read except the number and the section name (the same words as on the agenda); one accent numeral, a thin gray rule, white space. The page number stays.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big statement. Use it to open the background with the one sentence the audience should accept before the study makes sense; two or three bullets give the support, a citation backs the claim.</a:t>
            </a:r>
          </a:p>
          <a:p>
            <a:endParaRPr lang="en-US" dirty="0"/>
          </a:p>
          <a:p>
            <a:r>
              <a:rPr lang="en-US" dirty="0"/>
              <a:t>Design rules shown: the statement is a complete sentence in 30 pt bold black next to a thin accent bar; bullets 18 pt gray with a bold lead phrase; the citation sits in the source position, 9 pt serif, journal in italics, format 'Surname, Given, et al. Journal vol.issue (year): pages'. No separate conclusion box: the statement is the take-home line.</a:t>
            </a:r>
          </a:p>
          <a:p>
            <a:endParaRPr lang="en-US" dirty="0"/>
          </a:p>
          <a:p>
            <a:r>
              <a:rPr lang="en-US" dirty="0"/>
              <a:t>Reference: CLAM, data-efficient weakly supervised computational pathology on whole-slide images; PMID 33649564, doi 10.1038/s41551-020-00682-w (checked against PubMed metadata).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problem → approach → impact. Use it once, early, to frame the whole talk in three steps the audience can repeat. Each column answers one question: what is wrong, what we do, what changes.</a:t>
            </a:r>
          </a:p>
          <a:p>
            <a:endParaRPr lang="en-US" dirty="0"/>
          </a:p>
          <a:p>
            <a:r>
              <a:rPr lang="en-US" dirty="0"/>
              <a:t>Design rules shown: three equal columns on one grid; one icon per column, same size (0.9 in) and same color; a small accent tag, a short header (four or five words) and two lines of body text; thin gray arrows between the columns; a single take-home line at the bottom.</a:t>
            </a:r>
          </a:p>
          <a:p>
            <a:endParaRPr lang="en-US" dirty="0"/>
          </a:p>
          <a:p>
            <a:r>
              <a:rPr lang="en-US" dirty="0"/>
              <a:t>Icons: lucide/scan-eye, lucide/brain-circuit, lucide/users (ISC).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data modalities grid. Use it before the methods, so the audience knows what goes in and how much of each there is. One card per modality; four in a row, or 2 x 2 when each card needs two lines more.</a:t>
            </a:r>
          </a:p>
          <a:p>
            <a:endParaRPr lang="en-US" dirty="0"/>
          </a:p>
          <a:p>
            <a:r>
              <a:rPr lang="en-US" dirty="0"/>
              <a:t>Design rules shown: equal cards on one grid with a thin accent top edge; one illustration per card at the same size (1.5 in square box) from one icon source; a header, one line of detail and the count in accent. Counts are placeholders (n = XX) here; in a real deck they come from the cohort table and are the same numbers as on the cohort slide.</a:t>
            </a:r>
          </a:p>
          <a:p>
            <a:endParaRPr lang="en-US" dirty="0"/>
          </a:p>
          <a:p>
            <a:r>
              <a:rPr lang="en-US" dirty="0"/>
              <a:t>Icons: Bioicons glass-slide (Servier Medical Art, CC BY 3.0) and confocal-microscope (DBCLS TogoTV, CC BY 4.0) need attribution, given on the source line and on the credits slide; single-cell-umap (James Lloyd) and patient (Marcel Tisch) are CC0.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methods flow. Use it for a processing pipeline of three to five steps; each card says what is done and the key parameter, never a result.</a:t>
            </a:r>
          </a:p>
          <a:p>
            <a:endParaRPr lang="en-US" dirty="0"/>
          </a:p>
          <a:p>
            <a:r>
              <a:rPr lang="en-US" dirty="0"/>
              <a:t>Design rules shown: one row of equal step cards 0.32 in apart with a small gray arrow between them; accent header '1 · Step' in 14 pt white bold; tint body in 13 pt near-black; one accent icon per card, same size and position (0.6 in, top left of the body); definitions as 14 pt bullets under the row; one take-home line.</a:t>
            </a:r>
          </a:p>
          <a:p>
            <a:endParaRPr lang="en-US" dirty="0"/>
          </a:p>
          <a:p>
            <a:r>
              <a:rPr lang="en-US" dirty="0"/>
              <a:t>Icons: tabler/grid-scan, tabler/cube-spark, lucide/network, tabler/chart-histogram, lucide/trending-down (MIT / ISC). Parameters (20×, 5 folds) are illustrative settings, not results.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framework diagram (inputs → processing band → outputs). Use it once as the map of the whole analysis; later slides zoom into one part of it.</a:t>
            </a:r>
          </a:p>
          <a:p>
            <a:endParaRPr lang="en-US" dirty="0"/>
          </a:p>
          <a:p>
            <a:r>
              <a:rPr lang="en-US" dirty="0"/>
              <a:t>Design rules shown: the processing layer is a tint band; steps inside it are white boxes joined by thin gray arrows; outside the band only thick accent arrows, exactly one per input and one per output; inputs on the left, outputs on the right, rows aligned on the same center lines. Every icon is its own image and every label a native text box, so the diagram can be edited in PowerPoint.</a:t>
            </a:r>
          </a:p>
          <a:p>
            <a:endParaRPr lang="en-US" dirty="0"/>
          </a:p>
          <a:p>
            <a:r>
              <a:rPr lang="en-US" dirty="0"/>
              <a:t>Icons: lucide/microscope, tabler/stack-2, lucide/clipboard-list (inputs); tabler/chart-histogram, tabler/photo-scan (outputs).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agent loop. Use it to explain an LLM / VLM agent: what it plans, which tools it may call, what it observes and when it stops. A loop reads as iteration; a straight line would hide that the agent revises.</a:t>
            </a:r>
          </a:p>
          <a:p>
            <a:endParaRPr lang="en-US" dirty="0"/>
          </a:p>
          <a:p>
            <a:r>
              <a:rPr lang="en-US" dirty="0"/>
              <a:t>Design rules shown: four numbered steps on a diamond, one accent icon each (same size, 0.65 in), joined by thin gray arrows; the agent itself in the center in gray; the tool list on the right as icon + bold name + one line; the stop condition (human sign-off) in a tint box. All shapes and arrows are native and editable.</a:t>
            </a:r>
          </a:p>
          <a:p>
            <a:endParaRPr lang="en-US" dirty="0"/>
          </a:p>
          <a:p>
            <a:r>
              <a:rPr lang="en-US" dirty="0"/>
              <a:t>Icons: lucide/list-checks, lucide/toolbox, lucide/scan-eye, lucide/message-square-text, lucide/bot, lucide/book-open-text (ISC); tabler/photo-scan, tabler/api (MIT).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timeline / study design. Use it to define the time axis of a survival analysis (time zero, exposure window, event, censoring) or to show project phases. Three to six milestones.</a:t>
            </a:r>
          </a:p>
          <a:p>
            <a:endParaRPr lang="en-US" dirty="0"/>
          </a:p>
          <a:p>
            <a:r>
              <a:rPr lang="en-US" dirty="0"/>
              <a:t>Design rules shown: one horizontal axis with an arrow head; round markers on the axis, filled accent for the two that define the endpoint (time zero and event), white with a gray ring for the rest; labels alternate above and below so they never collide; one icon per milestone from one icon source, all the same size; a thin gray stem joins each marker to its label.</a:t>
            </a:r>
          </a:p>
          <a:p>
            <a:endParaRPr lang="en-US" dirty="0"/>
          </a:p>
          <a:p>
            <a:r>
              <a:rPr lang="en-US" dirty="0"/>
              <a:t>Numbers: 686 patients and 299 recurrence-or-death events from lifelines load_gbsg2; the timeline itself is the illustrative study's design, not GBSG2's.</a:t>
            </a:r>
          </a:p>
          <a:p>
            <a:endParaRPr lang="en-US" dirty="0"/>
          </a:p>
          <a:p>
            <a:r>
              <a:rPr lang="en-US" dirty="0"/>
              <a:t>Icons: Health Icons biopsy, tissue, hospital, regular-patient, chart-line (CC0).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two-column comparison (prior approaches vs this work, or pros vs cons). Use it when the audience needs the difference on a few named criteria, not a literature review.</a:t>
            </a:r>
          </a:p>
          <a:p>
            <a:endParaRPr lang="en-US" dirty="0"/>
          </a:p>
          <a:p>
            <a:r>
              <a:rPr lang="en-US" dirty="0"/>
              <a:t>Design rules shown: one row per criterion with the criterion name on the left, so the two columns are read across, not down; markers drawn from native shapes (accent check = has it, gray cross = lacks it, gray dash = partly) instead of symbol-font glyphs that may be missing on another machine; 'This work' column on a tint band with an accent header; rows separated by thin rules. Be honest: show where prior work is better (validation here) and say so in the take-home line.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limitations. Use it before the summary, so the take-home messages are heard with their caveats. Three or four limitations, each paired with what it affects; a list without consequences reads as ritual.</a:t>
            </a:r>
          </a:p>
          <a:p>
            <a:endParaRPr lang="en-US" dirty="0"/>
          </a:p>
          <a:p>
            <a:r>
              <a:rPr lang="en-US" dirty="0"/>
              <a:t>Design rules shown: calm gray styling (no accent: limitations are not highlights); numbered rows with the limitation in bold and its consequence in the right column; thin rules between rows; the take-home line names the status of the results (exploratory) and what is needed next.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key takeaways. Use it as the last content slide: three numbered messages the audience should leave with, each backed by one line of evidence from an earlier slide.</a:t>
            </a:r>
          </a:p>
          <a:p>
            <a:endParaRPr lang="en-US" dirty="0"/>
          </a:p>
          <a:p>
            <a:r>
              <a:rPr lang="en-US" dirty="0"/>
              <a:t>Design rules shown: accent numerals (44 pt) as the only color; each takeaway a short bold claim in black, then one gray evidence line; thin rules between rows; no conclusion box, because the takeaways are the conclusion. No number may appear here that was not on an earlier result slide, and the wording keeps the earlier qualifiers (candidate, exploratory).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next steps / roadmap. Use it at the end of a progress talk: three time-boxed cards, the first one highlighted because it is the decision point.</a:t>
            </a:r>
          </a:p>
          <a:p>
            <a:endParaRPr lang="en-US" dirty="0"/>
          </a:p>
          <a:p>
            <a:r>
              <a:rPr lang="en-US" dirty="0"/>
              <a:t>Design rules shown: equal cards on one grid under a thin gray time arrow; a dark header with the timeframe (accent only for the first, the current priority); one icon, a short title and two bullets per card; the take-home line says what the plan depends on.</a:t>
            </a:r>
          </a:p>
          <a:p>
            <a:endParaRPr lang="en-US" dirty="0"/>
          </a:p>
          <a:p>
            <a:r>
              <a:rPr lang="en-US" dirty="0"/>
              <a:t>Icons: lucide/users, lucide/list-checks, lucide/code (ISC; code is MIT via Feather).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questions / thank you. Use the same frame as the title slide so the talk visibly closes; leave it up during questions, with a way to reach the team and the code.</a:t>
            </a:r>
          </a:p>
          <a:p>
            <a:endParaRPr lang="en-US" dirty="0"/>
          </a:p>
          <a:p>
            <a:r>
              <a:rPr lang="en-US" dirty="0"/>
              <a:t>Design rules shown: same logo, accent bar and bottom rule as the title slide; no page number; contact as a generic address (a team or lab address, not a person's name); small gray icons in front of each contact line.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supplementary slide, hidden in the slide show (slide.hidden = true, show="0"). Use it for the dense settings table you expect a question about; it stays in the file and the PDF but is skipped when presenting.</a:t>
            </a:r>
          </a:p>
          <a:p>
            <a:endParaRPr lang="en-US" dirty="0"/>
          </a:p>
          <a:p>
            <a:r>
              <a:rPr lang="en-US" dirty="0"/>
              <a:t>Design rules shown: same chrome as a main slide (topic title, conclusion, abbreviations); the three-line table may be denser (13 pt, nine rows) because it is read on demand; first column bold and left-aligned, the others centered. Values marked XX are placeholders; the settings shown are illustrative choices.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credits. Use it as the very last slide (after the supplementary slides) whenever the deck uses third-party icons, images or data: list every source actually used with its license, and the author for attribution licenses (CC BY). CC BY icons are also credited on the slide where they appear.</a:t>
            </a:r>
          </a:p>
          <a:p>
            <a:endParaRPr lang="en-US" dirty="0"/>
          </a:p>
          <a:p>
            <a:r>
              <a:rPr lang="en-US" dirty="0"/>
              <a:t>Design rules shown: one three-line table (source, items, license), first column left, others centered; data and literature sources in plain text below. Authors of icons and references are the only person names in the deck besides the presenter placeholder.</a:t>
            </a:r>
          </a:p>
          <a:p>
            <a:endParaRPr lang="en-US" dirty="0"/>
          </a:p>
          <a:p>
            <a:r>
              <a:rPr lang="en-US" dirty="0"/>
              <a:t>Illustrative example: a design example, not a real study. Placeholders (n = XX) stand where a real deck would put numbers from its own result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91440" cy="170078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245352"/>
            <a:ext cx="12191695" cy="45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title slide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Computational Pathology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Spatial Omics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340156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whole-slide images and cell graphs to a survival model and a draft report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852160" y="4343400"/>
            <a:ext cx="5790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Name, Role</a:t>
            </a:r>
            <a:endParaRPr lang="en-US" sz="16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Department, Institution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name · Month DD, YYYY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agenda / roadmap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1325880"/>
            <a:ext cx="10362895" cy="713232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25880"/>
            <a:ext cx="73152" cy="713232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32588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194560" y="138074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0" y="1380744"/>
            <a:ext cx="46936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tissue architecture matters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213055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194560" y="218541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methods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0" y="2185416"/>
            <a:ext cx="46936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Slides, spatial omics and the survival model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234440" y="2889504"/>
            <a:ext cx="1004285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29352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2194560" y="299008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00800" y="2990088"/>
            <a:ext cx="46936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score and model comparison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34440" y="3694176"/>
            <a:ext cx="1004285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34440" y="3739896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2194560" y="379476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Report-drafting agent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0" y="3794760"/>
            <a:ext cx="46936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/ VLM agent that writes a draft report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234440" y="4498848"/>
            <a:ext cx="1004285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34440" y="454456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194560" y="4599432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and next steps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00800" y="4599432"/>
            <a:ext cx="46936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results can and cannot support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section divider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97280" y="18288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4069080" y="2148840"/>
            <a:ext cx="36576" cy="1371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" name="Text 5"/>
          <p:cNvSpPr/>
          <p:nvPr/>
        </p:nvSpPr>
        <p:spPr>
          <a:xfrm>
            <a:off x="4434840" y="2148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methods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434840" y="29260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Slides, spatial omics and the survival model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big statement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73152" cy="12344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554480"/>
            <a:ext cx="1054577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Whole-slide images can be learned from slide-level labels alone, without drawing a single region.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105457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supervision: </a:t>
            </a:r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attention-based multiple-instance learning finds the regions that drive a slide label</a:t>
            </a:r>
            <a:endParaRPr lang="en-US" sz="18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Scale: </a:t>
            </a:r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label per slide makes routine archives usable, not only annotated sets</a:t>
            </a:r>
            <a:endParaRPr lang="en-US" sz="18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question: </a:t>
            </a:r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idea for outcome (survival), and for spatial omics next to H&amp;E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Lu, Ming Y., et al. </a:t>
            </a:r>
            <a:pPr algn="r" indent="0" marL="0">
              <a:buNone/>
            </a:pPr>
            <a:r>
              <a:rPr lang="en-US" sz="900" i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Nature Biomedical Engineering</a:t>
            </a:r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5.6 (2021): 555–570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Problem, Approach and Impact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problem → approach → impact</a:t>
            </a:r>
            <a:endParaRPr lang="en-US" sz="1200" dirty="0"/>
          </a:p>
        </p:txBody>
      </p:sp>
      <p:pic>
        <p:nvPicPr>
          <p:cNvPr id="6" name="Image 0" descr="/mnt/data1/bal753/research-skills/examples/icons/png/lucide/scan-eye_acc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869" y="160020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06040"/>
            <a:ext cx="3271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297180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context is lost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352044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Tile models average away where cells sit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929786" y="2011680"/>
            <a:ext cx="420624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pic>
        <p:nvPicPr>
          <p:cNvPr id="11" name="Image 1" descr="/mnt/data1/bal753/research-skills/examples/icons/png/lucide/brain-circuit_ac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368" y="1600200"/>
            <a:ext cx="822960" cy="8229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60138" y="2606040"/>
            <a:ext cx="3271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460138" y="297180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from the tissue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4643018" y="352044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Foundation-model tiles plus cell graphs, trained on outcome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841285" y="2011680"/>
            <a:ext cx="420624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pic>
        <p:nvPicPr>
          <p:cNvPr id="16" name="Image 2" descr="/mnt/data1/bal753/research-skills/examples/icons/png/lucide/users_acc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866" y="1600200"/>
            <a:ext cx="822960" cy="8229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71637" y="2606040"/>
            <a:ext cx="3271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371637" y="297180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Stratify patients by risk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8554517" y="352044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reproducible score and a draft report for review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40080" y="544068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a risk score from routine slides and spatial data that a pathologist can check.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Modalities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data modalities grid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2567864" cy="374904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234440"/>
            <a:ext cx="2567864" cy="54864"/>
          </a:xfrm>
          <a:prstGeom prst="rect">
            <a:avLst/>
          </a:prstGeom>
          <a:solidFill>
            <a:srgbClr val="A51C30"/>
          </a:solidFill>
          <a:ln/>
        </p:spPr>
      </p:sp>
      <p:pic>
        <p:nvPicPr>
          <p:cNvPr id="8" name="Image 0" descr="/mnt/data1/bal753/research-skills/examples/icons/png/bioicons/glass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6772" y="1554480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10896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H&amp;E whole-slide images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31520" y="379476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Scanned at 40×, one per resection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443484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XX slides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90824" y="1234440"/>
            <a:ext cx="2567864" cy="374904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3" name="Shape 10"/>
          <p:cNvSpPr/>
          <p:nvPr/>
        </p:nvSpPr>
        <p:spPr>
          <a:xfrm>
            <a:off x="3390824" y="1234440"/>
            <a:ext cx="2567864" cy="54864"/>
          </a:xfrm>
          <a:prstGeom prst="rect">
            <a:avLst/>
          </a:prstGeom>
          <a:solidFill>
            <a:srgbClr val="A51C30"/>
          </a:solidFill>
          <a:ln/>
        </p:spPr>
      </p:sp>
      <p:pic>
        <p:nvPicPr>
          <p:cNvPr id="14" name="Image 1" descr="/mnt/data1/bal753/research-skills/examples/icons/png/bioicons/confocal-microsc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8956" y="1554480"/>
            <a:ext cx="1371600" cy="1371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73704" y="310896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Multiplex imaging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3573704" y="379476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40-plex protein panel on a subset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573704" y="443484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XX regions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6233008" y="1234440"/>
            <a:ext cx="2567864" cy="374904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9" name="Shape 15"/>
          <p:cNvSpPr/>
          <p:nvPr/>
        </p:nvSpPr>
        <p:spPr>
          <a:xfrm>
            <a:off x="6233008" y="1234440"/>
            <a:ext cx="2567864" cy="54864"/>
          </a:xfrm>
          <a:prstGeom prst="rect">
            <a:avLst/>
          </a:prstGeom>
          <a:solidFill>
            <a:srgbClr val="A51C30"/>
          </a:solidFill>
          <a:ln/>
        </p:spPr>
      </p:sp>
      <p:pic>
        <p:nvPicPr>
          <p:cNvPr id="20" name="Image 2" descr="/mnt/data1/bal753/research-skills/examples/icons/png/bioicons/single-cell-u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1140" y="1554480"/>
            <a:ext cx="1371600" cy="1371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15888" y="310896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Single-cell phenotypes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6415888" y="379476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types called from the panel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15888" y="443484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XX cells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9075191" y="1234440"/>
            <a:ext cx="2567864" cy="374904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5" name="Shape 20"/>
          <p:cNvSpPr/>
          <p:nvPr/>
        </p:nvSpPr>
        <p:spPr>
          <a:xfrm>
            <a:off x="9075191" y="1234440"/>
            <a:ext cx="2567864" cy="54864"/>
          </a:xfrm>
          <a:prstGeom prst="rect">
            <a:avLst/>
          </a:prstGeom>
          <a:solidFill>
            <a:srgbClr val="A51C30"/>
          </a:solidFill>
          <a:ln/>
        </p:spPr>
      </p:sp>
      <p:pic>
        <p:nvPicPr>
          <p:cNvPr id="26" name="Image 3" descr="/mnt/data1/bal753/research-skills/examples/icons/png/bioicons/pati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3323" y="1554480"/>
            <a:ext cx="1371600" cy="13716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258071" y="310896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and outcome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258071" y="3794760"/>
            <a:ext cx="2202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Stage, therapy, recurrence-free survival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9258071" y="443484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XX patients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640080" y="544068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modalities from the same patients, linked by patient ID; multiplex data exist for a subset only.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Icons: Bioicons — glass slide by Servier Medical Art (CC BY 3.0); confocal microscope by DBCLS TogoTV (CC BY 4.0)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— Slide to Survival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methods flow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1984797" cy="384048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188720"/>
            <a:ext cx="17653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Tile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1984797" cy="1719072"/>
          </a:xfrm>
          <a:prstGeom prst="rect">
            <a:avLst/>
          </a:prstGeom>
          <a:solidFill>
            <a:srgbClr val="F3F3F3"/>
          </a:solidFill>
          <a:ln/>
        </p:spPr>
      </p:sp>
      <p:pic>
        <p:nvPicPr>
          <p:cNvPr id="9" name="Image 0" descr="/mnt/data1/bal753/research-skills/examples/icons/png/tabler/grid-scan_acc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2414016"/>
            <a:ext cx="1710477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Tissue tiles at 20×; background masked out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588301" y="2130552"/>
            <a:ext cx="182880" cy="219456"/>
          </a:xfrm>
          <a:prstGeom prst="rightArrow">
            <a:avLst/>
          </a:prstGeom>
          <a:solidFill>
            <a:srgbClr val="7F7F7F"/>
          </a:solidFill>
          <a:ln/>
        </p:spPr>
      </p:sp>
      <p:sp>
        <p:nvSpPr>
          <p:cNvPr id="12" name="Shape 9"/>
          <p:cNvSpPr/>
          <p:nvPr/>
        </p:nvSpPr>
        <p:spPr>
          <a:xfrm>
            <a:off x="2826045" y="1188720"/>
            <a:ext cx="1984797" cy="384048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773" y="1188720"/>
            <a:ext cx="17653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Embed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826045" y="1572768"/>
            <a:ext cx="1984797" cy="1719072"/>
          </a:xfrm>
          <a:prstGeom prst="rect">
            <a:avLst/>
          </a:prstGeom>
          <a:solidFill>
            <a:srgbClr val="F3F3F3"/>
          </a:solidFill>
          <a:ln/>
        </p:spPr>
      </p:sp>
      <p:pic>
        <p:nvPicPr>
          <p:cNvPr id="15" name="Image 1" descr="/mnt/data1/bal753/research-skills/examples/icons/png/tabler/cube-spark_ac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205" y="1737360"/>
            <a:ext cx="548640" cy="5486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963205" y="2414016"/>
            <a:ext cx="1710477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Frozen pathology foundation model; one vector per tile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865705" y="2130552"/>
            <a:ext cx="182880" cy="219456"/>
          </a:xfrm>
          <a:prstGeom prst="rightArrow">
            <a:avLst/>
          </a:prstGeom>
          <a:solidFill>
            <a:srgbClr val="7F7F7F"/>
          </a:solidFill>
          <a:ln/>
        </p:spPr>
      </p:sp>
      <p:sp>
        <p:nvSpPr>
          <p:cNvPr id="18" name="Shape 14"/>
          <p:cNvSpPr/>
          <p:nvPr/>
        </p:nvSpPr>
        <p:spPr>
          <a:xfrm>
            <a:off x="5103449" y="1188720"/>
            <a:ext cx="1984797" cy="384048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9" name="Text 15"/>
          <p:cNvSpPr/>
          <p:nvPr/>
        </p:nvSpPr>
        <p:spPr>
          <a:xfrm>
            <a:off x="5213177" y="1188720"/>
            <a:ext cx="17653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Aggregate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103449" y="1572768"/>
            <a:ext cx="1984797" cy="1719072"/>
          </a:xfrm>
          <a:prstGeom prst="rect">
            <a:avLst/>
          </a:prstGeom>
          <a:solidFill>
            <a:srgbClr val="F3F3F3"/>
          </a:solidFill>
          <a:ln/>
        </p:spPr>
      </p:sp>
      <p:pic>
        <p:nvPicPr>
          <p:cNvPr id="21" name="Image 2" descr="/mnt/data1/bal753/research-skills/examples/icons/png/lucide/network_acc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609" y="1737360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40609" y="2414016"/>
            <a:ext cx="1710477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MIL or cell graph pools tiles per slide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7143110" y="2130552"/>
            <a:ext cx="182880" cy="219456"/>
          </a:xfrm>
          <a:prstGeom prst="rightArrow">
            <a:avLst/>
          </a:prstGeom>
          <a:solidFill>
            <a:srgbClr val="7F7F7F"/>
          </a:solidFill>
          <a:ln/>
        </p:spPr>
      </p:sp>
      <p:sp>
        <p:nvSpPr>
          <p:cNvPr id="24" name="Shape 19"/>
          <p:cNvSpPr/>
          <p:nvPr/>
        </p:nvSpPr>
        <p:spPr>
          <a:xfrm>
            <a:off x="7380854" y="1188720"/>
            <a:ext cx="1984797" cy="384048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5" name="Text 20"/>
          <p:cNvSpPr/>
          <p:nvPr/>
        </p:nvSpPr>
        <p:spPr>
          <a:xfrm>
            <a:off x="7490582" y="1188720"/>
            <a:ext cx="17653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Score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7380854" y="1572768"/>
            <a:ext cx="1984797" cy="1719072"/>
          </a:xfrm>
          <a:prstGeom prst="rect">
            <a:avLst/>
          </a:prstGeom>
          <a:solidFill>
            <a:srgbClr val="F3F3F3"/>
          </a:solidFill>
          <a:ln/>
        </p:spPr>
      </p:sp>
      <p:pic>
        <p:nvPicPr>
          <p:cNvPr id="27" name="Image 3" descr="/mnt/data1/bal753/research-skills/examples/icons/png/tabler/chart-histogram_acc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014" y="1737360"/>
            <a:ext cx="548640" cy="54864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518014" y="2414016"/>
            <a:ext cx="1710477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Cox head: one risk score per patient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9420515" y="2130552"/>
            <a:ext cx="182880" cy="219456"/>
          </a:xfrm>
          <a:prstGeom prst="rightArrow">
            <a:avLst/>
          </a:prstGeom>
          <a:solidFill>
            <a:srgbClr val="7F7F7F"/>
          </a:solidFill>
          <a:ln/>
        </p:spPr>
      </p:sp>
      <p:sp>
        <p:nvSpPr>
          <p:cNvPr id="30" name="Shape 24"/>
          <p:cNvSpPr/>
          <p:nvPr/>
        </p:nvSpPr>
        <p:spPr>
          <a:xfrm>
            <a:off x="9658259" y="1188720"/>
            <a:ext cx="1984797" cy="384048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1" name="Text 25"/>
          <p:cNvSpPr/>
          <p:nvPr/>
        </p:nvSpPr>
        <p:spPr>
          <a:xfrm>
            <a:off x="9767987" y="1188720"/>
            <a:ext cx="17653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Survival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9658259" y="1572768"/>
            <a:ext cx="1984797" cy="1719072"/>
          </a:xfrm>
          <a:prstGeom prst="rect">
            <a:avLst/>
          </a:prstGeom>
          <a:solidFill>
            <a:srgbClr val="F3F3F3"/>
          </a:solidFill>
          <a:ln/>
        </p:spPr>
      </p:sp>
      <p:pic>
        <p:nvPicPr>
          <p:cNvPr id="33" name="Image 4" descr="/mnt/data1/bal753/research-skills/examples/icons/png/lucide/trending-down_acc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5419" y="1737360"/>
            <a:ext cx="548640" cy="5486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9795419" y="2414016"/>
            <a:ext cx="1710477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Cox model and KM by median score; 5-fold CV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548640" y="3520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 </a:t>
            </a:r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(multiple-instance learning): the slide label is known, the tile labels are not</a:t>
            </a:r>
            <a:endParaRPr lang="en-US" sz="16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model: </a:t>
            </a:r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pretrained on unlabeled tiles; its weights stay frozen, only later layers train</a:t>
            </a:r>
            <a:endParaRPr lang="en-US" sz="16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Folds split by patient, </a:t>
            </a:r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tiles of one patient are never in both training and test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640080" y="544068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Tiling and embeddings are fixed before outcomes are seen; only the aggregator and the Cox head are trained on survival.</a:t>
            </a:r>
            <a:endParaRPr lang="en-US" sz="1800" dirty="0"/>
          </a:p>
        </p:txBody>
      </p:sp>
      <p:sp>
        <p:nvSpPr>
          <p:cNvPr id="37" name="Text 30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multiple-instance learning;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Kaplan–Meier;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cross-validation.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framework diagram</a:t>
            </a:r>
            <a:endParaRPr lang="en-US" sz="1200" dirty="0"/>
          </a:p>
        </p:txBody>
      </p:sp>
      <p:pic>
        <p:nvPicPr>
          <p:cNvPr id="6" name="Image 0" descr="/mnt/data1/bal753/research-skills/examples/icons/png/lucide/microscope_acc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1508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H&amp;E slides</a:t>
            </a:r>
            <a:endParaRPr lang="en-US" sz="1400" dirty="0"/>
          </a:p>
        </p:txBody>
      </p:sp>
      <p:pic>
        <p:nvPicPr>
          <p:cNvPr id="8" name="Image 1" descr="/mnt/data1/bal753/research-skills/examples/icons/png/tabler/stack-2_ac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640080" cy="6400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2788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Multiplex imaging</a:t>
            </a:r>
            <a:endParaRPr lang="en-US" sz="1400" dirty="0"/>
          </a:p>
        </p:txBody>
      </p:sp>
      <p:pic>
        <p:nvPicPr>
          <p:cNvPr id="10" name="Image 2" descr="/mnt/data1/bal753/research-skills/examples/icons/png/lucide/clipboard-list_acc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2336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98448" y="40690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data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2971800" y="1097280"/>
            <a:ext cx="5760720" cy="393192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3" name="Text 8"/>
          <p:cNvSpPr/>
          <p:nvPr/>
        </p:nvSpPr>
        <p:spPr>
          <a:xfrm>
            <a:off x="3154680" y="1170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246120" y="1463040"/>
            <a:ext cx="15544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3319272" y="1463040"/>
            <a:ext cx="1408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Tile + embed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120640" y="1463040"/>
            <a:ext cx="15544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5193792" y="1463040"/>
            <a:ext cx="1408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MIL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3246120" y="2743200"/>
            <a:ext cx="15544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3319272" y="2743200"/>
            <a:ext cx="1408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cells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120640" y="2743200"/>
            <a:ext cx="15544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193792" y="2743200"/>
            <a:ext cx="1408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graph GNN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3246120" y="4023360"/>
            <a:ext cx="15544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3319272" y="4023360"/>
            <a:ext cx="1408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 covariates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7040880" y="1554480"/>
            <a:ext cx="146304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A51C3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132320" y="1554480"/>
            <a:ext cx="1280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Cox head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4837176" y="1783080"/>
            <a:ext cx="246888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4837176" y="3063240"/>
            <a:ext cx="246888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6711696" y="1783080"/>
            <a:ext cx="292608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6711696" y="3063240"/>
            <a:ext cx="292608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0" name="Shape 25"/>
          <p:cNvSpPr/>
          <p:nvPr/>
        </p:nvSpPr>
        <p:spPr>
          <a:xfrm>
            <a:off x="4837176" y="4343400"/>
            <a:ext cx="2167128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6"/>
          <p:cNvSpPr/>
          <p:nvPr/>
        </p:nvSpPr>
        <p:spPr>
          <a:xfrm>
            <a:off x="2468880" y="1783080"/>
            <a:ext cx="457200" cy="0"/>
          </a:xfrm>
          <a:prstGeom prst="line">
            <a:avLst/>
          </a:prstGeom>
          <a:noFill/>
          <a:ln w="44450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2468880" y="3063240"/>
            <a:ext cx="457200" cy="0"/>
          </a:xfrm>
          <a:prstGeom prst="line">
            <a:avLst/>
          </a:prstGeom>
          <a:noFill/>
          <a:ln w="44450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33" name="Shape 28"/>
          <p:cNvSpPr/>
          <p:nvPr/>
        </p:nvSpPr>
        <p:spPr>
          <a:xfrm>
            <a:off x="2468880" y="4343400"/>
            <a:ext cx="457200" cy="0"/>
          </a:xfrm>
          <a:prstGeom prst="line">
            <a:avLst/>
          </a:prstGeom>
          <a:noFill/>
          <a:ln w="44450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34" name="Shape 29"/>
          <p:cNvSpPr/>
          <p:nvPr/>
        </p:nvSpPr>
        <p:spPr>
          <a:xfrm>
            <a:off x="8778240" y="2423160"/>
            <a:ext cx="457200" cy="0"/>
          </a:xfrm>
          <a:prstGeom prst="line">
            <a:avLst/>
          </a:prstGeom>
          <a:noFill/>
          <a:ln w="44450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35" name="Shape 30"/>
          <p:cNvSpPr/>
          <p:nvPr/>
        </p:nvSpPr>
        <p:spPr>
          <a:xfrm>
            <a:off x="8778240" y="3703320"/>
            <a:ext cx="457200" cy="0"/>
          </a:xfrm>
          <a:prstGeom prst="line">
            <a:avLst/>
          </a:prstGeom>
          <a:noFill/>
          <a:ln w="44450">
            <a:solidFill>
              <a:srgbClr val="A51C30"/>
            </a:solidFill>
            <a:prstDash val="solid"/>
            <a:tailEnd type="triangle"/>
          </a:ln>
        </p:spPr>
      </p:sp>
      <p:pic>
        <p:nvPicPr>
          <p:cNvPr id="36" name="Image 3" descr="/mnt/data1/bal753/research-skills/examples/icons/png/tabler/chart-histogram_acc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0" y="2103120"/>
            <a:ext cx="640080" cy="64008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10149840" y="2103120"/>
            <a:ext cx="1493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patient</a:t>
            </a:r>
            <a:endParaRPr lang="en-US" sz="1400" dirty="0"/>
          </a:p>
        </p:txBody>
      </p:sp>
      <p:pic>
        <p:nvPicPr>
          <p:cNvPr id="38" name="Image 4" descr="/mnt/data1/bal753/research-skills/examples/icons/png/tabler/photo-scan_acc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3383280"/>
            <a:ext cx="640080" cy="64008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0149840" y="3383280"/>
            <a:ext cx="1493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maps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slide</a:t>
            </a:r>
            <a:endParaRPr lang="en-US" sz="1400" dirty="0"/>
          </a:p>
        </p:txBody>
      </p:sp>
      <p:sp>
        <p:nvSpPr>
          <p:cNvPr id="40" name="Text 33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Image, cell-graph and clinical features are fused into one patient-level risk score.</a:t>
            </a:r>
            <a:endParaRPr lang="en-US" sz="1800" dirty="0"/>
          </a:p>
        </p:txBody>
      </p:sp>
      <p:sp>
        <p:nvSpPr>
          <p:cNvPr id="41" name="Text 34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multiple-instance learning;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GNN: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neural network.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Report-drafting Agent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agent loop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69080" y="1691640"/>
            <a:ext cx="1143000" cy="8229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H="1">
            <a:off x="3840480" y="3685032"/>
            <a:ext cx="1371600" cy="384048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554480" y="3685032"/>
            <a:ext cx="1371600" cy="384048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 flipH="1">
            <a:off x="1554480" y="1691640"/>
            <a:ext cx="1143000" cy="8229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headEnd type="triangle"/>
          </a:ln>
        </p:spPr>
      </p:sp>
      <p:pic>
        <p:nvPicPr>
          <p:cNvPr id="10" name="Image 0" descr="/mnt/data1/bal753/research-skills/examples/icons/png/lucide/list-checks_acc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6100" y="1211580"/>
            <a:ext cx="594360" cy="5943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560320" y="18470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</a:t>
            </a:r>
            <a:endParaRPr lang="en-US" sz="1400" dirty="0"/>
          </a:p>
        </p:txBody>
      </p:sp>
      <p:pic>
        <p:nvPicPr>
          <p:cNvPr id="12" name="Image 1" descr="/mnt/data1/bal753/research-skills/examples/icons/png/lucide/toolbox_ac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262890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72000" y="3264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Use tools</a:t>
            </a:r>
            <a:endParaRPr lang="en-US" sz="1400" dirty="0"/>
          </a:p>
        </p:txBody>
      </p:sp>
      <p:pic>
        <p:nvPicPr>
          <p:cNvPr id="14" name="Image 2" descr="/mnt/data1/bal753/research-skills/examples/icons/png/lucide/scan-eye_acc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100" y="404622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560320" y="46817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Observe</a:t>
            </a:r>
            <a:endParaRPr lang="en-US" sz="1400" dirty="0"/>
          </a:p>
        </p:txBody>
      </p:sp>
      <p:pic>
        <p:nvPicPr>
          <p:cNvPr id="16" name="Image 3" descr="/mnt/data1/bal753/research-skills/examples/icons/png/lucide/message-square-text_acc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" y="2628900"/>
            <a:ext cx="594360" cy="5943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8640" y="3264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Draft report</a:t>
            </a:r>
            <a:endParaRPr lang="en-US" sz="1400" dirty="0"/>
          </a:p>
        </p:txBody>
      </p:sp>
      <p:pic>
        <p:nvPicPr>
          <p:cNvPr id="18" name="Image 4" descr="/mnt/data1/bal753/research-skills/examples/icons/png/lucide/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2606040"/>
            <a:ext cx="640080" cy="6400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651760" y="32644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agent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6766560" y="1188720"/>
            <a:ext cx="4876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the agent can call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6766560" y="1627632"/>
            <a:ext cx="487649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22" name="Image 5" descr="/mnt/data1/bal753/research-skills/examples/icons/png/tabler/photo-sca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1810512"/>
            <a:ext cx="502920" cy="50292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498080" y="1764792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 slide reader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 a region the model attended to</a:t>
            </a:r>
            <a:endParaRPr lang="en-US" sz="1400" dirty="0"/>
          </a:p>
        </p:txBody>
      </p:sp>
      <p:pic>
        <p:nvPicPr>
          <p:cNvPr id="24" name="Image 6" descr="/mnt/data1/bal753/research-skills/examples/icons/png/tabler/ap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2679192"/>
            <a:ext cx="502920" cy="5029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7498080" y="2633472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store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the patient's risk score and inputs</a:t>
            </a:r>
            <a:endParaRPr lang="en-US" sz="1400" dirty="0"/>
          </a:p>
        </p:txBody>
      </p:sp>
      <p:pic>
        <p:nvPicPr>
          <p:cNvPr id="26" name="Image 7" descr="/mnt/data1/bal753/research-skills/examples/icons/png/lucide/book-open-tex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547872"/>
            <a:ext cx="502920" cy="5029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498080" y="3502152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Guideline lookup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Retrieves the reporting criteria text</a:t>
            </a:r>
            <a:endParaRPr lang="en-US" sz="1400" dirty="0"/>
          </a:p>
        </p:txBody>
      </p:sp>
      <p:sp>
        <p:nvSpPr>
          <p:cNvPr id="28" name="Shape 18"/>
          <p:cNvSpPr/>
          <p:nvPr/>
        </p:nvSpPr>
        <p:spPr>
          <a:xfrm>
            <a:off x="6766560" y="4480560"/>
            <a:ext cx="4876495" cy="54864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9" name="Text 19"/>
          <p:cNvSpPr/>
          <p:nvPr/>
        </p:nvSpPr>
        <p:spPr>
          <a:xfrm>
            <a:off x="6949440" y="4480560"/>
            <a:ext cx="4510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Stop: </a:t>
            </a:r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goes to a pathologist for sign-off</a:t>
            </a:r>
            <a:endParaRPr lang="en-US" sz="1400" dirty="0"/>
          </a:p>
        </p:txBody>
      </p:sp>
      <p:sp>
        <p:nvSpPr>
          <p:cNvPr id="30" name="Text 20"/>
          <p:cNvSpPr/>
          <p:nvPr/>
        </p:nvSpPr>
        <p:spPr>
          <a:xfrm>
            <a:off x="640080" y="544068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drafts the report; a pathologist signs it off, and every statement points to a tool output.</a:t>
            </a:r>
            <a:endParaRPr lang="en-US" sz="1800" dirty="0"/>
          </a:p>
        </p:txBody>
      </p:sp>
      <p:sp>
        <p:nvSpPr>
          <p:cNvPr id="31" name="Text 21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language model;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vision-language model.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Design — Patient Timeline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timeline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017520"/>
            <a:ext cx="10454335" cy="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8991295" y="3127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from diagnosis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709928" y="2898648"/>
            <a:ext cx="237744" cy="237744"/>
          </a:xfrm>
          <a:prstGeom prst="ellipse">
            <a:avLst/>
          </a:prstGeom>
          <a:solidFill>
            <a:srgbClr val="A51C30"/>
          </a:solidFill>
          <a:ln w="19050">
            <a:solidFill>
              <a:srgbClr val="A51C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331720"/>
            <a:ext cx="0" cy="566928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10" name="Image 0" descr="/mnt/data1/bal753/research-skills/examples/icons/png/healthicons/biopsy_acc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548640" cy="548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1005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= 0; biopsy confirms cancer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43452" y="28986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9595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962324" y="3136392"/>
            <a:ext cx="0" cy="566928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14" name="Image 1" descr="/mnt/data1/bal753/research-skills/examples/icons/png/healthicons/tiss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8004" y="3749040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82164" y="436168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Tissue scanned and imaged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976976" y="28986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9595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095848" y="2331720"/>
            <a:ext cx="0" cy="566928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18" name="Image 2" descr="/mnt/data1/bal753/research-skills/examples/icons/png/healthicons/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1528" y="173736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815688" y="1005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Adjuvant therapy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Chemotherapy or hormone therapy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8110499" y="28986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9595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229371" y="3136392"/>
            <a:ext cx="0" cy="566928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22" name="Image 3" descr="/mnt/data1/bal753/research-skills/examples/icons/png/healthicons/regular-pati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051" y="3749040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49211" y="436168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Visits until event or last contact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10244023" y="2898648"/>
            <a:ext cx="237744" cy="237744"/>
          </a:xfrm>
          <a:prstGeom prst="ellipse">
            <a:avLst/>
          </a:prstGeom>
          <a:solidFill>
            <a:srgbClr val="A51C30"/>
          </a:solidFill>
          <a:ln w="19050">
            <a:solidFill>
              <a:srgbClr val="A51C3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0362895" y="2331720"/>
            <a:ext cx="0" cy="566928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26" name="Image 4" descr="/mnt/data1/bal753/research-skills/examples/icons/png/healthicons/chart-line_acc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8575" y="1737360"/>
            <a:ext cx="548640" cy="5486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082735" y="1005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or censoring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Recurrence or death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640080" y="544068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Recurrence-free survival runs from diagnosis to recurrence or death; in GBSG2, 299 of 686 patients had an event and the rest were censored at last follow-up.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event counts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Approaches vs This Work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two-column comparison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452360" y="1234440"/>
            <a:ext cx="4190695" cy="37947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1234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approaches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680960" y="1234440"/>
            <a:ext cx="4053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11094415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373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needed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91840" y="190195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98496" y="2008608"/>
            <a:ext cx="115873" cy="115873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3398496" y="2008608"/>
            <a:ext cx="115873" cy="115873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94760" y="173736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Pixel-level annotation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80960" y="190195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51C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3132" y="2066544"/>
            <a:ext cx="54315" cy="54315"/>
          </a:xfrm>
          <a:prstGeom prst="line">
            <a:avLst/>
          </a:prstGeom>
          <a:noFill/>
          <a:ln w="25400">
            <a:solidFill>
              <a:srgbClr val="A51C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7827447" y="2008608"/>
            <a:ext cx="94147" cy="112252"/>
          </a:xfrm>
          <a:prstGeom prst="line">
            <a:avLst/>
          </a:prstGeom>
          <a:noFill/>
          <a:ln w="25400">
            <a:solidFill>
              <a:srgbClr val="A51C3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1737360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Slide-level outcome only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2395728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39572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context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291840" y="2560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98496" y="2666976"/>
            <a:ext cx="115873" cy="115873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3398496" y="2666976"/>
            <a:ext cx="115873" cy="115873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94760" y="2395728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Tile features averaged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680960" y="2560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51C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3132" y="2724912"/>
            <a:ext cx="54315" cy="54315"/>
          </a:xfrm>
          <a:prstGeom prst="line">
            <a:avLst/>
          </a:prstGeom>
          <a:noFill/>
          <a:ln w="25400">
            <a:solidFill>
              <a:srgbClr val="A51C3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7827447" y="2666976"/>
            <a:ext cx="94147" cy="112252"/>
          </a:xfrm>
          <a:prstGeom prst="line">
            <a:avLst/>
          </a:prstGeom>
          <a:noFill/>
          <a:ln w="25400">
            <a:solidFill>
              <a:srgbClr val="A51C3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83880" y="2395728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graph keeps neighbors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3054096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05409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Modalities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91840" y="321868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98496" y="3325344"/>
            <a:ext cx="115873" cy="115873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3398496" y="3325344"/>
            <a:ext cx="115873" cy="115873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94760" y="3054096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H&amp;E only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680960" y="321868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51C3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3132" y="3383280"/>
            <a:ext cx="54315" cy="54315"/>
          </a:xfrm>
          <a:prstGeom prst="line">
            <a:avLst/>
          </a:prstGeom>
          <a:noFill/>
          <a:ln w="25400">
            <a:solidFill>
              <a:srgbClr val="A51C3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>
            <a:off x="7827447" y="3325344"/>
            <a:ext cx="94147" cy="112252"/>
          </a:xfrm>
          <a:prstGeom prst="line">
            <a:avLst/>
          </a:prstGeom>
          <a:noFill/>
          <a:ln w="25400">
            <a:solidFill>
              <a:srgbClr val="A51C3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83880" y="305409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H&amp;E, multiplex and clinical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48640" y="3712464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371246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291840" y="387705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51C3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4012" y="4041648"/>
            <a:ext cx="54315" cy="54315"/>
          </a:xfrm>
          <a:prstGeom prst="line">
            <a:avLst/>
          </a:prstGeom>
          <a:noFill/>
          <a:ln w="25400">
            <a:solidFill>
              <a:srgbClr val="A51C3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438327" y="3983712"/>
            <a:ext cx="94147" cy="112252"/>
          </a:xfrm>
          <a:prstGeom prst="line">
            <a:avLst/>
          </a:prstGeom>
          <a:noFill/>
          <a:ln w="25400">
            <a:solidFill>
              <a:srgbClr val="A51C3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94760" y="371246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Often external cohorts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680960" y="387705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73132" y="4041648"/>
            <a:ext cx="144841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183880" y="3712464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5-fold CV so far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48640" y="4370832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437083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3291840" y="4535424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98496" y="4642080"/>
            <a:ext cx="115873" cy="115873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>
            <a:off x="3398496" y="4642080"/>
            <a:ext cx="115873" cy="115873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94760" y="4370832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by hand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680960" y="4535424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51C3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3132" y="4700016"/>
            <a:ext cx="54315" cy="54315"/>
          </a:xfrm>
          <a:prstGeom prst="line">
            <a:avLst/>
          </a:prstGeom>
          <a:noFill/>
          <a:ln w="25400">
            <a:solidFill>
              <a:srgbClr val="A51C3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7827447" y="4642080"/>
            <a:ext cx="94147" cy="112252"/>
          </a:xfrm>
          <a:prstGeom prst="line">
            <a:avLst/>
          </a:prstGeom>
          <a:noFill/>
          <a:ln w="25400">
            <a:solidFill>
              <a:srgbClr val="A51C3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183880" y="4370832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drafts, human signs off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" y="544068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 trades external validation for richer inputs; the gap is listed under limitations.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cross-validation.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limitations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46304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09360" y="1188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AFFECTS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463040" y="16002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Single-center cohort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09360" y="160020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scanners, stains and sites are untested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5146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463040" y="25146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external validation yet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is cross-validated on one cohort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4290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463040" y="34290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Multiplex data on a subset (n = XX)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09360" y="342900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model trained on fewer patients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343400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3434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463040" y="4343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reports not yet graded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09360" y="434340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accuracy unknown; drafts only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results are exploratory; an external cohort is needed before any clinical claim.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key takeaways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554480" y="1399032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 slides and spatial data feed one risk score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54480" y="1892808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Tiling and embeddings fixed; only the aggregator and Cox head see outcomes (methods flow)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8346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1554480" y="2907792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graphs add the spatial context that tile averages lose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3401568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C-index XX vs XX, 5-fold CV (n = XX patients); placeholders for this example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251960"/>
            <a:ext cx="1109441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4340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1554480" y="4416552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drafts the report; a pathologist signs it off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910328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statement links back to a tool output (agent loop)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C-index: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concordance index;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cross-validation.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next steps / roadmap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48640" y="1554480"/>
            <a:ext cx="3423818" cy="4572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3 months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3423818" cy="2743200"/>
          </a:xfrm>
          <a:prstGeom prst="rect">
            <a:avLst/>
          </a:prstGeom>
          <a:solidFill>
            <a:srgbClr val="F3F3F3"/>
          </a:solidFill>
          <a:ln/>
        </p:spPr>
      </p:sp>
      <p:pic>
        <p:nvPicPr>
          <p:cNvPr id="10" name="Image 0" descr="/mnt/data1/bal753/research-skills/examples/icons/png/lucide/users_acc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640080" cy="6400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30632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validation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77240" y="3657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cohort, other scanner</a:t>
            </a:r>
            <a:endParaRPr lang="en-US" sz="16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Frozen model, no retraining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383938" y="1554480"/>
            <a:ext cx="3423818" cy="457200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14" name="Text 11"/>
          <p:cNvSpPr/>
          <p:nvPr/>
        </p:nvSpPr>
        <p:spPr>
          <a:xfrm>
            <a:off x="4566818" y="155448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 months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383938" y="2011680"/>
            <a:ext cx="3423818" cy="2743200"/>
          </a:xfrm>
          <a:prstGeom prst="rect">
            <a:avLst/>
          </a:prstGeom>
          <a:solidFill>
            <a:srgbClr val="F3F3F3"/>
          </a:solidFill>
          <a:ln/>
        </p:spPr>
      </p:sp>
      <p:pic>
        <p:nvPicPr>
          <p:cNvPr id="16" name="Image 1" descr="/mnt/data1/bal753/research-skills/examples/icons/png/lucide/list-chec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228600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12538" y="30632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agent reports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4612538" y="3657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Blinded scoring of n = XX</a:t>
            </a:r>
            <a:endParaRPr lang="en-US" sz="16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logged per tool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8219237" y="1554480"/>
            <a:ext cx="3423818" cy="457200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0" name="Text 16"/>
          <p:cNvSpPr/>
          <p:nvPr/>
        </p:nvSpPr>
        <p:spPr>
          <a:xfrm>
            <a:off x="8402117" y="155448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6–12 months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8219237" y="2011680"/>
            <a:ext cx="3423818" cy="2743200"/>
          </a:xfrm>
          <a:prstGeom prst="rect">
            <a:avLst/>
          </a:prstGeom>
          <a:solidFill>
            <a:srgbClr val="F3F3F3"/>
          </a:solidFill>
          <a:ln/>
        </p:spPr>
      </p:sp>
      <p:pic>
        <p:nvPicPr>
          <p:cNvPr id="22" name="Image 2" descr="/mnt/data1/bal753/research-skills/examples/icons/png/lucide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7837" y="2286000"/>
            <a:ext cx="640080" cy="6400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447837" y="30632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2000" dirty="0"/>
          </a:p>
        </p:txBody>
      </p:sp>
      <p:sp>
        <p:nvSpPr>
          <p:cNvPr id="24" name="Text 19"/>
          <p:cNvSpPr/>
          <p:nvPr/>
        </p:nvSpPr>
        <p:spPr>
          <a:xfrm>
            <a:off x="8447837" y="3657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and model card</a:t>
            </a:r>
            <a:endParaRPr lang="en-US" sz="16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Preprint, no placeholders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640080" y="544068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validation comes first; its result decides whether the later steps go ahead.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91440" cy="13716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245352"/>
            <a:ext cx="12191695" cy="45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questions / thank you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and discussion</a:t>
            </a:r>
            <a:endParaRPr lang="en-US" sz="2400" dirty="0"/>
          </a:p>
        </p:txBody>
      </p:sp>
      <p:pic>
        <p:nvPicPr>
          <p:cNvPr id="8" name="Image 0" descr="/mnt/data1/bal753/research-skills/examples/icons/png/lucide/message-square-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40233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contact@institution.org</a:t>
            </a:r>
            <a:endParaRPr lang="en-US" sz="1600" dirty="0"/>
          </a:p>
        </p:txBody>
      </p:sp>
      <p:pic>
        <p:nvPicPr>
          <p:cNvPr id="10" name="Image 1" descr="/mnt/data1/bal753/research-skills/examples/icons/png/lucide/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6344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46177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github.com/&lt;org&gt;/&lt;repo&gt;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Supplementary — Model Settings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supplementary (hidden)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3728" y="1097280"/>
          <a:ext cx="11064240" cy="3785616"/>
        </p:xfrm>
        <a:graphic>
          <a:graphicData uri="http://schemas.openxmlformats.org/drawingml/2006/table">
            <a:tbl>
              <a:tblPr/>
              <a:tblGrid>
                <a:gridCol w="2194560"/>
                <a:gridCol w="3383280"/>
                <a:gridCol w="3017520"/>
                <a:gridCol w="24688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 before outcomes?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Tile size; magnification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 × 256 px; 20×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Tissue mask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 on saturation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Otsu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Encoder; embedding dimension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Frozen ViT; XX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Attention MIL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Hidden units; dropout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XX; XX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 graph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Edges; neighbors per cell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k-nearest neighbors; k = XX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Cox head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Penalty; learning rate; epochs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 XX; XX; XX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Tuned in inner folds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Cross-validation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Folds; split unit; random_state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5; patient; 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Model; temperature; max tool calls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XX; 0; XX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settings except the Cox penalty were fixed before outcome data were used; random_state is recorded in run_meta.json.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multiple-instance learning;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transformer;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penalty.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credits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3728" y="1143000"/>
          <a:ext cx="11064240" cy="3127248"/>
        </p:xfrm>
        <a:graphic>
          <a:graphicData uri="http://schemas.openxmlformats.org/drawingml/2006/table">
            <a:tbl>
              <a:tblPr/>
              <a:tblGrid>
                <a:gridCol w="3017520"/>
                <a:gridCol w="58521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Icons used in this deck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Icons (healthicons.org)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biopsy, tissue, hospital, regular-patient, chart-line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CC0 1.0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Lucide (lucide.dev)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scan-eye, brain-circuit, users, network, trending-down, microscope, clipboard-list,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list-checks, toolbox, message-square-text, bot, book-open-text, code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ISC (code: MIT, Feather)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Tabler Icons (tabler.io/icons)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grid-scan, cube-spark, chart-histogram, stack-2, photo-scan, api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Bioicons (bioicons.com)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glass-slide — Servier Medical Art (smart.servier.com)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 3.0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confocal-microscope — DBCLS TogoTV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 4.0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single-cell-umap — James Lloyd; patient — Marcel Tisch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CC0 1.0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3728" y="45262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GBSG2 trial counts (686 patients, 299 recurrence-or-death events) via lifelines load_gbsg2.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Lu, Ming Y., et al. </a:t>
            </a:r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Nature Biomedical Engineering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5.6 (2021): 555–570.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other content is an illustrative example; values marked XX are placeholders.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Narrative slide patterns</dc:title>
  <dc:subject>PptxGenJS Presentation</dc:subject>
  <dc:creator>PptxGenJS</dc:creator>
  <cp:lastModifiedBy>PptxGenJS</cp:lastModifiedBy>
  <cp:revision>1</cp:revision>
  <dcterms:created xsi:type="dcterms:W3CDTF">2026-10-02T02:01:09Z</dcterms:created>
  <dcterms:modified xsi:type="dcterms:W3CDTF">2026-10-02T02:01:09Z</dcterms:modified>
</cp:coreProperties>
</file>