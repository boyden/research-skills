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assertion–evidence. Use it for the main result of a section: one figure, one sentence.</a:t>
            </a:r>
          </a:p>
          <a:p>
            <a:endParaRPr lang="en-US" dirty="0"/>
          </a:p>
          <a:p>
            <a:r>
              <a:rPr lang="en-US" dirty="0"/>
              <a:t>Design rules shown: the title names the topic, not the finding; the figure is drawn at its on-slide size (12.1 x 4.6 in, 200 dpi) and placed 1:1, never scaled; the single bold conclusion at the bottom carries the effect size with interval, p, n and events; the source line sits bottom right in 9 pt serif.</a:t>
            </a:r>
          </a:p>
          <a:p>
            <a:endParaRPr lang="en-US" dirty="0"/>
          </a:p>
          <a:p>
            <a:r>
              <a:rPr lang="en-US" dirty="0"/>
              <a:t>Numbers: km_example run_meta (hormone_therapy: HR 0.695 [0.544–0.888], Cox p 0.0036, log-rank p 0.0034; log_pnodes: HR per SD 1.650 [1.479–1.841], Cox p 3.5e-19). HR for tamoxifen is yes vs no; nodes per SD of log(1 + nodes).</a:t>
            </a:r>
          </a:p>
          <a:p>
            <a:endParaRPr lang="en-US" dirty="0"/>
          </a:p>
          <a:p>
            <a:r>
              <a:rPr lang="en-US" dirty="0"/>
              <a:t>Wording: observational association, so 'associated with', not 'improves'.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two panels side by side with one shared conclusion. Use it when two analyses answer the same question (here: how well does one variable discriminate) and the comparison is the point.</a:t>
            </a:r>
          </a:p>
          <a:p>
            <a:endParaRPr lang="en-US" dirty="0"/>
          </a:p>
          <a:p>
            <a:r>
              <a:rPr lang="en-US" dirty="0"/>
              <a:t>Design rules shown: both ROC panels are square and the same size, drawn in ONE native full-width figure (12.1 x 4.6 in); each panel states AUC [95% CI], n and positives; the diagonal marks chance.</a:t>
            </a:r>
          </a:p>
          <a:p>
            <a:endParaRPr lang="en-US" dirty="0"/>
          </a:p>
          <a:p>
            <a:r>
              <a:rPr lang="en-US" dirty="0"/>
              <a:t>Why not two separate figures: roc_example.png is already full width (12.1 in) and auc_bars_example.png is half width (5.9 in), so together they would need 18 in. Result figures are never scaled, so the pair would not fit; the two-panel ROC figure is used instead (the AUC bars appear on the figure + takeaways slide).</a:t>
            </a:r>
          </a:p>
          <a:p>
            <a:endParaRPr lang="en-US" dirty="0"/>
          </a:p>
          <a:p>
            <a:r>
              <a:rPr lang="en-US" dirty="0"/>
              <a:t>Numbers: roc_example run_meta. ER-positive = estrogen receptor &gt;= 10 fmol/mg (n = 686, 497 positive). 5-year panel: recurrence or death before 5 years (285) vs followed &gt;= 5 years event-free; patients censored before 5 years are excluded (n = 406). Bootstrap: 2,000 resamples, percentile CI, random_state 0.</a:t>
            </a:r>
          </a:p>
          <a:p>
            <a:endParaRPr lang="en-US" dirty="0"/>
          </a:p>
          <a:p>
            <a:r>
              <a:rPr lang="en-US" dirty="0"/>
              <a:t>Caution: PR and ER are correlated receptor assays, so AUC 0.877 shows co-expression, not a clinical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forest plot, full width. Use it for many effect sizes on one scale (one row per factor).</a:t>
            </a:r>
          </a:p>
          <a:p>
            <a:endParaRPr lang="en-US" dirty="0"/>
          </a:p>
          <a:p>
            <a:r>
              <a:rPr lang="en-US" dirty="0"/>
              <a:t>Design rules shown: log x axis with a reference line at 1; the number column on the right is a three-line table with centered columns; only rows with q &lt; 0.05 are drawn in the accent color, the rest gray; HR is per SD for continuous and yes vs no for binary factors, fixed once for the whole deck.</a:t>
            </a:r>
          </a:p>
          <a:p>
            <a:endParaRPr lang="en-US" dirty="0"/>
          </a:p>
          <a:p>
            <a:r>
              <a:rPr lang="en-US" dirty="0"/>
              <a:t>Numbers: forest_example run_meta (8 univariate Cox models, Benjamini–Hochberg q over the 8). Strongest: positive nodes, log(1 + nodes) per SD, HR 1.650 [1.479–1.841], p 3.5e-19.</a:t>
            </a:r>
          </a:p>
          <a:p>
            <a:endParaRPr lang="en-US" dirty="0"/>
          </a:p>
          <a:p>
            <a:r>
              <a:rPr lang="en-US" dirty="0"/>
              <a:t>'Strongest' means largest |log HR| per SD in univariate models; it is not adjusted for the other factors.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native three-line table. Use it for a cohort table or any small grid of numbers the audience reads cell by cell; native tables stay editable and sharp, unlike a table pasted as an image.</a:t>
            </a:r>
          </a:p>
          <a:p>
            <a:endParaRPr lang="en-US" dirty="0"/>
          </a:p>
          <a:p>
            <a:r>
              <a:rPr lang="en-US" dirty="0"/>
              <a:t>Design rules shown: three rules only (thick top, thin under header, thick bottom), no vertical lines, no fill; first column left-aligned, all other columns centered (header and values share a center); header bold, same size as the body; n per group in the header; ranges with an en dash.</a:t>
            </a:r>
          </a:p>
          <a:p>
            <a:endParaRPr lang="en-US" dirty="0"/>
          </a:p>
          <a:p>
            <a:r>
              <a:rPr lang="en-US" dirty="0"/>
              <a:t>Numbers: recomputed from lifelines load_gbsg2 (same code as fig_table in examples/plotting/tables.py).</a:t>
            </a:r>
          </a:p>
          <a:p>
            <a:endParaRPr lang="en-US" dirty="0"/>
          </a:p>
          <a:p>
            <a:r>
              <a:rPr lang="en-US" dirty="0"/>
              <a:t>Over-reading: the age and menopause imbalance means the univariate tamoxifen HR may be confounded; see the multivariable supplementary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key numbers ('big number'). Use it sparingly: opening a results section, or the one slide people should remember. Three numbers at most; each needs a one-line label and its context (interval, denominator).</a:t>
            </a:r>
          </a:p>
          <a:p>
            <a:endParaRPr lang="en-US" dirty="0"/>
          </a:p>
          <a:p>
            <a:r>
              <a:rPr lang="en-US" dirty="0"/>
              <a:t>Design rules shown: large numerals in the single accent color, labels in gray, no decoration; conclusion and source still present, so the big number is never shown without its n and interval.</a:t>
            </a:r>
          </a:p>
          <a:p>
            <a:endParaRPr lang="en-US" dirty="0"/>
          </a:p>
          <a:p>
            <a:r>
              <a:rPr lang="en-US" dirty="0"/>
              <a:t>Numbers: n and events from load_gbsg2; 44% = 299/686; median observed time (not reverse Kaplan–Meier follow-up) 3.0 years; HR from km_example run_meta (0.695 [0.544–0.888], p 0.0036).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figure + takeaways split. Use it when a half-width figure needs two or three reading hints that do not fit into one sentence. The takeaways guide the eye; the conclusion still states the one finding.</a:t>
            </a:r>
          </a:p>
          <a:p>
            <a:endParaRPr lang="en-US" dirty="0"/>
          </a:p>
          <a:p>
            <a:r>
              <a:rPr lang="en-US" dirty="0"/>
              <a:t>Design rules shown: the figure is drawn half width (5.9 x 4.6 in) and placed 1:1 on the left; at most three short gray bullets at 18 pt on the right; bars start at chance (0.5); accent = CI excludes 0.5.</a:t>
            </a:r>
          </a:p>
          <a:p>
            <a:endParaRPr lang="en-US" dirty="0"/>
          </a:p>
          <a:p>
            <a:r>
              <a:rPr lang="en-US" dirty="0"/>
              <a:t>Numbers: auc_bars_example run_meta (n = 686, 497 ER-positive, 2,000 bootstrap resamples, random_state 0). Grade I–II [0.618–0.694], age [0.519–0.618], nodes [0.498–0.602], tumor size [0.458–0.554].</a:t>
            </a:r>
          </a:p>
          <a:p>
            <a:endParaRPr lang="en-US" dirty="0"/>
          </a:p>
          <a:p>
            <a:r>
              <a:rPr lang="en-US" dirty="0"/>
              <a:t>Over-reading: the direction of the flipped predictors (grade, nodes, size) was read off the same data, so AUCs near 0.5 are descriptive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callout / annotated figure. Use it when the audience must learn to read a figure type (first KM in a talk, an unfamiliar plot), or when one region carries the message.</a:t>
            </a:r>
          </a:p>
          <a:p>
            <a:endParaRPr lang="en-US" dirty="0"/>
          </a:p>
          <a:p>
            <a:r>
              <a:rPr lang="en-US" dirty="0"/>
              <a:t>Design rules shown: the figure itself is unchanged and placed 1:1; the highlight is a thin accent rectangle and the callout a small native text box joined by a thin line, so both stay editable and can be removed; the callout sits in white space and covers no data.</a:t>
            </a:r>
          </a:p>
          <a:p>
            <a:endParaRPr lang="en-US" dirty="0"/>
          </a:p>
          <a:p>
            <a:r>
              <a:rPr lang="en-US" dirty="0"/>
              <a:t>Numbers: at-risk counts drawn in km_example (follow-up &gt;= t): tamoxifen 246, 177, 104, 18; no tamoxifen 440, 281, 124, 18 at 0, 2, 4, 6 years.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progressive emphasis, step 1 of 2. Use two consecutive slides with the same figure in the same position instead of an animation: step 1 shows the whole picture, step 2 adds a highlight and a new conclusion. It survives PDF export and printed handouts, where animations are lost.</a:t>
            </a:r>
          </a:p>
          <a:p>
            <a:endParaRPr lang="en-US" dirty="0"/>
          </a:p>
          <a:p>
            <a:r>
              <a:rPr lang="en-US" dirty="0"/>
              <a:t>Design rules shown: the figure does not move between the two slides (identical x, y, size), so flipping between them reads as a build; the highlight is a semi-transparent accent box over the q &lt; 0.05 rows only; the conclusion changes with the emphasis.</a:t>
            </a:r>
          </a:p>
          <a:p>
            <a:endParaRPr lang="en-US" dirty="0"/>
          </a:p>
          <a:p>
            <a:r>
              <a:rPr lang="en-US" dirty="0"/>
              <a:t>Numbers: forest_example run_meta. q &lt; 0.05: tumor size, nodes, PR, ER, grade III, tamoxifen (largest q = 0.0048 for grade III and tamoxifen). Not significant: age (q 0.510), postmenopausal (q 0.596).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progressive emphasis, step 2 of 2. Use two consecutive slides with the same figure in the same position instead of an animation: step 1 shows the whole picture, step 2 adds a highlight and a new conclusion. It survives PDF export and printed handouts, where animations are lost.</a:t>
            </a:r>
          </a:p>
          <a:p>
            <a:endParaRPr lang="en-US" dirty="0"/>
          </a:p>
          <a:p>
            <a:r>
              <a:rPr lang="en-US" dirty="0"/>
              <a:t>Design rules shown: the figure does not move between the two slides (identical x, y, size), so flipping between them reads as a build; the highlight is a semi-transparent accent box over the q &lt; 0.05 rows only; the conclusion changes with the emphasis.</a:t>
            </a:r>
          </a:p>
          <a:p>
            <a:endParaRPr lang="en-US" dirty="0"/>
          </a:p>
          <a:p>
            <a:r>
              <a:rPr lang="en-US" dirty="0"/>
              <a:t>Numbers: forest_example run_meta. q &lt; 0.05: tumor size, nodes, PR, ER, grade III, tamoxifen (largest q = 0.0048 for grade III and tamoxifen). Not significant: age (q 0.510), postmenopausal (q 0.596).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feature-definition table. Use it before the first result that uses engineered or transformed features, so 'HR 1.65 per SD' can be read without the methods section.</a:t>
            </a:r>
          </a:p>
          <a:p>
            <a:endParaRPr lang="en-US" dirty="0"/>
          </a:p>
          <a:p>
            <a:r>
              <a:rPr lang="en-US" dirty="0"/>
              <a:t>Design rules shown: three-line table; first column left (bold feature names), all other columns centered; the 'Low → high' column gives the observed range (text here; a pair of small icons can replace it when suitable ones exist); the last column turns the sign of the HR into plain words.</a:t>
            </a:r>
          </a:p>
          <a:p>
            <a:endParaRPr lang="en-US" dirty="0"/>
          </a:p>
          <a:p>
            <a:r>
              <a:rPr lang="en-US" dirty="0"/>
              <a:t>Numbers: min, max and SD recomputed from load_gbsg2 (SD of log1p values for nodes and PR). The 'HR &gt; 1 means' column defines how to read the sign; the observed direction for PR is HR &lt; 1 (forest plot).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model comparison table. Use it to compare nested models on one metric; order rows from simplest to fullest so the gain per added block reads top to bottom.</a:t>
            </a:r>
          </a:p>
          <a:p>
            <a:endParaRPr lang="en-US" dirty="0"/>
          </a:p>
          <a:p>
            <a:r>
              <a:rPr lang="en-US" dirty="0"/>
              <a:t>Design rules shown: three-line table, numbers to three decimals in every column; the apparent C-index is labeled as apparent (same patients), next to a cross-validated value; the conclusion says 'same patients'.</a:t>
            </a:r>
          </a:p>
          <a:p>
            <a:endParaRPr lang="en-US" dirty="0"/>
          </a:p>
          <a:p>
            <a:r>
              <a:rPr lang="en-US" dirty="0"/>
              <a:t>Numbers: recomputed from load_gbsg2. Continuous variables standardized (per SD); nodes, PR and ER as log(1 + x). Apparent C-index = lifelines concordance_index_ of the fitted model. CV: sklearn KFold(5, shuffle=True, random_state=0), standardization from the training fold, Harrell's C on the test fold, mean over folds (fold SD 0.052, 0.061, 0.043).</a:t>
            </a:r>
          </a:p>
          <a:p>
            <a:endParaRPr lang="en-US" dirty="0"/>
          </a:p>
          <a:p>
            <a:r>
              <a:rPr lang="en-US" dirty="0"/>
              <a:t>Over-reading: there is no external validation set; the gain of 0.04–0.05 is within the fold-to-fold spread.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draft. Use the gray 'DRAFT – to be confirmed' tag on any slide whose numbers are not yet final, so nobody copies them into a report; remove the tag only after the checks below are done.</a:t>
            </a:r>
          </a:p>
          <a:p>
            <a:endParaRPr lang="en-US" dirty="0"/>
          </a:p>
          <a:p>
            <a:r>
              <a:rPr lang="en-US" dirty="0"/>
              <a:t>⚠️ CAVEAT (to confirm before removing the DRAFT tag): proportional hazards not yet checked for the adjusted model; the adjustment set was chosen for this example, not prespecified; hormone therapy was not randomized for every patient in GBSG2, so residual confounding remains.</a:t>
            </a:r>
          </a:p>
          <a:p>
            <a:endParaRPr lang="en-US" dirty="0"/>
          </a:p>
          <a:p>
            <a:r>
              <a:rPr lang="en-US" dirty="0"/>
              <a:t>Numbers: univariate HR from km_example run_meta; adjusted HR recomputed from load_gbsg2 (lifelines CoxPHFitter, 8 covariates, HR 0.681 [0.529–0.877], p 0.0029).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PATTERN: supplementary slide, hidden in the slide show. Use it for the dense supplementary table you expect a question about; it stays in the file and can be jumped to, but is skipped when presenting.</a:t>
            </a:r>
          </a:p>
          <a:p>
            <a:endParaRPr lang="en-US" dirty="0"/>
          </a:p>
          <a:p>
            <a:r>
              <a:rPr lang="en-US" dirty="0"/>
              <a:t>Design rules shown: still one topic title, one conclusion and a source; the table may be denser (13 pt, 9 rows) because it is read on demand, not presented. Hidden with pptxgenjs slide.hidden = true (show="0").</a:t>
            </a:r>
          </a:p>
          <a:p>
            <a:endParaRPr lang="en-US" dirty="0"/>
          </a:p>
          <a:p>
            <a:r>
              <a:rPr lang="en-US" dirty="0"/>
              <a:t>Numbers: univariate from forest_example run_meta; multivariable recomputed from load_gbsg2 (same 8 covariates, continuous per SD). q only for the univariate screen (8 tests).</a:t>
            </a:r>
          </a:p>
          <a:p>
            <a:endParaRPr lang="en-US" dirty="0"/>
          </a:p>
          <a:p>
            <a:r>
              <a:rPr lang="en-US" dirty="0"/>
              <a:t>Over-reading: ER loses its association once PR is in the model (the two receptors are correlated); this is not evidence that ER is irrelevant.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1/bal753/research-skills/examples/figures/km_exa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3728" y="1005840"/>
            <a:ext cx="11064240" cy="42016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42855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39496" y="32918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Recurrence-free Survival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1304727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762695" y="566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Pattern: assertion–evidence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5257800"/>
            <a:ext cx="10911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Tamoxifen is associated with longer, and more positive nodes with shorter, recurrence-free survival (HR 0.69 [0.54–0.89], p = 0.004; HR 1.65 [1.48–1.84] per SD, p &lt; 0.001; n = 686, 299 events).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48640" y="626364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hazard ratio;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deviation;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C-index: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concordance index.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48640" y="6236208"/>
            <a:ext cx="10682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Source: GBSG2 trial (lifelines load_gbsg2); Kaplan–Meier, univariate Cox and log-rank, recurrence-free survival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1/bal753/research-skills/examples/figures/roc_exa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3728" y="1005840"/>
            <a:ext cx="11064240" cy="42016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42855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39496" y="32918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Discrimination — ROC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1304727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762695" y="566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Pattern: two panels, one conclusion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5257800"/>
            <a:ext cx="10911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level separates ER status well (AUC 0.877 [0.849–0.904]; 497 of 686 ER-positive), whereas nodes predict 5-year recurrence only moderately (AUC 0.671 [0.619–0.724]; 285 of 406 recurred).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48640" y="626364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ROC: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receiver operating characteristic;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area under the curve;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progesterone receptor;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estrogen receptor.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48640" y="6236208"/>
            <a:ext cx="10682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Source: GBSG2 trial (lifelines load_gbsg2); ROC with 2,000-sample bootstrap 95% CI, random_state 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1/bal753/research-skills/examples/figures/forest_exa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3728" y="1005840"/>
            <a:ext cx="11064240" cy="42016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42855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39496" y="32918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Factors — Univariate Cox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1304727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762695" y="566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Pattern: forest plot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5257800"/>
            <a:ext cx="10911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positive lymph nodes are most strongly associated with shorter recurrence-free survival (HR 1.65 [1.48–1.84] per SD, q &lt; 0.001; n = 686, 299 events).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48640" y="626364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hazard ratio;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interval;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deviation;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progesterone receptor;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estrogen receptor;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Benjamini–Hochberg adjusted p.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48640" y="6236208"/>
            <a:ext cx="10682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Source: GBSG2 trial (lifelines load_gbsg2); univariate Cox, recurrence-free survival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42855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9496" y="32918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Cohort Characteristics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304727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762695" y="566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Pattern: native three-line table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0888" y="1188720"/>
          <a:ext cx="10789920" cy="3474720"/>
        </p:xfrm>
        <a:graphic>
          <a:graphicData uri="http://schemas.openxmlformats.org/drawingml/2006/table">
            <a:tbl>
              <a:tblPr/>
              <a:tblGrid>
                <a:gridCol w="3931920"/>
                <a:gridCol w="2286000"/>
                <a:gridCol w="2286000"/>
                <a:gridCol w="2286000"/>
              </a:tblGrid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Characteristic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= 686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Tamoxifen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= 246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tamoxifen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= 440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Age, years, median (IQR)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 (46–61)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 (50–63)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(45–59)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Postmenopausal, n (%)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 (58%)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 (76%)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 (48%)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Tumor size, mm, median (IQR)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(20–35)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(20–35)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(20–35)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Grade III, n (%)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 (23%)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(20%)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 (25%)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Positive nodes, median (IQR)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(1–7)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(1–7)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(1–7)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Recurrence or death, n (%)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 (44%)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 (38%)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 (47%)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257800"/>
            <a:ext cx="10911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Women given tamoxifen were older (median 58 vs 50 years) and more often postmenopausal (76% vs 48%); tumor size, grade and nodes were similar (n = 686).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48640" y="626364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IQR: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interquartile range.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48640" y="6236208"/>
            <a:ext cx="10682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Source: GBSG2 trial (lifelines load_gbsg2); descriptive statistics by hormone therapy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42855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9496" y="32918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304727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762695" y="566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Pattern: key numbers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369813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A51C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686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548640" y="2971800"/>
            <a:ext cx="3698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22960" y="3429000"/>
            <a:ext cx="31494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Node-positive breast cancer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46778" y="1737360"/>
            <a:ext cx="369813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A51C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299</a:t>
            </a:r>
            <a:endParaRPr lang="en-US" sz="7200" dirty="0"/>
          </a:p>
        </p:txBody>
      </p:sp>
      <p:sp>
        <p:nvSpPr>
          <p:cNvPr id="10" name="Text 8"/>
          <p:cNvSpPr/>
          <p:nvPr/>
        </p:nvSpPr>
        <p:spPr>
          <a:xfrm>
            <a:off x="4246778" y="2971800"/>
            <a:ext cx="3698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recurrence-or-death events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521098" y="3429000"/>
            <a:ext cx="31494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44% of patients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44917" y="1737360"/>
            <a:ext cx="369813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A51C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0.69</a:t>
            </a:r>
            <a:endParaRPr lang="en-US" sz="7200" dirty="0"/>
          </a:p>
        </p:txBody>
      </p:sp>
      <p:sp>
        <p:nvSpPr>
          <p:cNvPr id="13" name="Text 11"/>
          <p:cNvSpPr/>
          <p:nvPr/>
        </p:nvSpPr>
        <p:spPr>
          <a:xfrm>
            <a:off x="7944917" y="2971800"/>
            <a:ext cx="36981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HR, tamoxifen vs none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219237" y="3429000"/>
            <a:ext cx="31494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 CI 0.54–0.89; p = 0.004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5257800"/>
            <a:ext cx="10911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Tamoxifen is associated with longer recurrence-free survival (HR 0.69 [0.54–0.89], p = 0.004; n = 686, 299 events).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48640" y="626364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hazard ratio;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interval.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48640" y="6236208"/>
            <a:ext cx="10682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Source: GBSG2 trial (lifelines load_gbsg2); univariate Cox, recurrence-free survival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1/bal753/research-skills/examples/figures/auc_bars_exa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05840"/>
            <a:ext cx="5394960" cy="42016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42855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39496" y="32918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Predictors of ER Status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1304727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762695" y="566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Pattern: figure + takeaways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309360" y="1417320"/>
            <a:ext cx="5333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309360" y="1920240"/>
            <a:ext cx="533369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level is by far the strongest (AUC 0.877)</a:t>
            </a:r>
            <a:endParaRPr lang="en-US" sz="180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and age add little (AUC 0.656, 0.568)</a:t>
            </a:r>
            <a:endParaRPr lang="en-US" sz="180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Nodes and tumor size: CIs include 0.5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40080" y="5257800"/>
            <a:ext cx="10911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five clinical variables, only PR level discriminates ER status well (AUC 0.877 [0.849–0.904]; 497 of 686 ER-positive).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48640" y="626364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area under the curve;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interval;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estrogen receptor;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progesterone receptor.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48640" y="6236208"/>
            <a:ext cx="10682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Source: GBSG2 trial (lifelines load_gbsg2); AUC with 2,000-sample bootstrap 95% CI, random_state 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1/bal753/research-skills/examples/figures/km_exa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3728" y="1005840"/>
            <a:ext cx="11064240" cy="42016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42855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39496" y="32918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the Kaplan–Meier Panel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1304727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762695" y="566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Pattern: callout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18592" y="4544568"/>
            <a:ext cx="3630168" cy="649224"/>
          </a:xfrm>
          <a:prstGeom prst="rect">
            <a:avLst/>
          </a:prstGeom>
          <a:ln w="19050">
            <a:solidFill>
              <a:srgbClr val="A51C3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724248" y="2240280"/>
            <a:ext cx="201168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A51C3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97400" y="2295144"/>
            <a:ext cx="1865376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at risk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still event-free and followed at 0, 2, 4 and 6 years. Only 18 per arm remain at 6 years.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 flipH="1">
            <a:off x="4203040" y="3566160"/>
            <a:ext cx="566928" cy="978408"/>
          </a:xfrm>
          <a:prstGeom prst="line">
            <a:avLst/>
          </a:prstGeom>
          <a:noFill/>
          <a:ln w="9525">
            <a:solidFill>
              <a:srgbClr val="A51C3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257800"/>
            <a:ext cx="10911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6 years only 18 women per arm remain at risk, so the curves beyond 6 years rest on few patients (n = 686, 299 events).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548640" y="626364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hazard ratio;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deviation;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C-index: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concordance index.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548640" y="6236208"/>
            <a:ext cx="10682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Source: GBSG2 trial (lifelines load_gbsg2); Kaplan–Meier, univariate Cox and log-rank, recurrence-free survival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1/bal753/research-skills/examples/figures/forest_exa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3728" y="1005840"/>
            <a:ext cx="11064240" cy="42016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42855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39496" y="32918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Factors — Univariate Cox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1304727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762695" y="566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Pattern: progressive emphasis 1/2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5257800"/>
            <a:ext cx="10911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Hazard ratios range from 0.66 per SD (PR receptor) to 1.65 per SD (positive nodes) across eight clinical factors (n = 686, 299 events).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48640" y="626364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hazard ratio;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interval;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deviation;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progesterone receptor;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estrogen receptor;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Benjamini–Hochberg adjusted p.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48640" y="6236208"/>
            <a:ext cx="10682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Source: GBSG2 trial (lifelines load_gbsg2); univariate Cox, recurrence-free survival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1/bal753/research-skills/examples/figures/forest_exa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3728" y="1005840"/>
            <a:ext cx="11064240" cy="42016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42855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39496" y="32918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Factors — Univariate Cox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1304727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762695" y="566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Pattern: progressive emphasis 2/2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340968" y="1869948"/>
            <a:ext cx="10168128" cy="1847088"/>
          </a:xfrm>
          <a:prstGeom prst="rect">
            <a:avLst/>
          </a:prstGeom>
          <a:solidFill>
            <a:srgbClr val="A51C30">
              <a:alpha val="12000"/>
            </a:srgbClr>
          </a:solidFill>
          <a:ln w="12700">
            <a:solidFill>
              <a:srgbClr val="A51C3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40968" y="4091940"/>
            <a:ext cx="10168128" cy="365760"/>
          </a:xfrm>
          <a:prstGeom prst="rect">
            <a:avLst/>
          </a:prstGeom>
          <a:solidFill>
            <a:srgbClr val="A51C30">
              <a:alpha val="12000"/>
            </a:srgbClr>
          </a:solidFill>
          <a:ln w="12700">
            <a:solidFill>
              <a:srgbClr val="A51C3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257800"/>
            <a:ext cx="10911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of eight factors have q &lt; 0.05 (all q ≤ 0.005): larger tumors, more nodes and grade III with shorter, higher receptor levels and tamoxifen with longer recurrence-free survival.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48640" y="626364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hazard ratio;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interval;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deviation;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progesterone receptor;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estrogen receptor;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Benjamini–Hochberg adjusted p.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48640" y="6236208"/>
            <a:ext cx="10682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Source: GBSG2 trial (lifelines load_gbsg2); univariate Cox, recurrence-free survival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42855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9496" y="32918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304727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762695" y="566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Pattern: feature-definition table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3728" y="1188720"/>
          <a:ext cx="11064240" cy="374904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2743200"/>
                <a:gridCol w="1371600"/>
                <a:gridCol w="1371600"/>
                <a:gridCol w="22860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 → high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is computed (unit)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Higher value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Lower value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HR &gt; 1 means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 → 80 years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 at entry (years)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SD = 10.1 years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Older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Younger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Older recur sooner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Tumor size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→ 120 mm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Largest diameter (mm)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SD = 14.3 mm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Smaller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Larger recur sooner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Positive nodes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→ 51 nodes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log(1 + nodes)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SD = 0.72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More nodes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Fewer nodes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More nodes recur sooner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 receptor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→ 2,380 fmol/mg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log(1 + PR, fmol/mg)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SD = 1.93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More PR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Less PR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More PR recur sooner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Grade III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I–II → III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Grade III vs I–II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 vs 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Grade III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Grade I–II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Grade III recur sooner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257800"/>
            <a:ext cx="10911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features are scaled per SD in this cohort (n = 686), so HR &gt; 1 means a one-SD higher value goes with shorter recurrence-free survival.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48640" y="626364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hazard ratio;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deviation;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progesterone receptor.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48640" y="6236208"/>
            <a:ext cx="10682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Source: GBSG2 trial (lifelines load_gbsg2); ranges and SDs over all 686 patients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42855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9496" y="32918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Comparison — C-index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304727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762695" y="566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Pattern: model comparison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2328" y="1554480"/>
          <a:ext cx="10607040" cy="2194560"/>
        </p:xfrm>
        <a:graphic>
          <a:graphicData uri="http://schemas.openxmlformats.org/drawingml/2006/table">
            <a:tbl>
              <a:tblPr/>
              <a:tblGrid>
                <a:gridCol w="3657600"/>
                <a:gridCol w="1828800"/>
                <a:gridCol w="2560320"/>
                <a:gridCol w="25603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Cox model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Variables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Apparent C-index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5-fold CV C-index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Positive nodes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0.646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Nodes + size + grade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0.650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clinical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0.688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92328" y="39776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clinical = nodes, tumor size, grade III, age, postmenopausal, PR, ER and tamoxifen. Apparent C-index: fitted and evaluated on the same 686 patients.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5257800"/>
            <a:ext cx="10911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Adding all eight clinical variables raises the apparent C-index from 0.645 (nodes only) to 0.698 on the same patients (n = 686, 299 events); 5-fold CV gives 0.688.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48640" y="626364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C-index: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concordance index;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cross-validation;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progesterone receptor;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estrogen receptor.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48640" y="6236208"/>
            <a:ext cx="10682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Source: GBSG2 trial (lifelines load_gbsg2); multivariable Cox, Harrell's C; KFold(5, shuffle, random_state 0)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42855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9496" y="32918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Tamoxifen — Adjusted Hazard Ratio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304727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768535" y="603504"/>
            <a:ext cx="2148840" cy="292608"/>
          </a:xfrm>
          <a:prstGeom prst="rect">
            <a:avLst/>
          </a:prstGeom>
          <a:solidFill>
            <a:srgbClr val="F3F3F3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68535" y="603504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– to be confirmed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762695" y="9326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Pattern: draft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75208" y="1737360"/>
          <a:ext cx="10241280" cy="1645920"/>
        </p:xfrm>
        <a:graphic>
          <a:graphicData uri="http://schemas.openxmlformats.org/drawingml/2006/table">
            <a:tbl>
              <a:tblPr/>
              <a:tblGrid>
                <a:gridCol w="4206240"/>
                <a:gridCol w="2560320"/>
                <a:gridCol w="1463040"/>
                <a:gridCol w="201168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Cox model for tamoxifen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HR [95% CI]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 (events)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Univariate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 [0.54–0.89]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686 (299)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Adjusted for 7 clinical variables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0.68 [0.53–0.88]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686 (299)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975208" y="361188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Adjusted for positive nodes, tumor size, grade III, age, postmenopausal status, PR and ER (continuous per SD).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5257800"/>
            <a:ext cx="10911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adjustment for seven clinical variables the tamoxifen HR barely changes (0.68 [0.53–0.88] vs 0.69 unadjusted, p = 0.003; n = 686, 299 events).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548640" y="626364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hazard ratio;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interval;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progesterone receptor;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estrogen receptor.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48640" y="6236208"/>
            <a:ext cx="10682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Source: GBSG2 trial (lifelines load_gbsg2); multivariable Cox, recurrence-free survival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42855" y="182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9D9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LOGO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9496" y="32918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Supplementary — Univariate vs Multivariable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1304727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762695" y="566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Pattern: supplementary (hidden)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0888" y="1097280"/>
          <a:ext cx="10789920" cy="3621024"/>
        </p:xfrm>
        <a:graphic>
          <a:graphicData uri="http://schemas.openxmlformats.org/drawingml/2006/table">
            <a:tbl>
              <a:tblPr/>
              <a:tblGrid>
                <a:gridCol w="3108960"/>
                <a:gridCol w="2194560"/>
                <a:gridCol w="1005840"/>
                <a:gridCol w="1005840"/>
                <a:gridCol w="2468880"/>
                <a:gridCol w="10058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Variable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Univariate HR [95% CI]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Multivariable HR [95% CI]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 (per SD)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0.96 [0.85–1.07]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0.446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0.92 [0.77–1.10]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Tumor size (per SD)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1.24 [1.12–1.36]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 [0.94–1.18]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Positive nodes, log (per SD)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1.65 [1.48–1.84]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1.58 [1.41–1.78]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 receptor, log (per SD)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0.66 [0.59–0.74]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0.67 [0.58–0.78]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 receptor, log (per SD)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0.78 [0.69–0.87]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&lt;0.001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 [0.91–1.24]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0.456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Grade III vs I–II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 [1.14–1.91]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 [0.83–1.44]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0.524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Postmenopausal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 [0.84–1.34]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0.596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0.596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 [0.86–1.75]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0.266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Tamoxifen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0.69 [0.54–0.89]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0.68 [0.53–0.88]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257800"/>
            <a:ext cx="10911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Nodes, PR receptor and tamoxifen stay associated in the multivariable model (HR 1.58, 0.67, 0.68; all p ≤ 0.003); tumor size, grade III and ER do not (n = 686, 299 events).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548640" y="626364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hazard ratio;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interval;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deviation;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progesterone receptor;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estrogen receptor;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buNone/>
            </a:pPr>
            <a:r>
              <a:rPr lang="en-US" sz="95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q: </a:t>
            </a:r>
            <a:pPr algn="l" indent="0" marL="0">
              <a:buNone/>
            </a:pPr>
            <a:r>
              <a:rPr lang="en-US" sz="950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Benjamini–Hochberg adjusted p.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48640" y="6236208"/>
            <a:ext cx="106829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900" dirty="0">
                <a:solidFill>
                  <a:srgbClr val="22222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Source: GBSG2 trial (lifelines load_gbsg2); univariate (forest_example) and 8-variable Cox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Result slide patterns</dc:title>
  <dc:subject>PptxGenJS Presentation</dc:subject>
  <dc:creator>PptxGenJS</dc:creator>
  <cp:lastModifiedBy>PptxGenJS</cp:lastModifiedBy>
  <cp:revision>1</cp:revision>
  <dcterms:created xsi:type="dcterms:W3CDTF">2026-10-02T02:01:04Z</dcterms:created>
  <dcterms:modified xsi:type="dcterms:W3CDTF">2026-10-02T02:01:04Z</dcterms:modified>
</cp:coreProperties>
</file>